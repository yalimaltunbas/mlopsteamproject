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3" r:id="rId9"/>
    <p:sldId id="264" r:id="rId10"/>
    <p:sldId id="267" r:id="rId11"/>
    <p:sldId id="269" r:id="rId12"/>
    <p:sldId id="265" r:id="rId13"/>
    <p:sldId id="271" r:id="rId14"/>
    <p:sldId id="272" r:id="rId15"/>
    <p:sldId id="273" r:id="rId16"/>
    <p:sldId id="270" r:id="rId17"/>
    <p:sldId id="276" r:id="rId18"/>
    <p:sldId id="275" r:id="rId1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arsayılan Bölüm" id="{D46BBE48-EEA1-4DF7-BBA3-E777E330AF0B}">
          <p14:sldIdLst>
            <p14:sldId id="256"/>
            <p14:sldId id="257"/>
            <p14:sldId id="258"/>
            <p14:sldId id="259"/>
            <p14:sldId id="260"/>
            <p14:sldId id="261"/>
            <p14:sldId id="262"/>
            <p14:sldId id="263"/>
            <p14:sldId id="264"/>
            <p14:sldId id="267"/>
            <p14:sldId id="269"/>
            <p14:sldId id="265"/>
            <p14:sldId id="271"/>
            <p14:sldId id="272"/>
            <p14:sldId id="273"/>
            <p14:sldId id="270"/>
            <p14:sldId id="276"/>
            <p14:sldId id="275"/>
          </p14:sldIdLst>
        </p14:section>
        <p14:section name="Adsız Bölüm" id="{E5CB9D02-CA26-46EA-B534-877C330299D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812BB5-E853-2465-1177-79E9BDA68AC6}" v="609" dt="2025-11-25T12:03:11.062"/>
    <p1510:client id="{254CC832-DF40-FA06-FDDC-9C3372A6BB2C}" v="214" dt="2025-11-24T21:09:44.484"/>
    <p1510:client id="{41C1F44D-4B70-EAEC-3057-A7AEDCF260A4}" v="138" dt="2025-11-24T16:34:09.981"/>
    <p1510:client id="{48DF736B-CAB1-913E-42DA-25B7E43919C0}" v="1171" dt="2025-11-24T19:57:45.987"/>
    <p1510:client id="{6FDDDDB9-1940-167B-DA69-569EB9FE3634}" v="1" dt="2025-11-25T15:31:36.028"/>
    <p1510:client id="{907F3E09-8EBB-A3B2-75A2-9002349ABEDA}" v="1" dt="2025-11-25T07:19:14.276"/>
    <p1510:client id="{952CB954-7AE0-217C-9908-2F44D8F79A62}" v="30" dt="2025-11-24T19:40:02.928"/>
    <p1510:client id="{A77F38B0-D2EB-FB3F-D757-79FB00D7F732}" v="29" dt="2025-11-23T17:15:01.060"/>
    <p1510:client id="{D831DF51-88D0-FFBE-2E8B-318C4A3B3C24}" v="450" dt="2025-11-24T12:23:47.925"/>
    <p1510:client id="{E4FBEF82-5F61-2FC8-45AB-982D7524F035}" v="215" dt="2025-11-24T21:14:45.666"/>
    <p1510:client id="{EB645FFA-3874-5D8F-0F6A-546AADA89F1D}" v="158" dt="2025-11-23T17:23:23.232"/>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11/25/2025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932813296"/>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687244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11/25/2025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48481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11/25/2025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288109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11/25/2025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989429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11/25/2025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4019277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11/25/2025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757286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11/25/2025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201553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11/25/2025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623441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11/25/2025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818541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11/25/2025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698548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11/25/2025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a:p>
        </p:txBody>
      </p:sp>
    </p:spTree>
    <p:extLst>
      <p:ext uri="{BB962C8B-B14F-4D97-AF65-F5344CB8AC3E}">
        <p14:creationId xmlns:p14="http://schemas.microsoft.com/office/powerpoint/2010/main" val="28023349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descr="Galatasaray Üniversitesi - Vikipedi">
            <a:extLst>
              <a:ext uri="{FF2B5EF4-FFF2-40B4-BE49-F238E27FC236}">
                <a16:creationId xmlns:a16="http://schemas.microsoft.com/office/drawing/2014/main" id="{5E22E944-C029-A085-8E5C-57DA899E7273}"/>
              </a:ext>
            </a:extLst>
          </p:cNvPr>
          <p:cNvPicPr>
            <a:picLocks noChangeAspect="1"/>
          </p:cNvPicPr>
          <p:nvPr/>
        </p:nvPicPr>
        <p:blipFill>
          <a:blip r:embed="rId2"/>
          <a:stretch>
            <a:fillRect/>
          </a:stretch>
        </p:blipFill>
        <p:spPr>
          <a:xfrm>
            <a:off x="4719637" y="382542"/>
            <a:ext cx="2752725" cy="3495675"/>
          </a:xfrm>
          <a:prstGeom prst="rect">
            <a:avLst/>
          </a:prstGeom>
        </p:spPr>
      </p:pic>
      <p:sp>
        <p:nvSpPr>
          <p:cNvPr id="3" name="Metin kutusu 2">
            <a:extLst>
              <a:ext uri="{FF2B5EF4-FFF2-40B4-BE49-F238E27FC236}">
                <a16:creationId xmlns:a16="http://schemas.microsoft.com/office/drawing/2014/main" id="{A1E47451-1743-9DCC-95F5-85ECF157BC44}"/>
              </a:ext>
            </a:extLst>
          </p:cNvPr>
          <p:cNvSpPr txBox="1"/>
          <p:nvPr/>
        </p:nvSpPr>
        <p:spPr>
          <a:xfrm>
            <a:off x="1780075" y="4248792"/>
            <a:ext cx="8575544"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tr-TR" sz="2800"/>
              <a:t>Galatasaray Üniversitesi</a:t>
            </a:r>
          </a:p>
          <a:p>
            <a:pPr algn="ctr"/>
            <a:r>
              <a:rPr lang="tr-TR" sz="2800"/>
              <a:t>Veri Bilimi Tezsiz Yüksek Lisans Programı</a:t>
            </a:r>
          </a:p>
          <a:p>
            <a:pPr algn="ctr"/>
            <a:r>
              <a:rPr lang="tr-TR" sz="2800"/>
              <a:t>Veri Bilimi Uygulamaları Dersi</a:t>
            </a:r>
          </a:p>
          <a:p>
            <a:pPr algn="ctr"/>
            <a:r>
              <a:rPr lang="tr-TR" sz="2800"/>
              <a:t>Proje Ödevi</a:t>
            </a:r>
          </a:p>
          <a:p>
            <a:endParaRPr lang="tr-TR"/>
          </a:p>
        </p:txBody>
      </p:sp>
    </p:spTree>
    <p:extLst>
      <p:ext uri="{BB962C8B-B14F-4D97-AF65-F5344CB8AC3E}">
        <p14:creationId xmlns:p14="http://schemas.microsoft.com/office/powerpoint/2010/main" val="167442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1796E-F596-C3E5-32D5-300065A027B9}"/>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166FBCCF-EF06-FCDE-4786-62C635DA2648}"/>
              </a:ext>
            </a:extLst>
          </p:cNvPr>
          <p:cNvSpPr txBox="1"/>
          <p:nvPr/>
        </p:nvSpPr>
        <p:spPr>
          <a:xfrm>
            <a:off x="454764" y="363811"/>
            <a:ext cx="11330112" cy="100027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tr-TR" sz="3200">
                <a:solidFill>
                  <a:srgbClr val="00B0F0"/>
                </a:solidFill>
                <a:latin typeface="Arial Nova"/>
              </a:rPr>
              <a:t>Giriş</a:t>
            </a:r>
          </a:p>
          <a:p>
            <a:endParaRPr lang="tr-TR">
              <a:latin typeface="Arial Nova"/>
              <a:ea typeface="+mn-lt"/>
              <a:cs typeface="+mn-lt"/>
            </a:endParaRPr>
          </a:p>
          <a:p>
            <a:pPr marL="285750" indent="-285750">
              <a:buFont typeface="Calibri"/>
              <a:buChar char="-"/>
            </a:pPr>
            <a:r>
              <a:rPr lang="tr-TR">
                <a:latin typeface="Arial Nova"/>
                <a:ea typeface="+mn-lt"/>
                <a:cs typeface="+mn-lt"/>
              </a:rPr>
              <a:t>Bu proje, gerçek hayattaki bir problemi çözmeyi amaçlayan, ekip temelli bir makine öğrenmesi ve </a:t>
            </a:r>
            <a:r>
              <a:rPr lang="tr-TR" err="1">
                <a:latin typeface="Arial Nova"/>
                <a:ea typeface="+mn-lt"/>
                <a:cs typeface="+mn-lt"/>
              </a:rPr>
              <a:t>MLOps</a:t>
            </a:r>
            <a:r>
              <a:rPr lang="tr-TR">
                <a:latin typeface="Arial Nova"/>
                <a:ea typeface="+mn-lt"/>
                <a:cs typeface="+mn-lt"/>
              </a:rPr>
              <a:t> odaklı sınıflandırma çalışmasıdır. Projenin temel amacı, sentetik bir tıbbi veri seti kullanılarak bireylerin ölüm riskini (</a:t>
            </a:r>
            <a:r>
              <a:rPr lang="tr-TR" err="1">
                <a:latin typeface="Arial Nova"/>
                <a:ea typeface="+mn-lt"/>
                <a:cs typeface="+mn-lt"/>
              </a:rPr>
              <a:t>Dead</a:t>
            </a:r>
            <a:r>
              <a:rPr lang="tr-TR">
                <a:latin typeface="Arial Nova"/>
                <a:ea typeface="+mn-lt"/>
                <a:cs typeface="+mn-lt"/>
              </a:rPr>
              <a:t>) tahmin edebilen bir ikili sınıflandırma (</a:t>
            </a:r>
            <a:r>
              <a:rPr lang="tr-TR" err="1">
                <a:latin typeface="Arial Nova"/>
                <a:ea typeface="+mn-lt"/>
                <a:cs typeface="+mn-lt"/>
              </a:rPr>
              <a:t>binary</a:t>
            </a:r>
            <a:r>
              <a:rPr lang="tr-TR">
                <a:latin typeface="Arial Nova"/>
                <a:ea typeface="+mn-lt"/>
                <a:cs typeface="+mn-lt"/>
              </a:rPr>
              <a:t> </a:t>
            </a:r>
            <a:r>
              <a:rPr lang="tr-TR" err="1">
                <a:latin typeface="Arial Nova"/>
                <a:ea typeface="+mn-lt"/>
                <a:cs typeface="+mn-lt"/>
              </a:rPr>
              <a:t>classification</a:t>
            </a:r>
            <a:r>
              <a:rPr lang="tr-TR">
                <a:latin typeface="Arial Nova"/>
                <a:ea typeface="+mn-lt"/>
                <a:cs typeface="+mn-lt"/>
              </a:rPr>
              <a:t>) modelinin geliştirilmesidir. Hedef değişken olan </a:t>
            </a:r>
            <a:r>
              <a:rPr lang="tr-TR" err="1">
                <a:latin typeface="Arial Nova"/>
                <a:ea typeface="+mn-lt"/>
                <a:cs typeface="+mn-lt"/>
              </a:rPr>
              <a:t>Dead</a:t>
            </a:r>
            <a:r>
              <a:rPr lang="tr-TR">
                <a:latin typeface="Arial Nova"/>
                <a:ea typeface="+mn-lt"/>
                <a:cs typeface="+mn-lt"/>
              </a:rPr>
              <a:t>, bireyin hayatta (0) veya vefat etmiş (1) olup olmadığını göstermektedir.</a:t>
            </a:r>
          </a:p>
          <a:p>
            <a:pPr marL="285750" indent="-285750">
              <a:buFont typeface="Calibri"/>
              <a:buChar char="-"/>
            </a:pPr>
            <a:endParaRPr lang="tr-TR">
              <a:latin typeface="Arial Nova"/>
              <a:ea typeface="+mn-lt"/>
              <a:cs typeface="+mn-lt"/>
            </a:endParaRPr>
          </a:p>
          <a:p>
            <a:pPr marL="285750" indent="-285750">
              <a:buFont typeface="Calibri"/>
              <a:buChar char="-"/>
            </a:pPr>
            <a:r>
              <a:rPr lang="tr-TR">
                <a:latin typeface="Arial Nova"/>
                <a:ea typeface="+mn-lt"/>
                <a:cs typeface="+mn-lt"/>
              </a:rPr>
              <a:t>Veri seti, hastalara ait demografik bilgiler, hastalık durumu, tedavi geçmişi, hormon seviyeleri ve takip süreleri gibi çok sayıda klinik ve medikal özelliği içermektedir. Toplamda veri setinde 39 sayısal değişken ve 12 kategorik değişken 1 de hedef sütun bulunmaktadır. Bu değişkenler arasında yaş, tümör büyüklüğü, hormon değerleri, operasyon sayısı, ek hastalıklar ve kullanılan ilaçlar gibi birçok önemli tıbbi özellik yer almaktadır.</a:t>
            </a:r>
          </a:p>
          <a:p>
            <a:endParaRPr lang="tr-TR">
              <a:latin typeface="Arial Nova"/>
              <a:ea typeface="+mn-lt"/>
              <a:cs typeface="+mn-lt"/>
            </a:endParaRPr>
          </a:p>
          <a:p>
            <a:pPr marL="285750" indent="-285750">
              <a:buFont typeface="Calibri"/>
              <a:buChar char="-"/>
            </a:pPr>
            <a:r>
              <a:rPr lang="tr-TR">
                <a:latin typeface="Arial Nova"/>
                <a:ea typeface="+mn-lt"/>
                <a:cs typeface="+mn-lt"/>
              </a:rPr>
              <a:t>Bu çalışmadaki en önemli zorluklardan biri, veri setinde bulunan sınıf dengesizliğidir (</a:t>
            </a:r>
            <a:r>
              <a:rPr lang="tr-TR" err="1">
                <a:latin typeface="Arial Nova"/>
                <a:ea typeface="+mn-lt"/>
                <a:cs typeface="+mn-lt"/>
              </a:rPr>
              <a:t>class</a:t>
            </a:r>
            <a:r>
              <a:rPr lang="tr-TR">
                <a:latin typeface="Arial Nova"/>
                <a:ea typeface="+mn-lt"/>
                <a:cs typeface="+mn-lt"/>
              </a:rPr>
              <a:t> </a:t>
            </a:r>
            <a:r>
              <a:rPr lang="tr-TR" err="1">
                <a:latin typeface="Arial Nova"/>
                <a:ea typeface="+mn-lt"/>
                <a:cs typeface="+mn-lt"/>
              </a:rPr>
              <a:t>imbalance</a:t>
            </a:r>
            <a:r>
              <a:rPr lang="tr-TR">
                <a:latin typeface="Arial Nova"/>
                <a:ea typeface="+mn-lt"/>
                <a:cs typeface="+mn-lt"/>
              </a:rPr>
              <a:t>). Hayatta olan birey sayısı, vefat etmiş birey sayısına göre oldukça fazladır. Yaklaşık olarak 556 “</a:t>
            </a:r>
            <a:r>
              <a:rPr lang="tr-TR" err="1">
                <a:latin typeface="Arial Nova"/>
                <a:ea typeface="+mn-lt"/>
                <a:cs typeface="+mn-lt"/>
              </a:rPr>
              <a:t>Alive</a:t>
            </a:r>
            <a:r>
              <a:rPr lang="tr-TR">
                <a:latin typeface="Arial Nova"/>
                <a:ea typeface="+mn-lt"/>
                <a:cs typeface="+mn-lt"/>
              </a:rPr>
              <a:t> (0)” ve 51 “</a:t>
            </a:r>
            <a:r>
              <a:rPr lang="tr-TR" err="1">
                <a:latin typeface="Arial Nova"/>
                <a:ea typeface="+mn-lt"/>
                <a:cs typeface="+mn-lt"/>
              </a:rPr>
              <a:t>Dead</a:t>
            </a:r>
            <a:r>
              <a:rPr lang="tr-TR">
                <a:latin typeface="Arial Nova"/>
                <a:ea typeface="+mn-lt"/>
                <a:cs typeface="+mn-lt"/>
              </a:rPr>
              <a:t> (1)” gözlem bulunmaktadır ve bu da yaklaşık 11:1 oranında bir dengesizlik yaratmaktadır. Bu durum, modellerin çoğunluk sınıfını öğrenmeye eğilim göstermesine ve az temsil edilen sınıfın doğru tahmin edilmesinde zorluk yaşanmasına sebep olmaktadır.</a:t>
            </a:r>
          </a:p>
          <a:p>
            <a:endParaRPr lang="tr-TR"/>
          </a:p>
          <a:p>
            <a:endParaRPr lang="tr-TR"/>
          </a:p>
          <a:p>
            <a:endParaRPr lang="tr-TR">
              <a:latin typeface="Arial Nova"/>
              <a:ea typeface="+mn-lt"/>
              <a:cs typeface="+mn-lt"/>
            </a:endParaRPr>
          </a:p>
          <a:p>
            <a:endParaRPr lang="tr-TR"/>
          </a:p>
          <a:p>
            <a:endParaRPr lang="tr-TR"/>
          </a:p>
          <a:p>
            <a:endParaRPr lang="tr-TR"/>
          </a:p>
          <a:p>
            <a:endParaRPr lang="tr-TR"/>
          </a:p>
          <a:p>
            <a:endParaRPr lang="tr-TR"/>
          </a:p>
          <a:p>
            <a:endParaRPr lang="tr-TR"/>
          </a:p>
          <a:p>
            <a:endParaRPr lang="tr-TR"/>
          </a:p>
          <a:p>
            <a:endParaRPr lang="tr-TR"/>
          </a:p>
          <a:p>
            <a:endParaRPr lang="tr-TR"/>
          </a:p>
          <a:p>
            <a:endParaRPr lang="tr-TR"/>
          </a:p>
          <a:p>
            <a:endParaRPr lang="tr-TR"/>
          </a:p>
          <a:p>
            <a:endParaRPr lang="tr-TR"/>
          </a:p>
          <a:p>
            <a:endParaRPr lang="tr-TR"/>
          </a:p>
        </p:txBody>
      </p:sp>
    </p:spTree>
    <p:extLst>
      <p:ext uri="{BB962C8B-B14F-4D97-AF65-F5344CB8AC3E}">
        <p14:creationId xmlns:p14="http://schemas.microsoft.com/office/powerpoint/2010/main" val="2835806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7131D-2CFA-2888-799D-58156028A068}"/>
            </a:ext>
          </a:extLst>
        </p:cNvPr>
        <p:cNvGrpSpPr/>
        <p:nvPr/>
      </p:nvGrpSpPr>
      <p:grpSpPr>
        <a:xfrm>
          <a:off x="0" y="0"/>
          <a:ext cx="0" cy="0"/>
          <a:chOff x="0" y="0"/>
          <a:chExt cx="0" cy="0"/>
        </a:xfrm>
      </p:grpSpPr>
      <p:sp>
        <p:nvSpPr>
          <p:cNvPr id="4" name="Metin kutusu 3">
            <a:extLst>
              <a:ext uri="{FF2B5EF4-FFF2-40B4-BE49-F238E27FC236}">
                <a16:creationId xmlns:a16="http://schemas.microsoft.com/office/drawing/2014/main" id="{D2F03F20-E941-7A95-6F96-43B180421C97}"/>
              </a:ext>
            </a:extLst>
          </p:cNvPr>
          <p:cNvSpPr txBox="1"/>
          <p:nvPr/>
        </p:nvSpPr>
        <p:spPr>
          <a:xfrm>
            <a:off x="805581" y="597689"/>
            <a:ext cx="8679490"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3200">
                <a:solidFill>
                  <a:srgbClr val="00B0F0"/>
                </a:solidFill>
                <a:latin typeface="Arial Nova"/>
              </a:rPr>
              <a:t>Genel Durum</a:t>
            </a:r>
          </a:p>
          <a:p>
            <a:endParaRPr lang="tr-TR" sz="3200">
              <a:latin typeface="Arial Nova"/>
            </a:endParaRPr>
          </a:p>
          <a:p>
            <a:pPr marL="285750" indent="-285750">
              <a:buFont typeface="Calibri"/>
              <a:buChar char="-"/>
            </a:pPr>
            <a:r>
              <a:rPr lang="tr-TR">
                <a:latin typeface="Arial Nova"/>
                <a:ea typeface="+mn-lt"/>
                <a:cs typeface="+mn-lt"/>
              </a:rPr>
              <a:t>Satır sayısı: 607 hasta</a:t>
            </a:r>
          </a:p>
          <a:p>
            <a:pPr marL="285750" indent="-285750">
              <a:buFont typeface="Calibri"/>
              <a:buChar char="-"/>
            </a:pPr>
            <a:r>
              <a:rPr lang="tr-TR">
                <a:latin typeface="Arial Nova"/>
                <a:ea typeface="+mn-lt"/>
                <a:cs typeface="+mn-lt"/>
              </a:rPr>
              <a:t>Sütun sayısı: 52 özellik</a:t>
            </a:r>
          </a:p>
          <a:p>
            <a:pPr marL="285750" indent="-285750">
              <a:buFont typeface="Calibri"/>
              <a:buChar char="-"/>
            </a:pPr>
            <a:r>
              <a:rPr lang="tr-TR">
                <a:latin typeface="Arial Nova"/>
                <a:ea typeface="+mn-lt"/>
                <a:cs typeface="+mn-lt"/>
              </a:rPr>
              <a:t>Sayısal Kategori Sayısı: 40</a:t>
            </a:r>
          </a:p>
          <a:p>
            <a:pPr marL="285750" indent="-285750">
              <a:buFont typeface="Calibri"/>
              <a:buChar char="-"/>
            </a:pPr>
            <a:r>
              <a:rPr lang="tr-TR">
                <a:latin typeface="Arial Nova"/>
                <a:ea typeface="+mn-lt"/>
                <a:cs typeface="+mn-lt"/>
              </a:rPr>
              <a:t>Kategorik Kolon sayısı:12</a:t>
            </a:r>
          </a:p>
          <a:p>
            <a:pPr marL="285750" indent="-285750">
              <a:buFont typeface="Calibri"/>
              <a:buChar char="-"/>
            </a:pPr>
            <a:r>
              <a:rPr lang="tr-TR">
                <a:latin typeface="Arial Nova"/>
                <a:ea typeface="+mn-lt"/>
                <a:cs typeface="+mn-lt"/>
              </a:rPr>
              <a:t>Ölü Oranı:  8.4%</a:t>
            </a:r>
          </a:p>
          <a:p>
            <a:pPr marL="285750" indent="-285750">
              <a:buFont typeface="Calibri"/>
              <a:buChar char="-"/>
            </a:pPr>
            <a:r>
              <a:rPr lang="tr-TR">
                <a:latin typeface="Arial Nova"/>
                <a:ea typeface="+mn-lt"/>
                <a:cs typeface="+mn-lt"/>
              </a:rPr>
              <a:t>Yaşayan Oranı 91.6%</a:t>
            </a:r>
          </a:p>
          <a:p>
            <a:pPr marL="285750" indent="-285750">
              <a:buFont typeface="Calibri"/>
              <a:buChar char="-"/>
            </a:pPr>
            <a:endParaRPr lang="tr-TR" b="1">
              <a:latin typeface="Arial Nova"/>
            </a:endParaRPr>
          </a:p>
          <a:p>
            <a:r>
              <a:rPr lang="tr-TR" sz="3200" err="1">
                <a:solidFill>
                  <a:srgbClr val="00B0F0"/>
                </a:solidFill>
                <a:latin typeface="Arial Nova"/>
              </a:rPr>
              <a:t>Null</a:t>
            </a:r>
            <a:r>
              <a:rPr lang="tr-TR" sz="3200">
                <a:solidFill>
                  <a:srgbClr val="00B0F0"/>
                </a:solidFill>
                <a:latin typeface="Arial Nova"/>
              </a:rPr>
              <a:t> Değer içeren Kolon oranı</a:t>
            </a:r>
          </a:p>
          <a:p>
            <a:endParaRPr lang="tr-TR" b="1">
              <a:latin typeface="Arial Nova"/>
            </a:endParaRPr>
          </a:p>
          <a:p>
            <a:pPr marL="285750" indent="-285750">
              <a:buFont typeface="Calibri"/>
              <a:buChar char="-"/>
            </a:pPr>
            <a:r>
              <a:rPr lang="tr-TR" err="1">
                <a:latin typeface="Arial Nova"/>
                <a:ea typeface="+mn-lt"/>
                <a:cs typeface="+mn-lt"/>
              </a:rPr>
              <a:t>Preop_GH</a:t>
            </a:r>
            <a:r>
              <a:rPr lang="tr-TR">
                <a:latin typeface="Arial Nova"/>
                <a:ea typeface="+mn-lt"/>
                <a:cs typeface="+mn-lt"/>
              </a:rPr>
              <a:t> → ~%31 </a:t>
            </a:r>
          </a:p>
          <a:p>
            <a:pPr marL="285750" indent="-285750">
              <a:buFont typeface="Calibri"/>
              <a:buChar char="-"/>
            </a:pPr>
            <a:r>
              <a:rPr lang="tr-TR" err="1">
                <a:latin typeface="Arial Nova"/>
                <a:ea typeface="+mn-lt"/>
                <a:cs typeface="+mn-lt"/>
              </a:rPr>
              <a:t>Kav_INV</a:t>
            </a:r>
            <a:r>
              <a:rPr lang="tr-TR">
                <a:latin typeface="Arial Nova"/>
                <a:ea typeface="+mn-lt"/>
                <a:cs typeface="+mn-lt"/>
              </a:rPr>
              <a:t> → ~%22</a:t>
            </a:r>
          </a:p>
          <a:p>
            <a:pPr marL="285750" indent="-285750">
              <a:buFont typeface="Calibri"/>
              <a:buChar char="-"/>
            </a:pPr>
            <a:r>
              <a:rPr lang="tr-TR" err="1">
                <a:latin typeface="Arial Nova"/>
                <a:ea typeface="+mn-lt"/>
                <a:cs typeface="+mn-lt"/>
              </a:rPr>
              <a:t>Preop_INV</a:t>
            </a:r>
            <a:r>
              <a:rPr lang="tr-TR">
                <a:latin typeface="Arial Nova"/>
                <a:ea typeface="+mn-lt"/>
                <a:cs typeface="+mn-lt"/>
              </a:rPr>
              <a:t> → ~%21</a:t>
            </a:r>
          </a:p>
          <a:p>
            <a:pPr marL="285750" indent="-285750">
              <a:buFont typeface="Calibri"/>
              <a:buChar char="-"/>
            </a:pPr>
            <a:r>
              <a:rPr lang="tr-TR" err="1">
                <a:latin typeface="Arial Nova"/>
                <a:ea typeface="+mn-lt"/>
                <a:cs typeface="+mn-lt"/>
              </a:rPr>
              <a:t>Preop_Tm_Size_MAX_mm</a:t>
            </a:r>
            <a:r>
              <a:rPr lang="tr-TR">
                <a:latin typeface="Arial Nova"/>
                <a:ea typeface="+mn-lt"/>
                <a:cs typeface="+mn-lt"/>
              </a:rPr>
              <a:t> → ~%20</a:t>
            </a:r>
          </a:p>
          <a:p>
            <a:pPr marL="285750" indent="-285750">
              <a:buFont typeface="Calibri"/>
              <a:buChar char="-"/>
            </a:pPr>
            <a:r>
              <a:rPr lang="tr-TR" err="1">
                <a:latin typeface="Arial Nova"/>
                <a:ea typeface="+mn-lt"/>
                <a:cs typeface="+mn-lt"/>
              </a:rPr>
              <a:t>Pituitary_Adenoma</a:t>
            </a:r>
            <a:r>
              <a:rPr lang="tr-TR">
                <a:latin typeface="Arial Nova"/>
                <a:ea typeface="+mn-lt"/>
                <a:cs typeface="+mn-lt"/>
              </a:rPr>
              <a:t> → ~%19</a:t>
            </a:r>
          </a:p>
          <a:p>
            <a:pPr marL="285750" indent="-285750">
              <a:buFont typeface="Calibri"/>
              <a:buChar char="-"/>
            </a:pPr>
            <a:r>
              <a:rPr lang="tr-TR" err="1">
                <a:latin typeface="Arial Nova"/>
                <a:ea typeface="+mn-lt"/>
                <a:cs typeface="+mn-lt"/>
              </a:rPr>
              <a:t>Age_at_Operation</a:t>
            </a:r>
            <a:r>
              <a:rPr lang="tr-TR">
                <a:latin typeface="Arial Nova"/>
                <a:ea typeface="+mn-lt"/>
                <a:cs typeface="+mn-lt"/>
              </a:rPr>
              <a:t> → ~%18</a:t>
            </a:r>
          </a:p>
          <a:p>
            <a:pPr marL="285750" indent="-285750">
              <a:buFont typeface="Calibri"/>
              <a:buChar char="-"/>
            </a:pPr>
            <a:r>
              <a:rPr lang="tr-TR" err="1">
                <a:latin typeface="Arial Nova"/>
                <a:ea typeface="+mn-lt"/>
                <a:cs typeface="+mn-lt"/>
              </a:rPr>
              <a:t>Macro_Micro</a:t>
            </a:r>
            <a:r>
              <a:rPr lang="tr-TR">
                <a:latin typeface="Arial Nova"/>
                <a:ea typeface="+mn-lt"/>
                <a:cs typeface="+mn-lt"/>
              </a:rPr>
              <a:t> → ~%18</a:t>
            </a:r>
          </a:p>
          <a:p>
            <a:pPr algn="l"/>
            <a:endParaRPr lang="tr-TR">
              <a:latin typeface="Arial Nova"/>
            </a:endParaRPr>
          </a:p>
        </p:txBody>
      </p:sp>
    </p:spTree>
    <p:extLst>
      <p:ext uri="{BB962C8B-B14F-4D97-AF65-F5344CB8AC3E}">
        <p14:creationId xmlns:p14="http://schemas.microsoft.com/office/powerpoint/2010/main" val="1257607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F7E86-FB0B-8C04-963A-296752D1D5B8}"/>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50E5C66C-3C75-9DC8-CDD9-C60E8F4EB1AF}"/>
              </a:ext>
            </a:extLst>
          </p:cNvPr>
          <p:cNvSpPr txBox="1"/>
          <p:nvPr/>
        </p:nvSpPr>
        <p:spPr>
          <a:xfrm>
            <a:off x="766602" y="493743"/>
            <a:ext cx="10706436" cy="58169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2400">
                <a:solidFill>
                  <a:srgbClr val="00B0F0"/>
                </a:solidFill>
                <a:latin typeface="Arial Nova"/>
                <a:cs typeface="Arial"/>
              </a:rPr>
              <a:t>Orijinal </a:t>
            </a:r>
            <a:r>
              <a:rPr lang="tr-TR" sz="2400" err="1">
                <a:solidFill>
                  <a:srgbClr val="00B0F0"/>
                </a:solidFill>
                <a:latin typeface="Arial Nova"/>
                <a:cs typeface="Arial"/>
              </a:rPr>
              <a:t>dataset</a:t>
            </a:r>
            <a:r>
              <a:rPr lang="tr-TR" sz="2400">
                <a:solidFill>
                  <a:srgbClr val="00B0F0"/>
                </a:solidFill>
                <a:latin typeface="Arial Nova"/>
                <a:cs typeface="Arial"/>
              </a:rPr>
              <a:t> (607 satır)</a:t>
            </a:r>
            <a:br>
              <a:rPr lang="tr-TR" sz="2400">
                <a:solidFill>
                  <a:srgbClr val="00B0F0"/>
                </a:solidFill>
                <a:latin typeface="Arial Nova"/>
                <a:cs typeface="Arial"/>
              </a:rPr>
            </a:br>
            <a:endParaRPr lang="tr-TR" sz="2400">
              <a:solidFill>
                <a:srgbClr val="00B0F0"/>
              </a:solidFill>
              <a:latin typeface="Arial Nova"/>
              <a:cs typeface="Arial"/>
            </a:endParaRPr>
          </a:p>
          <a:p>
            <a:pPr marL="285750" indent="-285750">
              <a:buFont typeface="Calibri"/>
              <a:buChar char="-"/>
            </a:pPr>
            <a:r>
              <a:rPr lang="tr-TR" err="1">
                <a:latin typeface="Arial Nova"/>
                <a:ea typeface="+mn-lt"/>
                <a:cs typeface="+mn-lt"/>
              </a:rPr>
              <a:t>Alive</a:t>
            </a:r>
            <a:r>
              <a:rPr lang="tr-TR">
                <a:latin typeface="Arial Nova"/>
                <a:ea typeface="+mn-lt"/>
                <a:cs typeface="+mn-lt"/>
              </a:rPr>
              <a:t> (0) = 556</a:t>
            </a:r>
          </a:p>
          <a:p>
            <a:pPr marL="285750" indent="-285750">
              <a:buFont typeface="Calibri"/>
              <a:buChar char="-"/>
            </a:pPr>
            <a:r>
              <a:rPr lang="tr-TR" err="1">
                <a:latin typeface="Arial Nova"/>
                <a:ea typeface="+mn-lt"/>
                <a:cs typeface="+mn-lt"/>
              </a:rPr>
              <a:t>Dead</a:t>
            </a:r>
            <a:r>
              <a:rPr lang="tr-TR">
                <a:latin typeface="Arial Nova"/>
                <a:ea typeface="+mn-lt"/>
                <a:cs typeface="+mn-lt"/>
              </a:rPr>
              <a:t> (1) = 51</a:t>
            </a:r>
            <a:br>
              <a:rPr lang="tr-TR">
                <a:latin typeface="Arial Nova"/>
                <a:ea typeface="+mn-lt"/>
                <a:cs typeface="+mn-lt"/>
              </a:rPr>
            </a:br>
            <a:endParaRPr lang="tr-TR">
              <a:latin typeface="Arial Nova"/>
              <a:ea typeface="+mn-lt"/>
              <a:cs typeface="+mn-lt"/>
            </a:endParaRPr>
          </a:p>
          <a:p>
            <a:r>
              <a:rPr lang="tr-TR" sz="2400">
                <a:solidFill>
                  <a:srgbClr val="00B0F0"/>
                </a:solidFill>
                <a:latin typeface="Arial Nova"/>
                <a:cs typeface="Arial"/>
              </a:rPr>
              <a:t>Train (485 satır)</a:t>
            </a:r>
            <a:br>
              <a:rPr lang="tr-TR" sz="2400">
                <a:solidFill>
                  <a:srgbClr val="00B0F0"/>
                </a:solidFill>
                <a:latin typeface="Arial Nova"/>
                <a:cs typeface="Arial"/>
              </a:rPr>
            </a:br>
            <a:endParaRPr lang="tr-TR" sz="2400">
              <a:solidFill>
                <a:srgbClr val="00B0F0"/>
              </a:solidFill>
              <a:latin typeface="Arial Nova"/>
              <a:cs typeface="Arial"/>
            </a:endParaRPr>
          </a:p>
          <a:p>
            <a:pPr marL="285750" indent="-285750">
              <a:buFont typeface="Calibri"/>
              <a:buChar char="-"/>
            </a:pPr>
            <a:r>
              <a:rPr lang="tr-TR" err="1">
                <a:latin typeface="Arial Nova"/>
                <a:ea typeface="+mn-lt"/>
                <a:cs typeface="+mn-lt"/>
              </a:rPr>
              <a:t>Alive</a:t>
            </a:r>
            <a:r>
              <a:rPr lang="tr-TR">
                <a:latin typeface="Arial Nova"/>
                <a:ea typeface="+mn-lt"/>
                <a:cs typeface="+mn-lt"/>
              </a:rPr>
              <a:t> = 444 </a:t>
            </a:r>
          </a:p>
          <a:p>
            <a:pPr marL="285750" indent="-285750">
              <a:buFont typeface="Calibri"/>
              <a:buChar char="-"/>
            </a:pPr>
            <a:r>
              <a:rPr lang="tr-TR" err="1">
                <a:latin typeface="Arial Nova"/>
                <a:ea typeface="+mn-lt"/>
                <a:cs typeface="+mn-lt"/>
              </a:rPr>
              <a:t>Dead</a:t>
            </a:r>
            <a:r>
              <a:rPr lang="tr-TR">
                <a:latin typeface="Arial Nova"/>
                <a:ea typeface="+mn-lt"/>
                <a:cs typeface="+mn-lt"/>
              </a:rPr>
              <a:t> = 41 </a:t>
            </a:r>
          </a:p>
          <a:p>
            <a:pPr marL="285750" indent="-285750">
              <a:buFont typeface="Calibri"/>
              <a:buChar char="-"/>
            </a:pPr>
            <a:endParaRPr lang="tr-TR">
              <a:solidFill>
                <a:srgbClr val="000000"/>
              </a:solidFill>
              <a:latin typeface="Arial Nova"/>
              <a:cs typeface="Arial"/>
            </a:endParaRPr>
          </a:p>
          <a:p>
            <a:r>
              <a:rPr lang="tr-TR" sz="2400">
                <a:solidFill>
                  <a:srgbClr val="00B0F0"/>
                </a:solidFill>
                <a:latin typeface="Arial Nova"/>
                <a:cs typeface="Arial"/>
              </a:rPr>
              <a:t>Test (122 satır)</a:t>
            </a:r>
            <a:br>
              <a:rPr lang="tr-TR" sz="2400">
                <a:solidFill>
                  <a:srgbClr val="00B0F0"/>
                </a:solidFill>
                <a:latin typeface="Arial Nova"/>
                <a:cs typeface="Arial"/>
              </a:rPr>
            </a:br>
            <a:endParaRPr lang="tr-TR" sz="2400">
              <a:solidFill>
                <a:srgbClr val="00B0F0"/>
              </a:solidFill>
              <a:latin typeface="Arial Nova"/>
              <a:cs typeface="Arial"/>
            </a:endParaRPr>
          </a:p>
          <a:p>
            <a:pPr marL="285750" indent="-285750">
              <a:buFont typeface="Calibri,Sans-Serif"/>
              <a:buChar char="-"/>
            </a:pPr>
            <a:r>
              <a:rPr lang="tr-TR" err="1">
                <a:latin typeface="Arial Nova"/>
                <a:ea typeface="+mn-lt"/>
                <a:cs typeface="+mn-lt"/>
              </a:rPr>
              <a:t>Alive</a:t>
            </a:r>
            <a:r>
              <a:rPr lang="tr-TR">
                <a:latin typeface="Arial Nova"/>
                <a:ea typeface="+mn-lt"/>
                <a:cs typeface="+mn-lt"/>
              </a:rPr>
              <a:t> = 112</a:t>
            </a:r>
            <a:endParaRPr lang="en-US">
              <a:latin typeface="Arial Nova"/>
              <a:ea typeface="+mn-lt"/>
              <a:cs typeface="+mn-lt"/>
            </a:endParaRPr>
          </a:p>
          <a:p>
            <a:pPr marL="285750" indent="-285750">
              <a:buFont typeface="Calibri,Sans-Serif"/>
              <a:buChar char="-"/>
            </a:pPr>
            <a:r>
              <a:rPr lang="tr-TR" err="1">
                <a:latin typeface="Arial Nova"/>
                <a:ea typeface="+mn-lt"/>
                <a:cs typeface="+mn-lt"/>
              </a:rPr>
              <a:t>Dead</a:t>
            </a:r>
            <a:r>
              <a:rPr lang="tr-TR">
                <a:latin typeface="Arial Nova"/>
                <a:ea typeface="+mn-lt"/>
                <a:cs typeface="+mn-lt"/>
              </a:rPr>
              <a:t> = 10</a:t>
            </a:r>
            <a:endParaRPr lang="en-US">
              <a:latin typeface="Arial Nova"/>
              <a:ea typeface="+mn-lt"/>
              <a:cs typeface="+mn-lt"/>
            </a:endParaRPr>
          </a:p>
          <a:p>
            <a:endParaRPr lang="tr-TR">
              <a:latin typeface="Arial Nova"/>
              <a:ea typeface="+mn-lt"/>
              <a:cs typeface="+mn-lt"/>
            </a:endParaRPr>
          </a:p>
          <a:p>
            <a:pPr marL="285750" indent="-285750">
              <a:buFont typeface="Calibri"/>
              <a:buChar char="-"/>
            </a:pPr>
            <a:r>
              <a:rPr lang="tr-TR">
                <a:latin typeface="Arial Nova"/>
                <a:ea typeface="+mn-lt"/>
                <a:cs typeface="+mn-lt"/>
              </a:rPr>
              <a:t>veri seti, %80 eğitim ve %20 test olacak şekilde </a:t>
            </a:r>
            <a:r>
              <a:rPr lang="tr-TR" err="1">
                <a:latin typeface="Arial Nova"/>
                <a:ea typeface="+mn-lt"/>
                <a:cs typeface="+mn-lt"/>
              </a:rPr>
              <a:t>train_test_split</a:t>
            </a:r>
            <a:r>
              <a:rPr lang="tr-TR">
                <a:latin typeface="Arial Nova"/>
                <a:ea typeface="+mn-lt"/>
                <a:cs typeface="+mn-lt"/>
              </a:rPr>
              <a:t> fonksiyonu ile ikiye ayrılmıştır. Veri dengesiz olduğu için, sınıf oranlarının hem eğitim hem de test setinde korunmasını sağlamak amacıyla </a:t>
            </a:r>
            <a:r>
              <a:rPr lang="tr-TR" err="1">
                <a:latin typeface="Arial Nova"/>
                <a:ea typeface="+mn-lt"/>
                <a:cs typeface="+mn-lt"/>
              </a:rPr>
              <a:t>stratify</a:t>
            </a:r>
            <a:r>
              <a:rPr lang="tr-TR">
                <a:latin typeface="Arial Nova"/>
                <a:ea typeface="+mn-lt"/>
                <a:cs typeface="+mn-lt"/>
              </a:rPr>
              <a:t>=y parametresi kullanılmıştır.</a:t>
            </a:r>
          </a:p>
          <a:p>
            <a:endParaRPr lang="tr-TR" sz="1200">
              <a:latin typeface="Aptos"/>
            </a:endParaRPr>
          </a:p>
        </p:txBody>
      </p:sp>
    </p:spTree>
    <p:extLst>
      <p:ext uri="{BB962C8B-B14F-4D97-AF65-F5344CB8AC3E}">
        <p14:creationId xmlns:p14="http://schemas.microsoft.com/office/powerpoint/2010/main" val="1540259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1525B-A49B-1674-FA38-0C15979CC5B3}"/>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87CBD313-A6B7-FEA2-7B48-1244BF46A3AE}"/>
              </a:ext>
            </a:extLst>
          </p:cNvPr>
          <p:cNvSpPr txBox="1"/>
          <p:nvPr/>
        </p:nvSpPr>
        <p:spPr>
          <a:xfrm>
            <a:off x="766602" y="493743"/>
            <a:ext cx="10706436"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3200">
                <a:solidFill>
                  <a:srgbClr val="00B0F0"/>
                </a:solidFill>
                <a:latin typeface="Arial Nova"/>
                <a:cs typeface="Arial"/>
              </a:rPr>
              <a:t>Data </a:t>
            </a:r>
            <a:r>
              <a:rPr lang="tr-TR" sz="3200" err="1">
                <a:solidFill>
                  <a:srgbClr val="00B0F0"/>
                </a:solidFill>
                <a:latin typeface="Arial Nova"/>
                <a:cs typeface="Arial"/>
              </a:rPr>
              <a:t>Preprocessing</a:t>
            </a:r>
            <a:br>
              <a:rPr lang="tr-TR" sz="3200">
                <a:solidFill>
                  <a:srgbClr val="00B0F0"/>
                </a:solidFill>
                <a:latin typeface="Arial Nova"/>
                <a:cs typeface="Arial"/>
              </a:rPr>
            </a:br>
            <a:endParaRPr lang="tr-TR" sz="3200">
              <a:solidFill>
                <a:srgbClr val="00B0F0"/>
              </a:solidFill>
              <a:latin typeface="Arial Nova"/>
              <a:cs typeface="Arial"/>
            </a:endParaRPr>
          </a:p>
          <a:p>
            <a:pPr marL="285750" indent="-285750">
              <a:buFont typeface="Calibri"/>
              <a:buChar char="-"/>
            </a:pPr>
            <a:r>
              <a:rPr lang="tr-TR">
                <a:latin typeface="Arial Nova"/>
                <a:cs typeface="Arial"/>
              </a:rPr>
              <a:t>Sayısal değişkenlerdeki eksik değerler, uç değerlerin etkisini azaltmak amacıyla </a:t>
            </a:r>
            <a:r>
              <a:rPr lang="tr-TR" err="1">
                <a:latin typeface="Arial Nova"/>
                <a:cs typeface="Arial"/>
              </a:rPr>
              <a:t>median</a:t>
            </a:r>
            <a:r>
              <a:rPr lang="tr-TR">
                <a:latin typeface="Arial Nova"/>
                <a:cs typeface="Arial"/>
              </a:rPr>
              <a:t> stratejisi kullanılarak doldurulmuştur.</a:t>
            </a:r>
          </a:p>
          <a:p>
            <a:pPr marL="285750" indent="-285750">
              <a:buFont typeface="Calibri"/>
              <a:buChar char="-"/>
            </a:pPr>
            <a:endParaRPr lang="tr-TR">
              <a:latin typeface="Arial Nova"/>
              <a:cs typeface="Arial"/>
            </a:endParaRPr>
          </a:p>
          <a:p>
            <a:pPr marL="285750" indent="-285750">
              <a:buFont typeface="Calibri"/>
              <a:buChar char="-"/>
            </a:pPr>
            <a:r>
              <a:rPr lang="tr-TR">
                <a:latin typeface="Arial Nova"/>
                <a:cs typeface="Arial"/>
              </a:rPr>
              <a:t>Sayısal değişkenler, modellerin farklı ölçeklerden olumsuz etkilenmesini önlemek için </a:t>
            </a:r>
            <a:r>
              <a:rPr lang="tr-TR" err="1">
                <a:latin typeface="Arial Nova"/>
                <a:cs typeface="Arial"/>
              </a:rPr>
              <a:t>StandardScaler</a:t>
            </a:r>
            <a:r>
              <a:rPr lang="tr-TR">
                <a:latin typeface="Arial Nova"/>
                <a:cs typeface="Arial"/>
              </a:rPr>
              <a:t> ile standartlaştırılmıştır.(</a:t>
            </a:r>
            <a:r>
              <a:rPr lang="tr-TR" err="1">
                <a:latin typeface="Arial Nova"/>
                <a:cs typeface="Arial"/>
              </a:rPr>
              <a:t>Random</a:t>
            </a:r>
            <a:r>
              <a:rPr lang="tr-TR">
                <a:latin typeface="Arial Nova"/>
                <a:cs typeface="Arial"/>
              </a:rPr>
              <a:t> </a:t>
            </a:r>
            <a:r>
              <a:rPr lang="tr-TR" err="1">
                <a:latin typeface="Arial Nova"/>
                <a:cs typeface="Arial"/>
              </a:rPr>
              <a:t>Forest</a:t>
            </a:r>
            <a:r>
              <a:rPr lang="tr-TR">
                <a:latin typeface="Arial Nova"/>
                <a:cs typeface="Arial"/>
              </a:rPr>
              <a:t>, </a:t>
            </a:r>
            <a:r>
              <a:rPr lang="tr-TR" err="1">
                <a:latin typeface="Arial Nova"/>
                <a:cs typeface="Arial"/>
              </a:rPr>
              <a:t>XGBoost</a:t>
            </a:r>
            <a:r>
              <a:rPr lang="tr-TR">
                <a:latin typeface="Arial Nova"/>
                <a:cs typeface="Arial"/>
              </a:rPr>
              <a:t> gibi ağaç tabanlı modeller için ölçekleme şart değil, ancak </a:t>
            </a:r>
            <a:r>
              <a:rPr lang="tr-TR" err="1">
                <a:latin typeface="Arial Nova"/>
                <a:cs typeface="Arial"/>
              </a:rPr>
              <a:t>pipeline</a:t>
            </a:r>
            <a:r>
              <a:rPr lang="tr-TR">
                <a:latin typeface="Arial Nova"/>
                <a:cs typeface="Arial"/>
              </a:rPr>
              <a:t> içinde standardı yakalamak adına </a:t>
            </a:r>
            <a:r>
              <a:rPr lang="tr-TR" err="1">
                <a:latin typeface="Arial Nova"/>
                <a:cs typeface="Arial"/>
              </a:rPr>
              <a:t>preprocessing</a:t>
            </a:r>
            <a:r>
              <a:rPr lang="tr-TR">
                <a:latin typeface="Arial Nova"/>
                <a:cs typeface="Arial"/>
              </a:rPr>
              <a:t> adımından çıkarmadık.)</a:t>
            </a:r>
          </a:p>
          <a:p>
            <a:pPr marL="285750" indent="-285750">
              <a:buFont typeface="Calibri"/>
              <a:buChar char="-"/>
            </a:pPr>
            <a:endParaRPr lang="tr-TR">
              <a:latin typeface="Arial Nova"/>
              <a:cs typeface="Arial"/>
            </a:endParaRPr>
          </a:p>
          <a:p>
            <a:pPr marL="285750" indent="-285750">
              <a:buFont typeface="Calibri"/>
              <a:buChar char="-"/>
            </a:pPr>
            <a:r>
              <a:rPr lang="tr-TR">
                <a:latin typeface="Arial Nova"/>
                <a:cs typeface="Arial"/>
              </a:rPr>
              <a:t>Kategorik değişkenlerdeki eksik gözlemler, veri setindeki en sık görülen kategori ile doldurulmuştur.</a:t>
            </a:r>
          </a:p>
          <a:p>
            <a:pPr marL="285750" indent="-285750">
              <a:buFont typeface="Calibri"/>
              <a:buChar char="-"/>
            </a:pPr>
            <a:endParaRPr lang="tr-TR">
              <a:latin typeface="Arial Nova"/>
              <a:cs typeface="Arial"/>
            </a:endParaRPr>
          </a:p>
          <a:p>
            <a:pPr marL="285750" indent="-285750">
              <a:buFont typeface="Calibri"/>
              <a:buChar char="-"/>
            </a:pPr>
            <a:r>
              <a:rPr lang="tr-TR">
                <a:latin typeface="Arial Nova"/>
                <a:cs typeface="Arial"/>
              </a:rPr>
              <a:t>Kategorik değişkenleri modele verebilmek için </a:t>
            </a:r>
            <a:r>
              <a:rPr lang="tr-TR" err="1">
                <a:latin typeface="Arial Nova"/>
                <a:cs typeface="Arial"/>
              </a:rPr>
              <a:t>OneHotEncoder</a:t>
            </a:r>
            <a:r>
              <a:rPr lang="tr-TR">
                <a:latin typeface="Arial Nova"/>
                <a:cs typeface="Arial"/>
              </a:rPr>
              <a:t> ile kategorik kolonlar sayısala çevrilmiştir. Test setinde, eğitimde hiç görmediğimiz yeni bir kategori çıkması durumunda kodun hata almaması için </a:t>
            </a:r>
            <a:r>
              <a:rPr lang="tr-TR" err="1">
                <a:latin typeface="Arial Nova"/>
                <a:cs typeface="Arial"/>
              </a:rPr>
              <a:t>handle_unknown</a:t>
            </a:r>
            <a:r>
              <a:rPr lang="tr-TR">
                <a:latin typeface="Arial Nova"/>
                <a:cs typeface="Arial"/>
              </a:rPr>
              <a:t>="</a:t>
            </a:r>
            <a:r>
              <a:rPr lang="tr-TR" err="1">
                <a:latin typeface="Arial Nova"/>
                <a:cs typeface="Arial"/>
              </a:rPr>
              <a:t>ignore</a:t>
            </a:r>
            <a:r>
              <a:rPr lang="tr-TR">
                <a:latin typeface="Arial Nova"/>
                <a:cs typeface="Arial"/>
              </a:rPr>
              <a:t>" uygulanmıştır.</a:t>
            </a:r>
          </a:p>
          <a:p>
            <a:pPr marL="285750" indent="-285750">
              <a:buFont typeface="Calibri"/>
              <a:buChar char="-"/>
            </a:pPr>
            <a:endParaRPr lang="tr-TR">
              <a:latin typeface="Arial Nova"/>
              <a:cs typeface="Arial"/>
            </a:endParaRPr>
          </a:p>
          <a:p>
            <a:pPr marL="285750" indent="-285750">
              <a:buFont typeface="Calibri"/>
              <a:buChar char="-"/>
            </a:pPr>
            <a:r>
              <a:rPr lang="tr-TR">
                <a:latin typeface="Arial Nova"/>
                <a:cs typeface="Arial"/>
              </a:rPr>
              <a:t>Sayısal ve kategorik değişkenler için </a:t>
            </a:r>
            <a:r>
              <a:rPr lang="tr-TR" err="1">
                <a:latin typeface="Arial Nova"/>
                <a:cs typeface="Arial"/>
              </a:rPr>
              <a:t>preprocessing</a:t>
            </a:r>
            <a:r>
              <a:rPr lang="tr-TR">
                <a:latin typeface="Arial Nova"/>
                <a:cs typeface="Arial"/>
              </a:rPr>
              <a:t> uygulanmış ve bu adımlar </a:t>
            </a:r>
            <a:r>
              <a:rPr lang="tr-TR" err="1">
                <a:latin typeface="Arial Nova"/>
                <a:cs typeface="Arial"/>
              </a:rPr>
              <a:t>ColumnTransformer</a:t>
            </a:r>
            <a:r>
              <a:rPr lang="tr-TR">
                <a:latin typeface="Arial Nova"/>
                <a:cs typeface="Arial"/>
              </a:rPr>
              <a:t> ile </a:t>
            </a:r>
            <a:r>
              <a:rPr lang="tr-TR" err="1">
                <a:latin typeface="Arial Nova"/>
                <a:cs typeface="Arial"/>
              </a:rPr>
              <a:t>pipelineda</a:t>
            </a:r>
            <a:r>
              <a:rPr lang="tr-TR">
                <a:latin typeface="Arial Nova"/>
                <a:cs typeface="Arial"/>
              </a:rPr>
              <a:t> birleştirilmiştir.</a:t>
            </a:r>
          </a:p>
          <a:p>
            <a:endParaRPr lang="tr-TR">
              <a:latin typeface="Arial Nova"/>
              <a:cs typeface="Arial"/>
            </a:endParaRPr>
          </a:p>
        </p:txBody>
      </p:sp>
    </p:spTree>
    <p:extLst>
      <p:ext uri="{BB962C8B-B14F-4D97-AF65-F5344CB8AC3E}">
        <p14:creationId xmlns:p14="http://schemas.microsoft.com/office/powerpoint/2010/main" val="1359057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DD494-293A-2F13-4C00-87D2C0737290}"/>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5D659F93-9B83-79C3-6849-7D11FF2D0DFB}"/>
              </a:ext>
            </a:extLst>
          </p:cNvPr>
          <p:cNvSpPr txBox="1"/>
          <p:nvPr/>
        </p:nvSpPr>
        <p:spPr>
          <a:xfrm>
            <a:off x="734405" y="203968"/>
            <a:ext cx="10717981" cy="43396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3200">
                <a:solidFill>
                  <a:srgbClr val="00B0F0"/>
                </a:solidFill>
                <a:latin typeface="Arial Nova"/>
                <a:cs typeface="Arial"/>
              </a:rPr>
              <a:t>Modelleme</a:t>
            </a:r>
          </a:p>
          <a:p>
            <a:r>
              <a:rPr lang="tr-TR" sz="3200">
                <a:solidFill>
                  <a:srgbClr val="00B0F0"/>
                </a:solidFill>
                <a:latin typeface="Arial Nova"/>
                <a:cs typeface="Arial"/>
              </a:rPr>
              <a:t>1- </a:t>
            </a:r>
            <a:r>
              <a:rPr lang="tr-TR" sz="3200" err="1">
                <a:solidFill>
                  <a:srgbClr val="00B0F0"/>
                </a:solidFill>
                <a:latin typeface="Arial Nova"/>
                <a:cs typeface="Arial"/>
              </a:rPr>
              <a:t>Logistic</a:t>
            </a:r>
            <a:r>
              <a:rPr lang="tr-TR" sz="3200">
                <a:solidFill>
                  <a:srgbClr val="00B0F0"/>
                </a:solidFill>
                <a:latin typeface="Arial Nova"/>
                <a:cs typeface="Arial"/>
              </a:rPr>
              <a:t> </a:t>
            </a:r>
            <a:r>
              <a:rPr lang="tr-TR" sz="3200" err="1">
                <a:solidFill>
                  <a:srgbClr val="00B0F0"/>
                </a:solidFill>
                <a:latin typeface="Arial Nova"/>
                <a:cs typeface="Arial"/>
              </a:rPr>
              <a:t>Regression</a:t>
            </a:r>
            <a:br>
              <a:rPr lang="tr-TR" sz="3200">
                <a:solidFill>
                  <a:srgbClr val="00B0F0"/>
                </a:solidFill>
                <a:latin typeface="Arial Nova"/>
                <a:cs typeface="Arial"/>
              </a:rPr>
            </a:br>
            <a:endParaRPr lang="tr-TR" sz="3200">
              <a:solidFill>
                <a:srgbClr val="00B0F0"/>
              </a:solidFill>
              <a:latin typeface="Arial Nova"/>
              <a:cs typeface="Arial"/>
            </a:endParaRPr>
          </a:p>
          <a:p>
            <a:pPr marL="285750" indent="-285750">
              <a:buFont typeface="Calibri"/>
              <a:buChar char="-"/>
            </a:pPr>
            <a:r>
              <a:rPr lang="tr-TR">
                <a:latin typeface="Arial Nova"/>
                <a:cs typeface="Arial"/>
              </a:rPr>
              <a:t>Lineer ilişkilere dayalı, Basit, hızlı ve kolay yorumlanabilir bir modeldir.</a:t>
            </a:r>
          </a:p>
          <a:p>
            <a:pPr marL="285750" indent="-285750">
              <a:buFont typeface="Calibri"/>
              <a:buChar char="-"/>
            </a:pPr>
            <a:endParaRPr lang="tr-TR">
              <a:latin typeface="Arial Nova"/>
              <a:cs typeface="Arial"/>
            </a:endParaRPr>
          </a:p>
          <a:p>
            <a:pPr marL="285750" indent="-285750">
              <a:buFont typeface="Calibri"/>
              <a:buChar char="-"/>
            </a:pPr>
            <a:r>
              <a:rPr lang="tr-TR">
                <a:latin typeface="Arial Nova"/>
                <a:cs typeface="Arial"/>
              </a:rPr>
              <a:t>Veri setinin dengesiz olması nedeniyle </a:t>
            </a:r>
            <a:r>
              <a:rPr lang="tr-TR" err="1">
                <a:latin typeface="Arial Nova"/>
                <a:cs typeface="Arial"/>
              </a:rPr>
              <a:t>class_weight</a:t>
            </a:r>
            <a:r>
              <a:rPr lang="tr-TR">
                <a:latin typeface="Arial Nova"/>
                <a:cs typeface="Arial"/>
              </a:rPr>
              <a:t>="</a:t>
            </a:r>
            <a:r>
              <a:rPr lang="tr-TR" err="1">
                <a:latin typeface="Arial Nova"/>
                <a:cs typeface="Arial"/>
              </a:rPr>
              <a:t>balanced</a:t>
            </a:r>
            <a:r>
              <a:rPr lang="tr-TR">
                <a:latin typeface="Arial Nova"/>
                <a:cs typeface="Arial"/>
              </a:rPr>
              <a:t>" parametresi kullanılmıştır.</a:t>
            </a:r>
            <a:endParaRPr lang="tr-TR">
              <a:latin typeface="Neue Haas Grotesk Text Pro"/>
              <a:cs typeface="Arial"/>
            </a:endParaRPr>
          </a:p>
          <a:p>
            <a:pPr marL="285750" indent="-285750">
              <a:buFont typeface="Calibri"/>
              <a:buChar char="-"/>
            </a:pPr>
            <a:endParaRPr lang="tr-TR">
              <a:latin typeface="Arial Nova"/>
              <a:cs typeface="Arial"/>
            </a:endParaRPr>
          </a:p>
          <a:p>
            <a:pPr marL="285750" indent="-285750">
              <a:buFont typeface="Calibri"/>
              <a:buChar char="-"/>
            </a:pPr>
            <a:r>
              <a:rPr lang="tr-TR">
                <a:latin typeface="Arial Nova"/>
                <a:cs typeface="Arial"/>
              </a:rPr>
              <a:t>Basic </a:t>
            </a:r>
            <a:r>
              <a:rPr lang="tr-TR" err="1">
                <a:latin typeface="Arial Nova"/>
                <a:cs typeface="Arial"/>
              </a:rPr>
              <a:t>Logistic</a:t>
            </a:r>
            <a:r>
              <a:rPr lang="tr-TR">
                <a:latin typeface="Arial Nova"/>
                <a:cs typeface="Arial"/>
              </a:rPr>
              <a:t> </a:t>
            </a:r>
            <a:r>
              <a:rPr lang="tr-TR" err="1">
                <a:latin typeface="Arial Nova"/>
                <a:cs typeface="Arial"/>
              </a:rPr>
              <a:t>Regression</a:t>
            </a:r>
            <a:r>
              <a:rPr lang="tr-TR">
                <a:latin typeface="Arial Nova"/>
                <a:cs typeface="Arial"/>
              </a:rPr>
              <a:t> Modeli için </a:t>
            </a:r>
            <a:r>
              <a:rPr lang="tr-TR" err="1">
                <a:latin typeface="Arial Nova"/>
                <a:cs typeface="Arial"/>
              </a:rPr>
              <a:t>recall</a:t>
            </a:r>
            <a:r>
              <a:rPr lang="tr-TR">
                <a:latin typeface="Arial Nova"/>
                <a:cs typeface="Arial"/>
              </a:rPr>
              <a:t> ve </a:t>
            </a:r>
            <a:r>
              <a:rPr lang="tr-TR" err="1">
                <a:latin typeface="Arial Nova"/>
                <a:cs typeface="Arial"/>
              </a:rPr>
              <a:t>precision</a:t>
            </a:r>
            <a:r>
              <a:rPr lang="tr-TR">
                <a:latin typeface="Arial Nova"/>
                <a:cs typeface="Arial"/>
              </a:rPr>
              <a:t> değerlerinin düşük kaldığını göstermiştir. Bu problemi azaltmak amacıyla </a:t>
            </a:r>
            <a:r>
              <a:rPr lang="tr-TR" err="1">
                <a:latin typeface="Arial Nova"/>
                <a:cs typeface="Arial"/>
              </a:rPr>
              <a:t>threshold</a:t>
            </a:r>
            <a:r>
              <a:rPr lang="tr-TR">
                <a:latin typeface="Arial Nova"/>
                <a:cs typeface="Arial"/>
              </a:rPr>
              <a:t> değeri (0.1) değiştirilmiş ve düşük eşik değerlerinde ölüm vakalarını yakalama oranının arttığı gözlemlenmiştir.</a:t>
            </a:r>
          </a:p>
          <a:p>
            <a:endParaRPr lang="tr-TR">
              <a:latin typeface="Arial Nova"/>
              <a:cs typeface="Arial"/>
            </a:endParaRPr>
          </a:p>
          <a:p>
            <a:endParaRPr lang="tr-TR">
              <a:latin typeface="Arial Nova"/>
              <a:cs typeface="Arial"/>
            </a:endParaRPr>
          </a:p>
          <a:p>
            <a:endParaRPr lang="tr-TR">
              <a:latin typeface="Arial Nova"/>
              <a:cs typeface="Arial"/>
            </a:endParaRPr>
          </a:p>
        </p:txBody>
      </p:sp>
      <p:graphicFrame>
        <p:nvGraphicFramePr>
          <p:cNvPr id="8" name="Tablo 7">
            <a:extLst>
              <a:ext uri="{FF2B5EF4-FFF2-40B4-BE49-F238E27FC236}">
                <a16:creationId xmlns:a16="http://schemas.microsoft.com/office/drawing/2014/main" id="{06540224-43EE-AE8C-3D11-41C0A77C548C}"/>
              </a:ext>
            </a:extLst>
          </p:cNvPr>
          <p:cNvGraphicFramePr>
            <a:graphicFrameLocks noGrp="1"/>
          </p:cNvGraphicFramePr>
          <p:nvPr>
            <p:extLst>
              <p:ext uri="{D42A27DB-BD31-4B8C-83A1-F6EECF244321}">
                <p14:modId xmlns:p14="http://schemas.microsoft.com/office/powerpoint/2010/main" val="1397729138"/>
              </p:ext>
            </p:extLst>
          </p:nvPr>
        </p:nvGraphicFramePr>
        <p:xfrm>
          <a:off x="1096818" y="4318000"/>
          <a:ext cx="9155473" cy="1656080"/>
        </p:xfrm>
        <a:graphic>
          <a:graphicData uri="http://schemas.openxmlformats.org/drawingml/2006/table">
            <a:tbl>
              <a:tblPr firstRow="1" bandRow="1">
                <a:tableStyleId>{5C22544A-7EE6-4342-B048-85BDC9FD1C3A}</a:tableStyleId>
              </a:tblPr>
              <a:tblGrid>
                <a:gridCol w="2474819">
                  <a:extLst>
                    <a:ext uri="{9D8B030D-6E8A-4147-A177-3AD203B41FA5}">
                      <a16:colId xmlns:a16="http://schemas.microsoft.com/office/drawing/2014/main" val="987033786"/>
                    </a:ext>
                  </a:extLst>
                </a:gridCol>
                <a:gridCol w="2102916">
                  <a:extLst>
                    <a:ext uri="{9D8B030D-6E8A-4147-A177-3AD203B41FA5}">
                      <a16:colId xmlns:a16="http://schemas.microsoft.com/office/drawing/2014/main" val="3101605467"/>
                    </a:ext>
                  </a:extLst>
                </a:gridCol>
                <a:gridCol w="2288869">
                  <a:extLst>
                    <a:ext uri="{9D8B030D-6E8A-4147-A177-3AD203B41FA5}">
                      <a16:colId xmlns:a16="http://schemas.microsoft.com/office/drawing/2014/main" val="1914571047"/>
                    </a:ext>
                  </a:extLst>
                </a:gridCol>
                <a:gridCol w="2288869">
                  <a:extLst>
                    <a:ext uri="{9D8B030D-6E8A-4147-A177-3AD203B41FA5}">
                      <a16:colId xmlns:a16="http://schemas.microsoft.com/office/drawing/2014/main" val="48668755"/>
                    </a:ext>
                  </a:extLst>
                </a:gridCol>
              </a:tblGrid>
              <a:tr h="370840">
                <a:tc>
                  <a:txBody>
                    <a:bodyPr/>
                    <a:lstStyle/>
                    <a:p>
                      <a:r>
                        <a:rPr lang="tr-TR" err="1"/>
                        <a:t>Logistic</a:t>
                      </a:r>
                      <a:r>
                        <a:rPr lang="tr-TR"/>
                        <a:t> </a:t>
                      </a:r>
                      <a:r>
                        <a:rPr lang="tr-TR" err="1"/>
                        <a:t>Regression</a:t>
                      </a:r>
                    </a:p>
                  </a:txBody>
                  <a:tcPr>
                    <a:lnL w="12700">
                      <a:solidFill>
                        <a:schemeClr val="tx1"/>
                      </a:solidFill>
                    </a:lnL>
                    <a:lnR w="0">
                      <a:noFill/>
                    </a:lnR>
                    <a:lnT w="12700">
                      <a:solidFill>
                        <a:schemeClr val="tx1"/>
                      </a:solidFill>
                    </a:lnT>
                    <a:lnB w="12700">
                      <a:solidFill>
                        <a:schemeClr val="tx1"/>
                      </a:solidFill>
                    </a:lnB>
                  </a:tcPr>
                </a:tc>
                <a:tc>
                  <a:txBody>
                    <a:bodyPr/>
                    <a:lstStyle/>
                    <a:p>
                      <a:endParaRPr lang="tr-TR"/>
                    </a:p>
                  </a:txBody>
                  <a:tcPr>
                    <a:lnL w="0">
                      <a:noFill/>
                    </a:lnL>
                    <a:lnR w="12700">
                      <a:solidFill>
                        <a:schemeClr val="tx1"/>
                      </a:solidFill>
                    </a:lnR>
                    <a:lnT w="12700">
                      <a:solidFill>
                        <a:schemeClr val="tx1"/>
                      </a:solidFill>
                    </a:lnT>
                    <a:lnB w="12700">
                      <a:solidFill>
                        <a:schemeClr val="tx1"/>
                      </a:solidFill>
                    </a:lnB>
                  </a:tcPr>
                </a:tc>
                <a:tc>
                  <a:txBody>
                    <a:bodyPr/>
                    <a:lstStyle/>
                    <a:p>
                      <a:pPr algn="l"/>
                      <a:r>
                        <a:rPr lang="tr-TR" err="1"/>
                        <a:t>Logistic</a:t>
                      </a:r>
                      <a:r>
                        <a:rPr lang="tr-TR"/>
                        <a:t> </a:t>
                      </a:r>
                      <a:r>
                        <a:rPr lang="tr-TR" err="1"/>
                        <a:t>Regression</a:t>
                      </a:r>
                    </a:p>
                    <a:p>
                      <a:pPr lvl="0" algn="l">
                        <a:buNone/>
                      </a:pPr>
                      <a:r>
                        <a:rPr lang="tr-TR"/>
                        <a:t>+ </a:t>
                      </a:r>
                      <a:r>
                        <a:rPr lang="tr-TR" err="1"/>
                        <a:t>Threshold</a:t>
                      </a:r>
                      <a:endParaRPr lang="tr-TR"/>
                    </a:p>
                  </a:txBody>
                  <a:tcPr>
                    <a:lnL w="12700">
                      <a:solidFill>
                        <a:schemeClr val="tx1"/>
                      </a:solidFill>
                    </a:lnL>
                    <a:lnR w="0">
                      <a:noFill/>
                    </a:lnR>
                    <a:lnT w="12700">
                      <a:solidFill>
                        <a:schemeClr val="tx1"/>
                      </a:solidFill>
                    </a:lnT>
                    <a:lnB w="12700">
                      <a:solidFill>
                        <a:schemeClr val="tx1"/>
                      </a:solidFill>
                    </a:lnB>
                  </a:tcPr>
                </a:tc>
                <a:tc>
                  <a:txBody>
                    <a:bodyPr/>
                    <a:lstStyle/>
                    <a:p>
                      <a:pPr algn="ctr"/>
                      <a:endParaRPr lang="tr-TR"/>
                    </a:p>
                  </a:txBody>
                  <a:tcPr>
                    <a:lnL w="0">
                      <a:no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148446242"/>
                  </a:ext>
                </a:extLst>
              </a:tr>
              <a:tr h="370840">
                <a:tc>
                  <a:txBody>
                    <a:bodyPr/>
                    <a:lstStyle/>
                    <a:p>
                      <a:r>
                        <a:rPr lang="tr-TR"/>
                        <a:t>79</a:t>
                      </a:r>
                    </a:p>
                  </a:txBody>
                  <a:tcPr>
                    <a:lnT w="12700">
                      <a:solidFill>
                        <a:schemeClr val="tx1"/>
                      </a:solidFill>
                    </a:lnT>
                  </a:tcPr>
                </a:tc>
                <a:tc>
                  <a:txBody>
                    <a:bodyPr/>
                    <a:lstStyle/>
                    <a:p>
                      <a:r>
                        <a:rPr lang="tr-TR"/>
                        <a:t>33</a:t>
                      </a:r>
                    </a:p>
                  </a:txBody>
                  <a:tcPr>
                    <a:lnT w="12700">
                      <a:solidFill>
                        <a:schemeClr val="tx1"/>
                      </a:solidFill>
                    </a:lnT>
                  </a:tcPr>
                </a:tc>
                <a:tc>
                  <a:txBody>
                    <a:bodyPr/>
                    <a:lstStyle/>
                    <a:p>
                      <a:r>
                        <a:rPr lang="tr-TR"/>
                        <a:t>43</a:t>
                      </a:r>
                    </a:p>
                  </a:txBody>
                  <a:tcPr>
                    <a:lnT w="12700">
                      <a:solidFill>
                        <a:schemeClr val="tx1"/>
                      </a:solidFill>
                    </a:lnT>
                  </a:tcPr>
                </a:tc>
                <a:tc>
                  <a:txBody>
                    <a:bodyPr/>
                    <a:lstStyle/>
                    <a:p>
                      <a:r>
                        <a:rPr lang="tr-TR"/>
                        <a:t>69</a:t>
                      </a:r>
                    </a:p>
                  </a:txBody>
                  <a:tcPr>
                    <a:lnT w="12700">
                      <a:solidFill>
                        <a:schemeClr val="tx1"/>
                      </a:solidFill>
                    </a:lnT>
                  </a:tcPr>
                </a:tc>
                <a:extLst>
                  <a:ext uri="{0D108BD9-81ED-4DB2-BD59-A6C34878D82A}">
                    <a16:rowId xmlns:a16="http://schemas.microsoft.com/office/drawing/2014/main" val="780490270"/>
                  </a:ext>
                </a:extLst>
              </a:tr>
              <a:tr h="370840">
                <a:tc>
                  <a:txBody>
                    <a:bodyPr/>
                    <a:lstStyle/>
                    <a:p>
                      <a:r>
                        <a:rPr lang="tr-TR"/>
                        <a:t>9</a:t>
                      </a:r>
                    </a:p>
                  </a:txBody>
                  <a:tcPr/>
                </a:tc>
                <a:tc>
                  <a:txBody>
                    <a:bodyPr/>
                    <a:lstStyle/>
                    <a:p>
                      <a:r>
                        <a:rPr lang="tr-TR"/>
                        <a:t>1</a:t>
                      </a:r>
                    </a:p>
                  </a:txBody>
                  <a:tcPr/>
                </a:tc>
                <a:tc>
                  <a:txBody>
                    <a:bodyPr/>
                    <a:lstStyle/>
                    <a:p>
                      <a:r>
                        <a:rPr lang="tr-TR"/>
                        <a:t>4</a:t>
                      </a:r>
                    </a:p>
                  </a:txBody>
                  <a:tcPr/>
                </a:tc>
                <a:tc>
                  <a:txBody>
                    <a:bodyPr/>
                    <a:lstStyle/>
                    <a:p>
                      <a:r>
                        <a:rPr lang="tr-TR"/>
                        <a:t>6</a:t>
                      </a:r>
                    </a:p>
                  </a:txBody>
                  <a:tcPr/>
                </a:tc>
                <a:extLst>
                  <a:ext uri="{0D108BD9-81ED-4DB2-BD59-A6C34878D82A}">
                    <a16:rowId xmlns:a16="http://schemas.microsoft.com/office/drawing/2014/main" val="2501160861"/>
                  </a:ext>
                </a:extLst>
              </a:tr>
            </a:tbl>
          </a:graphicData>
        </a:graphic>
      </p:graphicFrame>
      <p:sp>
        <p:nvSpPr>
          <p:cNvPr id="9" name="Metin kutusu 8">
            <a:extLst>
              <a:ext uri="{FF2B5EF4-FFF2-40B4-BE49-F238E27FC236}">
                <a16:creationId xmlns:a16="http://schemas.microsoft.com/office/drawing/2014/main" id="{B0BEF105-1EC3-66A4-4BB0-57B2224E4818}"/>
              </a:ext>
            </a:extLst>
          </p:cNvPr>
          <p:cNvSpPr txBox="1"/>
          <p:nvPr/>
        </p:nvSpPr>
        <p:spPr>
          <a:xfrm>
            <a:off x="1096070" y="3681580"/>
            <a:ext cx="391895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2800" err="1">
                <a:solidFill>
                  <a:srgbClr val="00B0F0"/>
                </a:solidFill>
              </a:rPr>
              <a:t>Confussion</a:t>
            </a:r>
            <a:r>
              <a:rPr lang="tr-TR" sz="2800">
                <a:solidFill>
                  <a:srgbClr val="00B0F0"/>
                </a:solidFill>
              </a:rPr>
              <a:t> </a:t>
            </a:r>
            <a:r>
              <a:rPr lang="tr-TR" sz="2800" err="1">
                <a:solidFill>
                  <a:srgbClr val="00B0F0"/>
                </a:solidFill>
              </a:rPr>
              <a:t>Matrix</a:t>
            </a:r>
            <a:endParaRPr lang="tr-TR" sz="2800">
              <a:solidFill>
                <a:srgbClr val="00B0F0"/>
              </a:solidFill>
            </a:endParaRPr>
          </a:p>
        </p:txBody>
      </p:sp>
    </p:spTree>
    <p:extLst>
      <p:ext uri="{BB962C8B-B14F-4D97-AF65-F5344CB8AC3E}">
        <p14:creationId xmlns:p14="http://schemas.microsoft.com/office/powerpoint/2010/main" val="3587026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1427E-FE83-6EC2-7384-5E7288056682}"/>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35D8340E-1729-B6F3-FB08-2D8E43C1E874}"/>
              </a:ext>
            </a:extLst>
          </p:cNvPr>
          <p:cNvSpPr txBox="1"/>
          <p:nvPr/>
        </p:nvSpPr>
        <p:spPr>
          <a:xfrm>
            <a:off x="766602" y="289828"/>
            <a:ext cx="10717981" cy="41242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3200">
                <a:solidFill>
                  <a:srgbClr val="00B0F0"/>
                </a:solidFill>
                <a:latin typeface="Arial Nova"/>
                <a:cs typeface="Arial"/>
              </a:rPr>
              <a:t>2- </a:t>
            </a:r>
            <a:r>
              <a:rPr lang="tr-TR" sz="3200" err="1">
                <a:solidFill>
                  <a:srgbClr val="00B0F0"/>
                </a:solidFill>
                <a:latin typeface="Arial Nova"/>
                <a:cs typeface="Arial"/>
              </a:rPr>
              <a:t>Random</a:t>
            </a:r>
            <a:r>
              <a:rPr lang="tr-TR" sz="3200">
                <a:solidFill>
                  <a:srgbClr val="00B0F0"/>
                </a:solidFill>
                <a:latin typeface="Arial Nova"/>
                <a:cs typeface="Arial"/>
              </a:rPr>
              <a:t> </a:t>
            </a:r>
            <a:r>
              <a:rPr lang="tr-TR" sz="3200" err="1">
                <a:solidFill>
                  <a:srgbClr val="00B0F0"/>
                </a:solidFill>
                <a:latin typeface="Arial Nova"/>
                <a:cs typeface="Arial"/>
              </a:rPr>
              <a:t>Forest</a:t>
            </a:r>
            <a:br>
              <a:rPr lang="tr-TR" sz="3200">
                <a:solidFill>
                  <a:srgbClr val="00B0F0"/>
                </a:solidFill>
                <a:latin typeface="Arial Nova"/>
                <a:cs typeface="Arial"/>
              </a:rPr>
            </a:br>
            <a:endParaRPr lang="tr-TR" sz="3200">
              <a:solidFill>
                <a:srgbClr val="00B0F0"/>
              </a:solidFill>
              <a:latin typeface="Arial Nova"/>
              <a:cs typeface="Arial"/>
            </a:endParaRPr>
          </a:p>
          <a:p>
            <a:pPr marL="285750" indent="-285750">
              <a:buFont typeface="Calibri"/>
              <a:buChar char="-"/>
            </a:pPr>
            <a:r>
              <a:rPr lang="tr-TR" err="1">
                <a:latin typeface="Arial Nova"/>
                <a:cs typeface="Arial"/>
              </a:rPr>
              <a:t>Random</a:t>
            </a:r>
            <a:r>
              <a:rPr lang="tr-TR">
                <a:latin typeface="Arial Nova"/>
                <a:cs typeface="Arial"/>
              </a:rPr>
              <a:t> </a:t>
            </a:r>
            <a:r>
              <a:rPr lang="tr-TR" err="1">
                <a:latin typeface="Arial Nova"/>
                <a:cs typeface="Arial"/>
              </a:rPr>
              <a:t>Forest</a:t>
            </a:r>
            <a:r>
              <a:rPr lang="tr-TR">
                <a:latin typeface="Arial Nova"/>
                <a:cs typeface="Arial"/>
              </a:rPr>
              <a:t>, birden fazla karar ağacının birlikte çalışarak tahmin yaptığı güçlü bir modeldir.</a:t>
            </a:r>
          </a:p>
          <a:p>
            <a:pPr marL="285750" indent="-285750">
              <a:buFont typeface="Calibri"/>
              <a:buChar char="-"/>
            </a:pPr>
            <a:endParaRPr lang="tr-TR">
              <a:latin typeface="Arial Nova"/>
              <a:cs typeface="Arial"/>
            </a:endParaRPr>
          </a:p>
          <a:p>
            <a:pPr marL="285750" indent="-285750">
              <a:buFont typeface="Calibri"/>
              <a:buChar char="-"/>
            </a:pPr>
            <a:r>
              <a:rPr lang="tr-TR" err="1">
                <a:latin typeface="Arial Nova"/>
                <a:cs typeface="Arial"/>
              </a:rPr>
              <a:t>Random</a:t>
            </a:r>
            <a:r>
              <a:rPr lang="tr-TR">
                <a:latin typeface="Arial Nova"/>
                <a:cs typeface="Arial"/>
              </a:rPr>
              <a:t> </a:t>
            </a:r>
            <a:r>
              <a:rPr lang="tr-TR" err="1">
                <a:latin typeface="Arial Nova"/>
                <a:cs typeface="Arial"/>
              </a:rPr>
              <a:t>Forest</a:t>
            </a:r>
            <a:r>
              <a:rPr lang="tr-TR">
                <a:latin typeface="Arial Nova"/>
                <a:cs typeface="Arial"/>
              </a:rPr>
              <a:t> modeline SMOTE uygulanarak sınıf dengesizliği azaltılmıştır.</a:t>
            </a:r>
          </a:p>
          <a:p>
            <a:pPr marL="285750" indent="-285750">
              <a:buFont typeface="Calibri"/>
              <a:buChar char="-"/>
            </a:pPr>
            <a:endParaRPr lang="tr-TR">
              <a:latin typeface="Arial Nova"/>
              <a:cs typeface="Arial"/>
            </a:endParaRPr>
          </a:p>
          <a:p>
            <a:pPr marL="285750" indent="-285750">
              <a:buFont typeface="Calibri"/>
              <a:buChar char="-"/>
            </a:pPr>
            <a:r>
              <a:rPr lang="tr-TR" err="1">
                <a:latin typeface="Arial Nova"/>
                <a:cs typeface="Arial"/>
              </a:rPr>
              <a:t>Threshold</a:t>
            </a:r>
            <a:r>
              <a:rPr lang="tr-TR">
                <a:latin typeface="Arial Nova"/>
                <a:cs typeface="Arial"/>
              </a:rPr>
              <a:t> = 0.21 seçildiğinde model, ölüm vakalarının %50’sini yakalayabilmiştir.</a:t>
            </a:r>
          </a:p>
          <a:p>
            <a:pPr marL="285750" indent="-285750">
              <a:buFont typeface="Calibri"/>
              <a:buChar char="-"/>
            </a:pPr>
            <a:endParaRPr lang="tr-TR">
              <a:latin typeface="Arial Nova"/>
              <a:cs typeface="Arial"/>
            </a:endParaRPr>
          </a:p>
          <a:p>
            <a:pPr marL="285750" indent="-285750">
              <a:buFont typeface="Calibri"/>
              <a:buChar char="-"/>
            </a:pPr>
            <a:r>
              <a:rPr lang="tr-TR">
                <a:latin typeface="Arial Nova"/>
                <a:cs typeface="Arial"/>
              </a:rPr>
              <a:t>Modelin genel ayırt etme gücü düşük (ROC-AUC) , uygun </a:t>
            </a:r>
            <a:r>
              <a:rPr lang="tr-TR" err="1">
                <a:latin typeface="Arial Nova"/>
                <a:cs typeface="Arial"/>
              </a:rPr>
              <a:t>threshold</a:t>
            </a:r>
            <a:r>
              <a:rPr lang="tr-TR">
                <a:latin typeface="Arial Nova"/>
                <a:cs typeface="Arial"/>
              </a:rPr>
              <a:t> ve SMOTE uygulaması ile klinik açıdan nispeten kullanılabilir bir performans elde edilmiştir.</a:t>
            </a:r>
          </a:p>
          <a:p>
            <a:endParaRPr lang="tr-TR">
              <a:latin typeface="Arial Nova"/>
              <a:cs typeface="Arial"/>
            </a:endParaRPr>
          </a:p>
          <a:p>
            <a:endParaRPr lang="tr-TR">
              <a:latin typeface="Arial Nova"/>
              <a:cs typeface="Arial"/>
            </a:endParaRPr>
          </a:p>
          <a:p>
            <a:endParaRPr lang="tr-TR">
              <a:latin typeface="Arial Nova"/>
              <a:cs typeface="Arial"/>
            </a:endParaRPr>
          </a:p>
        </p:txBody>
      </p:sp>
      <p:graphicFrame>
        <p:nvGraphicFramePr>
          <p:cNvPr id="4" name="Tablo 3">
            <a:extLst>
              <a:ext uri="{FF2B5EF4-FFF2-40B4-BE49-F238E27FC236}">
                <a16:creationId xmlns:a16="http://schemas.microsoft.com/office/drawing/2014/main" id="{F39197B2-D162-7809-DB45-FA7FA0C663A4}"/>
              </a:ext>
            </a:extLst>
          </p:cNvPr>
          <p:cNvGraphicFramePr>
            <a:graphicFrameLocks noGrp="1"/>
          </p:cNvGraphicFramePr>
          <p:nvPr>
            <p:extLst>
              <p:ext uri="{D42A27DB-BD31-4B8C-83A1-F6EECF244321}">
                <p14:modId xmlns:p14="http://schemas.microsoft.com/office/powerpoint/2010/main" val="3424736978"/>
              </p:ext>
            </p:extLst>
          </p:nvPr>
        </p:nvGraphicFramePr>
        <p:xfrm>
          <a:off x="955183" y="3831464"/>
          <a:ext cx="10330837" cy="1155990"/>
        </p:xfrm>
        <a:graphic>
          <a:graphicData uri="http://schemas.openxmlformats.org/drawingml/2006/table">
            <a:tbl>
              <a:tblPr firstRow="1" bandRow="1">
                <a:tableStyleId>{5C22544A-7EE6-4342-B048-85BDC9FD1C3A}</a:tableStyleId>
              </a:tblPr>
              <a:tblGrid>
                <a:gridCol w="1463118">
                  <a:extLst>
                    <a:ext uri="{9D8B030D-6E8A-4147-A177-3AD203B41FA5}">
                      <a16:colId xmlns:a16="http://schemas.microsoft.com/office/drawing/2014/main" val="2701013130"/>
                    </a:ext>
                  </a:extLst>
                </a:gridCol>
                <a:gridCol w="1170048">
                  <a:extLst>
                    <a:ext uri="{9D8B030D-6E8A-4147-A177-3AD203B41FA5}">
                      <a16:colId xmlns:a16="http://schemas.microsoft.com/office/drawing/2014/main" val="1775308297"/>
                    </a:ext>
                  </a:extLst>
                </a:gridCol>
                <a:gridCol w="1316583">
                  <a:extLst>
                    <a:ext uri="{9D8B030D-6E8A-4147-A177-3AD203B41FA5}">
                      <a16:colId xmlns:a16="http://schemas.microsoft.com/office/drawing/2014/main" val="2274274537"/>
                    </a:ext>
                  </a:extLst>
                </a:gridCol>
                <a:gridCol w="1316583">
                  <a:extLst>
                    <a:ext uri="{9D8B030D-6E8A-4147-A177-3AD203B41FA5}">
                      <a16:colId xmlns:a16="http://schemas.microsoft.com/office/drawing/2014/main" val="876930642"/>
                    </a:ext>
                  </a:extLst>
                </a:gridCol>
                <a:gridCol w="1316583">
                  <a:extLst>
                    <a:ext uri="{9D8B030D-6E8A-4147-A177-3AD203B41FA5}">
                      <a16:colId xmlns:a16="http://schemas.microsoft.com/office/drawing/2014/main" val="753821609"/>
                    </a:ext>
                  </a:extLst>
                </a:gridCol>
                <a:gridCol w="1316583">
                  <a:extLst>
                    <a:ext uri="{9D8B030D-6E8A-4147-A177-3AD203B41FA5}">
                      <a16:colId xmlns:a16="http://schemas.microsoft.com/office/drawing/2014/main" val="3813352196"/>
                    </a:ext>
                  </a:extLst>
                </a:gridCol>
                <a:gridCol w="1316583">
                  <a:extLst>
                    <a:ext uri="{9D8B030D-6E8A-4147-A177-3AD203B41FA5}">
                      <a16:colId xmlns:a16="http://schemas.microsoft.com/office/drawing/2014/main" val="30128299"/>
                    </a:ext>
                  </a:extLst>
                </a:gridCol>
                <a:gridCol w="1114756">
                  <a:extLst>
                    <a:ext uri="{9D8B030D-6E8A-4147-A177-3AD203B41FA5}">
                      <a16:colId xmlns:a16="http://schemas.microsoft.com/office/drawing/2014/main" val="3333754703"/>
                    </a:ext>
                  </a:extLst>
                </a:gridCol>
              </a:tblGrid>
              <a:tr h="656813">
                <a:tc>
                  <a:txBody>
                    <a:bodyPr/>
                    <a:lstStyle/>
                    <a:p>
                      <a:r>
                        <a:rPr lang="tr-TR" sz="1400" err="1">
                          <a:latin typeface="Arial Nova"/>
                        </a:rPr>
                        <a:t>Threshold</a:t>
                      </a:r>
                    </a:p>
                  </a:txBody>
                  <a:tcPr/>
                </a:tc>
                <a:tc>
                  <a:txBody>
                    <a:bodyPr/>
                    <a:lstStyle/>
                    <a:p>
                      <a:r>
                        <a:rPr lang="tr-TR" sz="1400">
                          <a:latin typeface="Arial Nova"/>
                        </a:rPr>
                        <a:t>ACCURACY</a:t>
                      </a:r>
                    </a:p>
                  </a:txBody>
                  <a:tcPr/>
                </a:tc>
                <a:tc>
                  <a:txBody>
                    <a:bodyPr/>
                    <a:lstStyle/>
                    <a:p>
                      <a:r>
                        <a:rPr lang="tr-TR" sz="1400">
                          <a:latin typeface="Arial Nova"/>
                        </a:rPr>
                        <a:t>PRECISION</a:t>
                      </a:r>
                    </a:p>
                  </a:txBody>
                  <a:tcPr/>
                </a:tc>
                <a:tc>
                  <a:txBody>
                    <a:bodyPr/>
                    <a:lstStyle/>
                    <a:p>
                      <a:r>
                        <a:rPr lang="tr-TR" sz="1400">
                          <a:latin typeface="Arial Nova"/>
                        </a:rPr>
                        <a:t>RECALL</a:t>
                      </a:r>
                    </a:p>
                  </a:txBody>
                  <a:tcPr/>
                </a:tc>
                <a:tc>
                  <a:txBody>
                    <a:bodyPr/>
                    <a:lstStyle/>
                    <a:p>
                      <a:r>
                        <a:rPr lang="tr-TR" sz="1400">
                          <a:latin typeface="Arial Nova"/>
                        </a:rPr>
                        <a:t>F1</a:t>
                      </a:r>
                    </a:p>
                  </a:txBody>
                  <a:tcPr/>
                </a:tc>
                <a:tc>
                  <a:txBody>
                    <a:bodyPr/>
                    <a:lstStyle/>
                    <a:p>
                      <a:r>
                        <a:rPr lang="tr-TR" sz="1400">
                          <a:latin typeface="Arial Nova"/>
                        </a:rPr>
                        <a:t>ROC-AUC</a:t>
                      </a:r>
                    </a:p>
                  </a:txBody>
                  <a:tcPr/>
                </a:tc>
                <a:tc>
                  <a:txBody>
                    <a:bodyPr/>
                    <a:lstStyle/>
                    <a:p>
                      <a:r>
                        <a:rPr lang="tr-TR" sz="1400">
                          <a:latin typeface="Arial Nova"/>
                        </a:rPr>
                        <a:t>PR-AUC</a:t>
                      </a:r>
                    </a:p>
                  </a:txBody>
                  <a:tcPr/>
                </a:tc>
                <a:tc>
                  <a:txBody>
                    <a:bodyPr/>
                    <a:lstStyle/>
                    <a:p>
                      <a:r>
                        <a:rPr lang="tr-TR" sz="1400">
                          <a:latin typeface="Arial Nova"/>
                        </a:rPr>
                        <a:t>MCC</a:t>
                      </a:r>
                    </a:p>
                  </a:txBody>
                  <a:tcPr/>
                </a:tc>
                <a:extLst>
                  <a:ext uri="{0D108BD9-81ED-4DB2-BD59-A6C34878D82A}">
                    <a16:rowId xmlns:a16="http://schemas.microsoft.com/office/drawing/2014/main" val="3075096527"/>
                  </a:ext>
                </a:extLst>
              </a:tr>
              <a:tr h="499177">
                <a:tc>
                  <a:txBody>
                    <a:bodyPr/>
                    <a:lstStyle/>
                    <a:p>
                      <a:pPr lvl="0">
                        <a:buNone/>
                      </a:pPr>
                      <a:r>
                        <a:rPr lang="tr-TR"/>
                        <a:t>0.21</a:t>
                      </a:r>
                    </a:p>
                  </a:txBody>
                  <a:tcPr/>
                </a:tc>
                <a:tc>
                  <a:txBody>
                    <a:bodyPr/>
                    <a:lstStyle/>
                    <a:p>
                      <a:r>
                        <a:rPr lang="tr-TR"/>
                        <a:t>0.639</a:t>
                      </a:r>
                    </a:p>
                  </a:txBody>
                  <a:tcPr/>
                </a:tc>
                <a:tc>
                  <a:txBody>
                    <a:bodyPr/>
                    <a:lstStyle/>
                    <a:p>
                      <a:r>
                        <a:rPr lang="tr-TR"/>
                        <a:t>0.114</a:t>
                      </a:r>
                    </a:p>
                  </a:txBody>
                  <a:tcPr/>
                </a:tc>
                <a:tc>
                  <a:txBody>
                    <a:bodyPr/>
                    <a:lstStyle/>
                    <a:p>
                      <a:r>
                        <a:rPr lang="tr-TR"/>
                        <a:t>0.500</a:t>
                      </a:r>
                    </a:p>
                  </a:txBody>
                  <a:tcPr/>
                </a:tc>
                <a:tc>
                  <a:txBody>
                    <a:bodyPr/>
                    <a:lstStyle/>
                    <a:p>
                      <a:r>
                        <a:rPr lang="tr-TR"/>
                        <a:t>0.185</a:t>
                      </a:r>
                    </a:p>
                  </a:txBody>
                  <a:tcPr/>
                </a:tc>
                <a:tc>
                  <a:txBody>
                    <a:bodyPr/>
                    <a:lstStyle/>
                    <a:p>
                      <a:r>
                        <a:rPr lang="tr-TR"/>
                        <a:t>0.525</a:t>
                      </a:r>
                    </a:p>
                  </a:txBody>
                  <a:tcPr/>
                </a:tc>
                <a:tc>
                  <a:txBody>
                    <a:bodyPr/>
                    <a:lstStyle/>
                    <a:p>
                      <a:r>
                        <a:rPr lang="tr-TR"/>
                        <a:t>0.094</a:t>
                      </a:r>
                    </a:p>
                  </a:txBody>
                  <a:tcPr/>
                </a:tc>
                <a:tc>
                  <a:txBody>
                    <a:bodyPr/>
                    <a:lstStyle/>
                    <a:p>
                      <a:r>
                        <a:rPr lang="tr-TR"/>
                        <a:t>0.087</a:t>
                      </a:r>
                    </a:p>
                  </a:txBody>
                  <a:tcPr/>
                </a:tc>
                <a:extLst>
                  <a:ext uri="{0D108BD9-81ED-4DB2-BD59-A6C34878D82A}">
                    <a16:rowId xmlns:a16="http://schemas.microsoft.com/office/drawing/2014/main" val="2578402908"/>
                  </a:ext>
                </a:extLst>
              </a:tr>
            </a:tbl>
          </a:graphicData>
        </a:graphic>
      </p:graphicFrame>
      <p:graphicFrame>
        <p:nvGraphicFramePr>
          <p:cNvPr id="5" name="Tablo 4">
            <a:extLst>
              <a:ext uri="{FF2B5EF4-FFF2-40B4-BE49-F238E27FC236}">
                <a16:creationId xmlns:a16="http://schemas.microsoft.com/office/drawing/2014/main" id="{3E56B64F-8920-EF2A-F2F7-C8A90C06929C}"/>
              </a:ext>
            </a:extLst>
          </p:cNvPr>
          <p:cNvGraphicFramePr>
            <a:graphicFrameLocks noGrp="1"/>
          </p:cNvGraphicFramePr>
          <p:nvPr>
            <p:extLst>
              <p:ext uri="{D42A27DB-BD31-4B8C-83A1-F6EECF244321}">
                <p14:modId xmlns:p14="http://schemas.microsoft.com/office/powerpoint/2010/main" val="2678131312"/>
              </p:ext>
            </p:extLst>
          </p:nvPr>
        </p:nvGraphicFramePr>
        <p:xfrm>
          <a:off x="955183" y="5731098"/>
          <a:ext cx="2624250" cy="987492"/>
        </p:xfrm>
        <a:graphic>
          <a:graphicData uri="http://schemas.openxmlformats.org/drawingml/2006/table">
            <a:tbl>
              <a:tblPr firstRow="1" bandRow="1">
                <a:tableStyleId>{5C22544A-7EE6-4342-B048-85BDC9FD1C3A}</a:tableStyleId>
              </a:tblPr>
              <a:tblGrid>
                <a:gridCol w="1312125">
                  <a:extLst>
                    <a:ext uri="{9D8B030D-6E8A-4147-A177-3AD203B41FA5}">
                      <a16:colId xmlns:a16="http://schemas.microsoft.com/office/drawing/2014/main" val="4003060487"/>
                    </a:ext>
                  </a:extLst>
                </a:gridCol>
                <a:gridCol w="1312125">
                  <a:extLst>
                    <a:ext uri="{9D8B030D-6E8A-4147-A177-3AD203B41FA5}">
                      <a16:colId xmlns:a16="http://schemas.microsoft.com/office/drawing/2014/main" val="2128911628"/>
                    </a:ext>
                  </a:extLst>
                </a:gridCol>
              </a:tblGrid>
              <a:tr h="493746">
                <a:tc>
                  <a:txBody>
                    <a:bodyPr/>
                    <a:lstStyle/>
                    <a:p>
                      <a:r>
                        <a:rPr lang="tr-TR"/>
                        <a:t>73</a:t>
                      </a:r>
                    </a:p>
                  </a:txBody>
                  <a:tcPr/>
                </a:tc>
                <a:tc>
                  <a:txBody>
                    <a:bodyPr/>
                    <a:lstStyle/>
                    <a:p>
                      <a:r>
                        <a:rPr lang="tr-TR"/>
                        <a:t>39</a:t>
                      </a:r>
                    </a:p>
                  </a:txBody>
                  <a:tcPr/>
                </a:tc>
                <a:extLst>
                  <a:ext uri="{0D108BD9-81ED-4DB2-BD59-A6C34878D82A}">
                    <a16:rowId xmlns:a16="http://schemas.microsoft.com/office/drawing/2014/main" val="1754549143"/>
                  </a:ext>
                </a:extLst>
              </a:tr>
              <a:tr h="493746">
                <a:tc>
                  <a:txBody>
                    <a:bodyPr/>
                    <a:lstStyle/>
                    <a:p>
                      <a:r>
                        <a:rPr lang="tr-TR"/>
                        <a:t>5</a:t>
                      </a:r>
                    </a:p>
                  </a:txBody>
                  <a:tcPr/>
                </a:tc>
                <a:tc>
                  <a:txBody>
                    <a:bodyPr/>
                    <a:lstStyle/>
                    <a:p>
                      <a:r>
                        <a:rPr lang="tr-TR"/>
                        <a:t>5</a:t>
                      </a:r>
                    </a:p>
                  </a:txBody>
                  <a:tcPr/>
                </a:tc>
                <a:extLst>
                  <a:ext uri="{0D108BD9-81ED-4DB2-BD59-A6C34878D82A}">
                    <a16:rowId xmlns:a16="http://schemas.microsoft.com/office/drawing/2014/main" val="2013598883"/>
                  </a:ext>
                </a:extLst>
              </a:tr>
            </a:tbl>
          </a:graphicData>
        </a:graphic>
      </p:graphicFrame>
      <p:sp>
        <p:nvSpPr>
          <p:cNvPr id="6" name="Metin kutusu 5">
            <a:extLst>
              <a:ext uri="{FF2B5EF4-FFF2-40B4-BE49-F238E27FC236}">
                <a16:creationId xmlns:a16="http://schemas.microsoft.com/office/drawing/2014/main" id="{F30BE024-773B-D3FE-37D9-00704EB9C5A6}"/>
              </a:ext>
            </a:extLst>
          </p:cNvPr>
          <p:cNvSpPr txBox="1"/>
          <p:nvPr/>
        </p:nvSpPr>
        <p:spPr>
          <a:xfrm>
            <a:off x="840092" y="5193350"/>
            <a:ext cx="24387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2000" err="1">
                <a:solidFill>
                  <a:srgbClr val="00B0F0"/>
                </a:solidFill>
              </a:rPr>
              <a:t>Confussion</a:t>
            </a:r>
            <a:r>
              <a:rPr lang="tr-TR" sz="2000">
                <a:solidFill>
                  <a:srgbClr val="00B0F0"/>
                </a:solidFill>
              </a:rPr>
              <a:t> </a:t>
            </a:r>
            <a:r>
              <a:rPr lang="tr-TR" sz="2000" err="1">
                <a:solidFill>
                  <a:srgbClr val="00B0F0"/>
                </a:solidFill>
              </a:rPr>
              <a:t>Matrix</a:t>
            </a:r>
            <a:endParaRPr lang="tr-TR" sz="2000">
              <a:solidFill>
                <a:srgbClr val="00B0F0"/>
              </a:solidFill>
            </a:endParaRPr>
          </a:p>
        </p:txBody>
      </p:sp>
    </p:spTree>
    <p:extLst>
      <p:ext uri="{BB962C8B-B14F-4D97-AF65-F5344CB8AC3E}">
        <p14:creationId xmlns:p14="http://schemas.microsoft.com/office/powerpoint/2010/main" val="1463818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5E97F18-6482-4473-4A2C-52EA1A55A57D}"/>
              </a:ext>
            </a:extLst>
          </p:cNvPr>
          <p:cNvSpPr>
            <a:spLocks noGrp="1"/>
          </p:cNvSpPr>
          <p:nvPr>
            <p:ph type="title"/>
          </p:nvPr>
        </p:nvSpPr>
        <p:spPr>
          <a:xfrm>
            <a:off x="612648" y="548640"/>
            <a:ext cx="10653578" cy="793012"/>
          </a:xfrm>
        </p:spPr>
        <p:txBody>
          <a:bodyPr/>
          <a:lstStyle/>
          <a:p>
            <a:r>
              <a:rPr lang="tr-TR" sz="3200">
                <a:solidFill>
                  <a:srgbClr val="00B0F0"/>
                </a:solidFill>
                <a:latin typeface="Arial Nova"/>
                <a:ea typeface="+mn-ea"/>
                <a:cs typeface="Arial"/>
              </a:rPr>
              <a:t>3- </a:t>
            </a:r>
            <a:r>
              <a:rPr lang="tr-TR" sz="3200" err="1">
                <a:solidFill>
                  <a:srgbClr val="00B0F0"/>
                </a:solidFill>
                <a:latin typeface="Arial Nova"/>
                <a:ea typeface="+mn-ea"/>
                <a:cs typeface="Arial"/>
              </a:rPr>
              <a:t>Xgboost</a:t>
            </a:r>
            <a:endParaRPr lang="tr-TR" sz="3200">
              <a:solidFill>
                <a:srgbClr val="00B0F0"/>
              </a:solidFill>
              <a:latin typeface="Arial Nova"/>
              <a:ea typeface="+mn-ea"/>
              <a:cs typeface="Arial"/>
            </a:endParaRPr>
          </a:p>
        </p:txBody>
      </p:sp>
      <p:sp>
        <p:nvSpPr>
          <p:cNvPr id="3" name="İçerik Yer Tutucusu 2">
            <a:extLst>
              <a:ext uri="{FF2B5EF4-FFF2-40B4-BE49-F238E27FC236}">
                <a16:creationId xmlns:a16="http://schemas.microsoft.com/office/drawing/2014/main" id="{3F2E84D3-0452-684B-50F8-BD5A3E682934}"/>
              </a:ext>
            </a:extLst>
          </p:cNvPr>
          <p:cNvSpPr>
            <a:spLocks noGrp="1"/>
          </p:cNvSpPr>
          <p:nvPr>
            <p:ph idx="1"/>
          </p:nvPr>
        </p:nvSpPr>
        <p:spPr>
          <a:xfrm>
            <a:off x="612647" y="1308437"/>
            <a:ext cx="10653579" cy="5000923"/>
          </a:xfrm>
        </p:spPr>
        <p:txBody>
          <a:bodyPr vert="horz" lIns="91440" tIns="45720" rIns="91440" bIns="45720" rtlCol="0" anchor="t">
            <a:normAutofit/>
          </a:bodyPr>
          <a:lstStyle/>
          <a:p>
            <a:pPr marL="0" indent="0"/>
            <a:r>
              <a:rPr lang="tr-TR" sz="1600">
                <a:ea typeface="+mn-lt"/>
                <a:cs typeface="+mn-lt"/>
              </a:rPr>
              <a:t>Yüksek Tahmin Performansı: </a:t>
            </a:r>
            <a:r>
              <a:rPr lang="tr-TR" sz="1600" err="1">
                <a:ea typeface="+mn-lt"/>
                <a:cs typeface="+mn-lt"/>
              </a:rPr>
              <a:t>Gradient</a:t>
            </a:r>
            <a:r>
              <a:rPr lang="tr-TR" sz="1600">
                <a:ea typeface="+mn-lt"/>
                <a:cs typeface="+mn-lt"/>
              </a:rPr>
              <a:t> </a:t>
            </a:r>
            <a:r>
              <a:rPr lang="tr-TR" sz="1600" err="1">
                <a:ea typeface="+mn-lt"/>
                <a:cs typeface="+mn-lt"/>
              </a:rPr>
              <a:t>boosting</a:t>
            </a:r>
            <a:r>
              <a:rPr lang="tr-TR" sz="1600">
                <a:ea typeface="+mn-lt"/>
                <a:cs typeface="+mn-lt"/>
              </a:rPr>
              <a:t> tekniği sayesinde karmaşık ilişkileri modelleyebilir ve genellikle yüksek doğruluk oranları sağlar.</a:t>
            </a:r>
            <a:endParaRPr lang="tr-TR" sz="1600"/>
          </a:p>
          <a:p>
            <a:pPr marL="0" indent="0">
              <a:buNone/>
            </a:pPr>
            <a:r>
              <a:rPr lang="tr-TR" sz="1600" b="1">
                <a:ea typeface="+mn-lt"/>
                <a:cs typeface="+mn-lt"/>
              </a:rPr>
              <a:t>• </a:t>
            </a:r>
            <a:r>
              <a:rPr lang="tr-TR" sz="1600">
                <a:ea typeface="+mn-lt"/>
                <a:cs typeface="+mn-lt"/>
              </a:rPr>
              <a:t>Kayıp Veri Toleransı: Eksik değerleri otomatik olarak işleyebilir, bu da veri ön işleme sürecini kolaylaştırır.</a:t>
            </a:r>
            <a:endParaRPr lang="tr-TR" sz="1600"/>
          </a:p>
          <a:p>
            <a:pPr marL="0" indent="0">
              <a:buNone/>
            </a:pPr>
            <a:r>
              <a:rPr lang="tr-TR" sz="1600" b="1">
                <a:ea typeface="+mn-lt"/>
                <a:cs typeface="+mn-lt"/>
              </a:rPr>
              <a:t>• </a:t>
            </a:r>
            <a:r>
              <a:rPr lang="tr-TR" sz="1600">
                <a:ea typeface="+mn-lt"/>
                <a:cs typeface="+mn-lt"/>
              </a:rPr>
              <a:t>Ölçeklenebilirlik: Büyük veri setlerinde bile hızlı ve verimli çalışabilir, paralel işlem desteği sunar.</a:t>
            </a:r>
            <a:endParaRPr lang="tr-TR" sz="1600"/>
          </a:p>
          <a:p>
            <a:pPr marL="0" indent="0">
              <a:buNone/>
            </a:pPr>
            <a:r>
              <a:rPr lang="tr-TR" sz="1600" b="1">
                <a:ea typeface="+mn-lt"/>
                <a:cs typeface="+mn-lt"/>
              </a:rPr>
              <a:t>• </a:t>
            </a:r>
            <a:r>
              <a:rPr lang="tr-TR" sz="1600">
                <a:ea typeface="+mn-lt"/>
                <a:cs typeface="+mn-lt"/>
              </a:rPr>
              <a:t>Özellik Önem Analizi: Hangi özelliklerin model için en önemli olduğunu gösterir, bu da </a:t>
            </a:r>
            <a:r>
              <a:rPr lang="tr-TR" sz="1600" err="1">
                <a:ea typeface="+mn-lt"/>
                <a:cs typeface="+mn-lt"/>
              </a:rPr>
              <a:t>yorumlanabilirliği</a:t>
            </a:r>
            <a:r>
              <a:rPr lang="tr-TR" sz="1600">
                <a:ea typeface="+mn-lt"/>
                <a:cs typeface="+mn-lt"/>
              </a:rPr>
              <a:t> artırır.</a:t>
            </a:r>
            <a:endParaRPr lang="tr-TR" sz="1600"/>
          </a:p>
          <a:p>
            <a:pPr marL="0" indent="0">
              <a:buNone/>
            </a:pPr>
            <a:r>
              <a:rPr lang="tr-TR" sz="1600" b="1">
                <a:ea typeface="+mn-lt"/>
                <a:cs typeface="+mn-lt"/>
              </a:rPr>
              <a:t>• </a:t>
            </a:r>
            <a:r>
              <a:rPr lang="tr-TR" sz="1600">
                <a:ea typeface="+mn-lt"/>
                <a:cs typeface="+mn-lt"/>
              </a:rPr>
              <a:t>Düzenlileştirme (</a:t>
            </a:r>
            <a:r>
              <a:rPr lang="tr-TR" sz="1600" err="1">
                <a:ea typeface="+mn-lt"/>
                <a:cs typeface="+mn-lt"/>
              </a:rPr>
              <a:t>Regularization</a:t>
            </a:r>
            <a:r>
              <a:rPr lang="tr-TR" sz="1600">
                <a:ea typeface="+mn-lt"/>
                <a:cs typeface="+mn-lt"/>
              </a:rPr>
              <a:t>): L1 ve L2 düzenlileştirme desteği ile aşırı öğrenmeyi (</a:t>
            </a:r>
            <a:r>
              <a:rPr lang="tr-TR" sz="1600" err="1">
                <a:ea typeface="+mn-lt"/>
                <a:cs typeface="+mn-lt"/>
              </a:rPr>
              <a:t>overfitting</a:t>
            </a:r>
            <a:r>
              <a:rPr lang="tr-TR" sz="1600">
                <a:ea typeface="+mn-lt"/>
                <a:cs typeface="+mn-lt"/>
              </a:rPr>
              <a:t>) önler.</a:t>
            </a:r>
            <a:endParaRPr lang="tr-TR" sz="1600"/>
          </a:p>
          <a:p>
            <a:pPr marL="0" indent="0">
              <a:buNone/>
            </a:pPr>
            <a:r>
              <a:rPr lang="tr-TR" sz="1600" b="1">
                <a:ea typeface="+mn-lt"/>
                <a:cs typeface="+mn-lt"/>
              </a:rPr>
              <a:t>• </a:t>
            </a:r>
            <a:r>
              <a:rPr lang="tr-TR" sz="1600" err="1">
                <a:ea typeface="+mn-lt"/>
                <a:cs typeface="+mn-lt"/>
              </a:rPr>
              <a:t>Hiperparametre</a:t>
            </a:r>
            <a:r>
              <a:rPr lang="tr-TR" sz="1600">
                <a:ea typeface="+mn-lt"/>
                <a:cs typeface="+mn-lt"/>
              </a:rPr>
              <a:t> Hassasiyeti: Optimal performans için dikkatli </a:t>
            </a:r>
            <a:r>
              <a:rPr lang="tr-TR" sz="1600" err="1">
                <a:ea typeface="+mn-lt"/>
                <a:cs typeface="+mn-lt"/>
              </a:rPr>
              <a:t>hiperparametre</a:t>
            </a:r>
            <a:r>
              <a:rPr lang="tr-TR" sz="1600">
                <a:ea typeface="+mn-lt"/>
                <a:cs typeface="+mn-lt"/>
              </a:rPr>
              <a:t> ayarı gerektirir, bu da zaman alıcı olabilir.</a:t>
            </a:r>
            <a:endParaRPr lang="tr-TR" sz="1600"/>
          </a:p>
          <a:p>
            <a:pPr marL="0" indent="0">
              <a:buNone/>
            </a:pPr>
            <a:r>
              <a:rPr lang="tr-TR" sz="1600" b="1">
                <a:ea typeface="+mn-lt"/>
                <a:cs typeface="+mn-lt"/>
              </a:rPr>
              <a:t>• </a:t>
            </a:r>
            <a:r>
              <a:rPr lang="tr-TR" sz="1600">
                <a:ea typeface="+mn-lt"/>
                <a:cs typeface="+mn-lt"/>
              </a:rPr>
              <a:t>Aşırı Öğrenme Riski: Yeterli düzenlileştirme yapılmazsa, özellikle gürültülü verilerde aşırı öğrenmeye eğilimlidir.</a:t>
            </a:r>
            <a:endParaRPr lang="tr-TR" sz="1600"/>
          </a:p>
          <a:p>
            <a:pPr marL="0" indent="0">
              <a:buNone/>
            </a:pPr>
            <a:r>
              <a:rPr lang="tr-TR" sz="1600" b="1">
                <a:ea typeface="+mn-lt"/>
                <a:cs typeface="+mn-lt"/>
              </a:rPr>
              <a:t>• </a:t>
            </a:r>
            <a:r>
              <a:rPr lang="tr-TR" sz="1600">
                <a:ea typeface="+mn-lt"/>
                <a:cs typeface="+mn-lt"/>
              </a:rPr>
              <a:t>Sınırlı </a:t>
            </a:r>
            <a:r>
              <a:rPr lang="tr-TR" sz="1600" err="1">
                <a:ea typeface="+mn-lt"/>
                <a:cs typeface="+mn-lt"/>
              </a:rPr>
              <a:t>Yorumlanabilirlik</a:t>
            </a:r>
            <a:r>
              <a:rPr lang="tr-TR" sz="1600">
                <a:ea typeface="+mn-lt"/>
                <a:cs typeface="+mn-lt"/>
              </a:rPr>
              <a:t>: </a:t>
            </a:r>
            <a:r>
              <a:rPr lang="tr-TR" sz="1600" err="1">
                <a:ea typeface="+mn-lt"/>
                <a:cs typeface="+mn-lt"/>
              </a:rPr>
              <a:t>Ensemble</a:t>
            </a:r>
            <a:r>
              <a:rPr lang="tr-TR" sz="1600">
                <a:ea typeface="+mn-lt"/>
                <a:cs typeface="+mn-lt"/>
              </a:rPr>
              <a:t> yapısı nedeniyle tek bir karar ağacına göre daha zor yorumlanır.</a:t>
            </a:r>
            <a:endParaRPr lang="tr-TR" sz="1600"/>
          </a:p>
          <a:p>
            <a:pPr marL="0" indent="0">
              <a:buNone/>
            </a:pPr>
            <a:r>
              <a:rPr lang="tr-TR" sz="1600" b="1">
                <a:ea typeface="+mn-lt"/>
                <a:cs typeface="+mn-lt"/>
              </a:rPr>
              <a:t>• </a:t>
            </a:r>
            <a:r>
              <a:rPr lang="tr-TR" sz="1600">
                <a:ea typeface="+mn-lt"/>
                <a:cs typeface="+mn-lt"/>
              </a:rPr>
              <a:t>Hesaplama Maliyeti: Eğitim süresi, özellikle büyük veri setlerinde ve çok sayıda iterasyonda uzayabilir.</a:t>
            </a:r>
            <a:endParaRPr lang="tr-TR" sz="1600"/>
          </a:p>
          <a:p>
            <a:endParaRPr lang="tr-TR"/>
          </a:p>
        </p:txBody>
      </p:sp>
      <p:sp>
        <p:nvSpPr>
          <p:cNvPr id="4" name="Veri Yer Tutucusu 3">
            <a:extLst>
              <a:ext uri="{FF2B5EF4-FFF2-40B4-BE49-F238E27FC236}">
                <a16:creationId xmlns:a16="http://schemas.microsoft.com/office/drawing/2014/main" id="{46B9745C-7E37-42D8-D6FE-277133FB9AC1}"/>
              </a:ext>
            </a:extLst>
          </p:cNvPr>
          <p:cNvSpPr>
            <a:spLocks noGrp="1"/>
          </p:cNvSpPr>
          <p:nvPr>
            <p:ph type="dt" sz="half" idx="10"/>
          </p:nvPr>
        </p:nvSpPr>
        <p:spPr/>
        <p:txBody>
          <a:bodyPr/>
          <a:lstStyle/>
          <a:p>
            <a:fld id="{EE47214E-50A7-4382-8163-B06FA22A08F4}" type="datetime1">
              <a:t>25.11.2025</a:t>
            </a:fld>
            <a:endParaRPr lang="en-US"/>
          </a:p>
        </p:txBody>
      </p:sp>
      <p:sp>
        <p:nvSpPr>
          <p:cNvPr id="5" name="Alt Bilgi Yer Tutucusu 4">
            <a:extLst>
              <a:ext uri="{FF2B5EF4-FFF2-40B4-BE49-F238E27FC236}">
                <a16:creationId xmlns:a16="http://schemas.microsoft.com/office/drawing/2014/main" id="{B3A979DE-CEDF-3B70-24D8-EC443D9CE5E1}"/>
              </a:ext>
            </a:extLst>
          </p:cNvPr>
          <p:cNvSpPr>
            <a:spLocks noGrp="1"/>
          </p:cNvSpPr>
          <p:nvPr>
            <p:ph type="ftr" sz="quarter" idx="11"/>
          </p:nvPr>
        </p:nvSpPr>
        <p:spPr/>
        <p:txBody>
          <a:bodyPr/>
          <a:lstStyle/>
          <a:p>
            <a:r>
              <a:rPr lang="en-US"/>
              <a:t>
              </a:t>
            </a:r>
          </a:p>
        </p:txBody>
      </p:sp>
      <p:sp>
        <p:nvSpPr>
          <p:cNvPr id="6" name="Slayt Numarası Yer Tutucusu 5">
            <a:extLst>
              <a:ext uri="{FF2B5EF4-FFF2-40B4-BE49-F238E27FC236}">
                <a16:creationId xmlns:a16="http://schemas.microsoft.com/office/drawing/2014/main" id="{14480752-385F-9BAB-ED92-3158BB58866D}"/>
              </a:ext>
            </a:extLst>
          </p:cNvPr>
          <p:cNvSpPr>
            <a:spLocks noGrp="1"/>
          </p:cNvSpPr>
          <p:nvPr>
            <p:ph type="sldNum" sz="quarter" idx="12"/>
          </p:nvPr>
        </p:nvSpPr>
        <p:spPr/>
        <p:txBody>
          <a:bodyPr/>
          <a:lstStyle/>
          <a:p>
            <a:fld id="{CC057153-B650-4DEB-B370-79DDCFDCE934}" type="slidenum">
              <a:rPr lang="en-US" dirty="0"/>
              <a:t>8</a:t>
            </a:fld>
            <a:endParaRPr lang="en-US"/>
          </a:p>
        </p:txBody>
      </p:sp>
    </p:spTree>
    <p:extLst>
      <p:ext uri="{BB962C8B-B14F-4D97-AF65-F5344CB8AC3E}">
        <p14:creationId xmlns:p14="http://schemas.microsoft.com/office/powerpoint/2010/main" val="970310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2DC5510E-BCFD-9161-5778-9F2695A14A74}"/>
              </a:ext>
            </a:extLst>
          </p:cNvPr>
          <p:cNvSpPr>
            <a:spLocks noGrp="1"/>
          </p:cNvSpPr>
          <p:nvPr>
            <p:ph type="title"/>
          </p:nvPr>
        </p:nvSpPr>
        <p:spPr>
          <a:xfrm>
            <a:off x="1046746" y="586822"/>
            <a:ext cx="3560252" cy="1645920"/>
          </a:xfrm>
        </p:spPr>
        <p:txBody>
          <a:bodyPr>
            <a:normAutofit/>
          </a:bodyPr>
          <a:lstStyle/>
          <a:p>
            <a:r>
              <a:rPr lang="tr-TR" sz="3200">
                <a:solidFill>
                  <a:srgbClr val="00B0F0"/>
                </a:solidFill>
                <a:latin typeface="Arial Nova"/>
                <a:ea typeface="+mn-ea"/>
                <a:cs typeface="Arial"/>
              </a:rPr>
              <a:t>Uygulanan Optimizasyon Teknikleri</a:t>
            </a:r>
          </a:p>
          <a:p>
            <a:endParaRPr lang="tr-TR" sz="3200"/>
          </a:p>
        </p:txBody>
      </p:sp>
      <p:sp>
        <p:nvSpPr>
          <p:cNvPr id="23" name="Rectangle 22">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İçerik Yer Tutucusu 2">
            <a:extLst>
              <a:ext uri="{FF2B5EF4-FFF2-40B4-BE49-F238E27FC236}">
                <a16:creationId xmlns:a16="http://schemas.microsoft.com/office/drawing/2014/main" id="{FE435234-AE5B-B637-034A-963A358E1D77}"/>
              </a:ext>
            </a:extLst>
          </p:cNvPr>
          <p:cNvSpPr>
            <a:spLocks noGrp="1"/>
          </p:cNvSpPr>
          <p:nvPr>
            <p:ph idx="1"/>
          </p:nvPr>
        </p:nvSpPr>
        <p:spPr>
          <a:xfrm>
            <a:off x="5351164" y="586822"/>
            <a:ext cx="6002636" cy="1645920"/>
          </a:xfrm>
        </p:spPr>
        <p:txBody>
          <a:bodyPr vert="horz" lIns="91440" tIns="45720" rIns="91440" bIns="45720" rtlCol="0" anchor="ctr">
            <a:normAutofit/>
          </a:bodyPr>
          <a:lstStyle/>
          <a:p>
            <a:pPr marL="342900" indent="-342900">
              <a:lnSpc>
                <a:spcPct val="110000"/>
              </a:lnSpc>
              <a:buFont typeface="Calibri" panose="020B0604020202020204" pitchFamily="34" charset="0"/>
              <a:buChar char="-"/>
            </a:pPr>
            <a:r>
              <a:rPr lang="tr-TR" sz="1800" err="1">
                <a:latin typeface="Arial Nova"/>
                <a:ea typeface="+mn-lt"/>
                <a:cs typeface="+mn-lt"/>
              </a:rPr>
              <a:t>Baseline</a:t>
            </a:r>
            <a:r>
              <a:rPr lang="tr-TR" sz="1800">
                <a:latin typeface="Arial Nova"/>
                <a:ea typeface="+mn-lt"/>
                <a:cs typeface="+mn-lt"/>
              </a:rPr>
              <a:t> </a:t>
            </a:r>
            <a:r>
              <a:rPr lang="tr-TR" sz="1800" err="1">
                <a:latin typeface="Arial Nova"/>
                <a:ea typeface="+mn-lt"/>
                <a:cs typeface="+mn-lt"/>
              </a:rPr>
              <a:t>XGBoost</a:t>
            </a:r>
            <a:r>
              <a:rPr lang="tr-TR" sz="1800">
                <a:latin typeface="Arial Nova"/>
                <a:ea typeface="+mn-lt"/>
                <a:cs typeface="+mn-lt"/>
              </a:rPr>
              <a:t> Modeli</a:t>
            </a:r>
            <a:endParaRPr lang="tr-TR"/>
          </a:p>
          <a:p>
            <a:pPr marL="342900" indent="-342900">
              <a:lnSpc>
                <a:spcPct val="110000"/>
              </a:lnSpc>
              <a:buFont typeface="Calibri" panose="020B0604020202020204" pitchFamily="34" charset="0"/>
              <a:buChar char="-"/>
            </a:pPr>
            <a:r>
              <a:rPr lang="tr-TR" sz="1800">
                <a:latin typeface="Arial Nova"/>
                <a:ea typeface="+mn-lt"/>
                <a:cs typeface="+mn-lt"/>
              </a:rPr>
              <a:t>K-</a:t>
            </a:r>
            <a:r>
              <a:rPr lang="tr-TR" sz="1800" err="1">
                <a:latin typeface="Arial Nova"/>
                <a:ea typeface="+mn-lt"/>
                <a:cs typeface="+mn-lt"/>
              </a:rPr>
              <a:t>Fold</a:t>
            </a:r>
            <a:r>
              <a:rPr lang="tr-TR" sz="1800">
                <a:latin typeface="Arial Nova"/>
                <a:ea typeface="+mn-lt"/>
                <a:cs typeface="+mn-lt"/>
              </a:rPr>
              <a:t> Cross </a:t>
            </a:r>
            <a:r>
              <a:rPr lang="tr-TR" sz="1800" err="1">
                <a:latin typeface="Arial Nova"/>
                <a:ea typeface="+mn-lt"/>
                <a:cs typeface="+mn-lt"/>
              </a:rPr>
              <a:t>Validation</a:t>
            </a:r>
            <a:r>
              <a:rPr lang="tr-TR" sz="1800">
                <a:latin typeface="Arial Nova"/>
                <a:ea typeface="+mn-lt"/>
                <a:cs typeface="+mn-lt"/>
              </a:rPr>
              <a:t> ile </a:t>
            </a:r>
            <a:r>
              <a:rPr lang="tr-TR" sz="1800" err="1">
                <a:latin typeface="Arial Nova"/>
                <a:ea typeface="+mn-lt"/>
                <a:cs typeface="+mn-lt"/>
              </a:rPr>
              <a:t>GridSearchCV</a:t>
            </a:r>
            <a:r>
              <a:rPr lang="tr-TR" sz="1800">
                <a:latin typeface="Arial Nova"/>
                <a:ea typeface="+mn-lt"/>
                <a:cs typeface="+mn-lt"/>
              </a:rPr>
              <a:t> Optimizasyonu</a:t>
            </a:r>
          </a:p>
          <a:p>
            <a:pPr>
              <a:lnSpc>
                <a:spcPct val="110000"/>
              </a:lnSpc>
              <a:buFont typeface="Calibri"/>
              <a:buChar char="-"/>
            </a:pPr>
            <a:r>
              <a:rPr lang="tr-TR" sz="1800">
                <a:latin typeface="Arial Nova"/>
                <a:ea typeface="+mn-lt"/>
                <a:cs typeface="+mn-lt"/>
              </a:rPr>
              <a:t>SMOTE ile Veri Dengeleme</a:t>
            </a:r>
          </a:p>
          <a:p>
            <a:pPr marL="342900" indent="-342900">
              <a:lnSpc>
                <a:spcPct val="110000"/>
              </a:lnSpc>
              <a:buFont typeface="Calibri" panose="020B0604020202020204" pitchFamily="34" charset="0"/>
              <a:buChar char="-"/>
            </a:pPr>
            <a:endParaRPr lang="tr-TR" sz="1400" b="1"/>
          </a:p>
          <a:p>
            <a:pPr>
              <a:lnSpc>
                <a:spcPct val="110000"/>
              </a:lnSpc>
              <a:buFont typeface="Calibri" panose="020B0604020202020204" pitchFamily="34" charset="0"/>
              <a:buChar char="-"/>
            </a:pPr>
            <a:endParaRPr lang="tr-TR" sz="1400"/>
          </a:p>
        </p:txBody>
      </p:sp>
      <p:sp>
        <p:nvSpPr>
          <p:cNvPr id="4" name="Veri Yer Tutucusu 3">
            <a:extLst>
              <a:ext uri="{FF2B5EF4-FFF2-40B4-BE49-F238E27FC236}">
                <a16:creationId xmlns:a16="http://schemas.microsoft.com/office/drawing/2014/main" id="{236230A4-E774-85DE-697E-373D5FCE136E}"/>
              </a:ext>
            </a:extLst>
          </p:cNvPr>
          <p:cNvSpPr>
            <a:spLocks noGrp="1"/>
          </p:cNvSpPr>
          <p:nvPr>
            <p:ph type="dt" sz="half" idx="10"/>
          </p:nvPr>
        </p:nvSpPr>
        <p:spPr>
          <a:xfrm>
            <a:off x="838200" y="6356350"/>
            <a:ext cx="2743200" cy="365125"/>
          </a:xfrm>
        </p:spPr>
        <p:txBody>
          <a:bodyPr>
            <a:normAutofit/>
          </a:bodyPr>
          <a:lstStyle/>
          <a:p>
            <a:pPr>
              <a:spcAft>
                <a:spcPts val="600"/>
              </a:spcAft>
            </a:pPr>
            <a:fld id="{55D1F05A-FAB9-4C06-975A-703285EA0E7E}" type="datetime1">
              <a:rPr lang="en-US" sz="1200">
                <a:solidFill>
                  <a:schemeClr val="tx1">
                    <a:lumMod val="50000"/>
                    <a:lumOff val="50000"/>
                  </a:schemeClr>
                </a:solidFill>
              </a:rPr>
              <a:pPr>
                <a:spcAft>
                  <a:spcPts val="600"/>
                </a:spcAft>
              </a:pPr>
              <a:t>11/25/2025</a:t>
            </a:fld>
            <a:endParaRPr lang="en-US" sz="1200">
              <a:solidFill>
                <a:schemeClr val="tx1">
                  <a:lumMod val="50000"/>
                  <a:lumOff val="50000"/>
                </a:schemeClr>
              </a:solidFill>
            </a:endParaRPr>
          </a:p>
        </p:txBody>
      </p:sp>
      <p:sp>
        <p:nvSpPr>
          <p:cNvPr id="5" name="Alt Bilgi Yer Tutucusu 4">
            <a:extLst>
              <a:ext uri="{FF2B5EF4-FFF2-40B4-BE49-F238E27FC236}">
                <a16:creationId xmlns:a16="http://schemas.microsoft.com/office/drawing/2014/main" id="{35F95163-5AF5-100A-12E1-12FCAFBEFA79}"/>
              </a:ext>
            </a:extLst>
          </p:cNvPr>
          <p:cNvSpPr>
            <a:spLocks noGrp="1"/>
          </p:cNvSpPr>
          <p:nvPr>
            <p:ph type="ftr" sz="quarter" idx="11"/>
          </p:nvPr>
        </p:nvSpPr>
        <p:spPr>
          <a:xfrm>
            <a:off x="4038600" y="6356350"/>
            <a:ext cx="4114800" cy="365125"/>
          </a:xfrm>
        </p:spPr>
        <p:txBody>
          <a:bodyPr>
            <a:normAutofit/>
          </a:bodyPr>
          <a:lstStyle/>
          <a:p>
            <a:pPr algn="ctr">
              <a:lnSpc>
                <a:spcPct val="90000"/>
              </a:lnSpc>
              <a:spcAft>
                <a:spcPts val="600"/>
              </a:spcAft>
            </a:pPr>
            <a:r>
              <a:rPr lang="en-US" sz="700">
                <a:solidFill>
                  <a:schemeClr val="tx1">
                    <a:lumMod val="50000"/>
                    <a:lumOff val="50000"/>
                  </a:schemeClr>
                </a:solidFill>
              </a:rPr>
              <a:t>
              </a:t>
            </a:r>
          </a:p>
        </p:txBody>
      </p:sp>
      <p:sp>
        <p:nvSpPr>
          <p:cNvPr id="6" name="Slayt Numarası Yer Tutucusu 5">
            <a:extLst>
              <a:ext uri="{FF2B5EF4-FFF2-40B4-BE49-F238E27FC236}">
                <a16:creationId xmlns:a16="http://schemas.microsoft.com/office/drawing/2014/main" id="{E59C1208-41FE-69E1-7449-0C30C0ABA439}"/>
              </a:ext>
            </a:extLst>
          </p:cNvPr>
          <p:cNvSpPr>
            <a:spLocks noGrp="1"/>
          </p:cNvSpPr>
          <p:nvPr>
            <p:ph type="sldNum" sz="quarter" idx="12"/>
          </p:nvPr>
        </p:nvSpPr>
        <p:spPr>
          <a:xfrm>
            <a:off x="8610600" y="6356350"/>
            <a:ext cx="2743200" cy="365125"/>
          </a:xfrm>
        </p:spPr>
        <p:txBody>
          <a:bodyPr>
            <a:normAutofit/>
          </a:bodyPr>
          <a:lstStyle/>
          <a:p>
            <a:pPr>
              <a:spcAft>
                <a:spcPts val="600"/>
              </a:spcAft>
            </a:pPr>
            <a:fld id="{CC057153-B650-4DEB-B370-79DDCFDCE934}" type="slidenum">
              <a:rPr lang="en-US" sz="1200">
                <a:solidFill>
                  <a:schemeClr val="tx1">
                    <a:lumMod val="50000"/>
                    <a:lumOff val="50000"/>
                  </a:schemeClr>
                </a:solidFill>
              </a:rPr>
              <a:pPr>
                <a:spcAft>
                  <a:spcPts val="600"/>
                </a:spcAft>
              </a:pPr>
              <a:t>9</a:t>
            </a:fld>
            <a:endParaRPr lang="en-US" sz="1200">
              <a:solidFill>
                <a:schemeClr val="tx1">
                  <a:lumMod val="50000"/>
                  <a:lumOff val="50000"/>
                </a:schemeClr>
              </a:solidFill>
            </a:endParaRPr>
          </a:p>
        </p:txBody>
      </p:sp>
      <p:graphicFrame>
        <p:nvGraphicFramePr>
          <p:cNvPr id="14" name="Tablo 13">
            <a:extLst>
              <a:ext uri="{FF2B5EF4-FFF2-40B4-BE49-F238E27FC236}">
                <a16:creationId xmlns:a16="http://schemas.microsoft.com/office/drawing/2014/main" id="{02761561-0ABE-097F-A1CF-884A6CD551F8}"/>
              </a:ext>
            </a:extLst>
          </p:cNvPr>
          <p:cNvGraphicFramePr>
            <a:graphicFrameLocks noGrp="1"/>
          </p:cNvGraphicFramePr>
          <p:nvPr>
            <p:extLst>
              <p:ext uri="{D42A27DB-BD31-4B8C-83A1-F6EECF244321}">
                <p14:modId xmlns:p14="http://schemas.microsoft.com/office/powerpoint/2010/main" val="1574968344"/>
              </p:ext>
            </p:extLst>
          </p:nvPr>
        </p:nvGraphicFramePr>
        <p:xfrm>
          <a:off x="2293381" y="3238805"/>
          <a:ext cx="7693629" cy="2474367"/>
        </p:xfrm>
        <a:graphic>
          <a:graphicData uri="http://schemas.openxmlformats.org/drawingml/2006/table">
            <a:tbl>
              <a:tblPr firstRow="1" firstCol="1" bandRow="1">
                <a:tableStyleId>{5C22544A-7EE6-4342-B048-85BDC9FD1C3A}</a:tableStyleId>
              </a:tblPr>
              <a:tblGrid>
                <a:gridCol w="2148936">
                  <a:extLst>
                    <a:ext uri="{9D8B030D-6E8A-4147-A177-3AD203B41FA5}">
                      <a16:colId xmlns:a16="http://schemas.microsoft.com/office/drawing/2014/main" val="133347378"/>
                    </a:ext>
                  </a:extLst>
                </a:gridCol>
                <a:gridCol w="2740602">
                  <a:extLst>
                    <a:ext uri="{9D8B030D-6E8A-4147-A177-3AD203B41FA5}">
                      <a16:colId xmlns:a16="http://schemas.microsoft.com/office/drawing/2014/main" val="9868419"/>
                    </a:ext>
                  </a:extLst>
                </a:gridCol>
                <a:gridCol w="2804091">
                  <a:extLst>
                    <a:ext uri="{9D8B030D-6E8A-4147-A177-3AD203B41FA5}">
                      <a16:colId xmlns:a16="http://schemas.microsoft.com/office/drawing/2014/main" val="3503890006"/>
                    </a:ext>
                  </a:extLst>
                </a:gridCol>
              </a:tblGrid>
              <a:tr h="1025957">
                <a:tc>
                  <a:txBody>
                    <a:bodyPr/>
                    <a:lstStyle/>
                    <a:p>
                      <a:pPr algn="ctr">
                        <a:buNone/>
                      </a:pPr>
                      <a:endParaRPr lang="tr-TR" sz="1800" kern="1200">
                        <a:solidFill>
                          <a:srgbClr val="000000"/>
                        </a:solidFill>
                        <a:latin typeface="Arial Nova"/>
                        <a:ea typeface="+mn-lt"/>
                        <a:cs typeface="+mn-lt"/>
                      </a:endParaRPr>
                    </a:p>
                  </a:txBody>
                  <a:tcPr marL="20955" marR="20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a:buNone/>
                      </a:pPr>
                      <a:r>
                        <a:rPr lang="tr-TR" sz="1800" kern="1200" err="1">
                          <a:solidFill>
                            <a:srgbClr val="000000"/>
                          </a:solidFill>
                          <a:latin typeface="Arial Nova"/>
                          <a:ea typeface="+mn-lt"/>
                          <a:cs typeface="+mn-lt"/>
                        </a:rPr>
                        <a:t>Predicted</a:t>
                      </a:r>
                      <a:r>
                        <a:rPr lang="tr-TR" sz="1800" kern="1200">
                          <a:solidFill>
                            <a:srgbClr val="000000"/>
                          </a:solidFill>
                          <a:latin typeface="Arial Nova"/>
                          <a:ea typeface="+mn-lt"/>
                          <a:cs typeface="+mn-lt"/>
                        </a:rPr>
                        <a:t>: 0</a:t>
                      </a:r>
                    </a:p>
                  </a:txBody>
                  <a:tcPr marL="20955" marR="20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a:buNone/>
                      </a:pPr>
                      <a:r>
                        <a:rPr lang="tr-TR" sz="1800" kern="1200" err="1">
                          <a:solidFill>
                            <a:srgbClr val="000000"/>
                          </a:solidFill>
                          <a:latin typeface="Arial Nova"/>
                          <a:ea typeface="+mn-lt"/>
                          <a:cs typeface="+mn-lt"/>
                        </a:rPr>
                        <a:t>Predicted</a:t>
                      </a:r>
                      <a:r>
                        <a:rPr lang="tr-TR" sz="1800" kern="1200">
                          <a:solidFill>
                            <a:srgbClr val="000000"/>
                          </a:solidFill>
                          <a:latin typeface="Arial Nova"/>
                          <a:ea typeface="+mn-lt"/>
                          <a:cs typeface="+mn-lt"/>
                        </a:rPr>
                        <a:t>: 1</a:t>
                      </a:r>
                    </a:p>
                  </a:txBody>
                  <a:tcPr marL="20955" marR="20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4127496666"/>
                  </a:ext>
                </a:extLst>
              </a:tr>
              <a:tr h="724205">
                <a:tc>
                  <a:txBody>
                    <a:bodyPr/>
                    <a:lstStyle/>
                    <a:p>
                      <a:pPr>
                        <a:buNone/>
                      </a:pPr>
                      <a:r>
                        <a:rPr lang="tr-TR" sz="1800" kern="1200" err="1">
                          <a:solidFill>
                            <a:schemeClr val="tx1"/>
                          </a:solidFill>
                          <a:latin typeface="Arial Nova"/>
                          <a:ea typeface="+mn-lt"/>
                          <a:cs typeface="+mn-lt"/>
                        </a:rPr>
                        <a:t>Actual</a:t>
                      </a:r>
                      <a:r>
                        <a:rPr lang="tr-TR" sz="1800" kern="1200">
                          <a:solidFill>
                            <a:schemeClr val="tx1"/>
                          </a:solidFill>
                          <a:latin typeface="Arial Nova"/>
                          <a:ea typeface="+mn-lt"/>
                          <a:cs typeface="+mn-lt"/>
                        </a:rPr>
                        <a:t>: 0</a:t>
                      </a:r>
                    </a:p>
                  </a:txBody>
                  <a:tcPr marL="20955" marR="20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a:buNone/>
                      </a:pPr>
                      <a:r>
                        <a:rPr lang="tr-TR" sz="1800" kern="1200">
                          <a:solidFill>
                            <a:schemeClr val="tx1"/>
                          </a:solidFill>
                          <a:latin typeface="Arial Nova"/>
                          <a:ea typeface="+mn-lt"/>
                          <a:cs typeface="+mn-lt"/>
                        </a:rPr>
                        <a:t>50 (TN)</a:t>
                      </a:r>
                    </a:p>
                  </a:txBody>
                  <a:tcPr marL="20955" marR="20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AD47"/>
                    </a:solidFill>
                  </a:tcPr>
                </a:tc>
                <a:tc>
                  <a:txBody>
                    <a:bodyPr/>
                    <a:lstStyle/>
                    <a:p>
                      <a:pPr algn="ctr">
                        <a:buNone/>
                      </a:pPr>
                      <a:r>
                        <a:rPr lang="tr-TR" sz="1800" kern="1200">
                          <a:solidFill>
                            <a:schemeClr val="tx1"/>
                          </a:solidFill>
                          <a:latin typeface="Arial Nova"/>
                          <a:ea typeface="+mn-lt"/>
                          <a:cs typeface="+mn-lt"/>
                        </a:rPr>
                        <a:t>62 (FP)</a:t>
                      </a:r>
                    </a:p>
                  </a:txBody>
                  <a:tcPr marL="20955" marR="20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662484499"/>
                  </a:ext>
                </a:extLst>
              </a:tr>
              <a:tr h="724205">
                <a:tc>
                  <a:txBody>
                    <a:bodyPr/>
                    <a:lstStyle/>
                    <a:p>
                      <a:pPr>
                        <a:buNone/>
                      </a:pPr>
                      <a:r>
                        <a:rPr lang="tr-TR" sz="1800" kern="1200" err="1">
                          <a:solidFill>
                            <a:schemeClr val="tx1"/>
                          </a:solidFill>
                          <a:latin typeface="Arial Nova"/>
                          <a:ea typeface="+mn-lt"/>
                          <a:cs typeface="+mn-lt"/>
                        </a:rPr>
                        <a:t>Actual</a:t>
                      </a:r>
                      <a:r>
                        <a:rPr lang="tr-TR" sz="1800" kern="1200">
                          <a:solidFill>
                            <a:schemeClr val="tx1"/>
                          </a:solidFill>
                          <a:latin typeface="Arial Nova"/>
                          <a:ea typeface="+mn-lt"/>
                          <a:cs typeface="+mn-lt"/>
                        </a:rPr>
                        <a:t>: 1</a:t>
                      </a:r>
                    </a:p>
                  </a:txBody>
                  <a:tcPr marL="20955" marR="20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a:buNone/>
                      </a:pPr>
                      <a:r>
                        <a:rPr lang="tr-TR" sz="1800" kern="1200">
                          <a:solidFill>
                            <a:schemeClr val="tx1"/>
                          </a:solidFill>
                          <a:latin typeface="Arial Nova"/>
                          <a:ea typeface="+mn-lt"/>
                          <a:cs typeface="+mn-lt"/>
                        </a:rPr>
                        <a:t>5 (FN)</a:t>
                      </a:r>
                    </a:p>
                  </a:txBody>
                  <a:tcPr marL="20955" marR="20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ctr">
                        <a:buNone/>
                      </a:pPr>
                      <a:r>
                        <a:rPr lang="tr-TR" sz="1800" kern="1200">
                          <a:solidFill>
                            <a:schemeClr val="tx1"/>
                          </a:solidFill>
                          <a:latin typeface="Arial Nova"/>
                          <a:ea typeface="+mn-lt"/>
                          <a:cs typeface="+mn-lt"/>
                        </a:rPr>
                        <a:t>5 (TP)</a:t>
                      </a:r>
                    </a:p>
                  </a:txBody>
                  <a:tcPr marL="20955" marR="20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3310896449"/>
                  </a:ext>
                </a:extLst>
              </a:tr>
            </a:tbl>
          </a:graphicData>
        </a:graphic>
      </p:graphicFrame>
      <p:sp>
        <p:nvSpPr>
          <p:cNvPr id="15" name="Metin kutusu 14">
            <a:extLst>
              <a:ext uri="{FF2B5EF4-FFF2-40B4-BE49-F238E27FC236}">
                <a16:creationId xmlns:a16="http://schemas.microsoft.com/office/drawing/2014/main" id="{A13AB482-8166-AADB-3F7C-A12DA3B848F5}"/>
              </a:ext>
            </a:extLst>
          </p:cNvPr>
          <p:cNvSpPr txBox="1"/>
          <p:nvPr/>
        </p:nvSpPr>
        <p:spPr>
          <a:xfrm>
            <a:off x="2827867" y="2633133"/>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a:latin typeface="Arial Nova"/>
                <a:ea typeface="+mn-lt"/>
                <a:cs typeface="+mn-lt"/>
              </a:rPr>
              <a:t>En İyi XGBoost Modeli: Baseline + Threshold Optimization (Eşik = 0.01)</a:t>
            </a:r>
          </a:p>
          <a:p>
            <a:pPr algn="ctr"/>
            <a:endParaRPr lang="tr-TR"/>
          </a:p>
        </p:txBody>
      </p:sp>
    </p:spTree>
    <p:extLst>
      <p:ext uri="{BB962C8B-B14F-4D97-AF65-F5344CB8AC3E}">
        <p14:creationId xmlns:p14="http://schemas.microsoft.com/office/powerpoint/2010/main" val="514170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8D0EDE1-23C9-E39E-864B-A13BFCE20D3C}"/>
              </a:ext>
            </a:extLst>
          </p:cNvPr>
          <p:cNvSpPr>
            <a:spLocks noGrp="1"/>
          </p:cNvSpPr>
          <p:nvPr>
            <p:ph type="title"/>
          </p:nvPr>
        </p:nvSpPr>
        <p:spPr>
          <a:xfrm>
            <a:off x="612648" y="548640"/>
            <a:ext cx="10653578" cy="589464"/>
          </a:xfrm>
        </p:spPr>
        <p:txBody>
          <a:bodyPr/>
          <a:lstStyle/>
          <a:p>
            <a:r>
              <a:rPr lang="tr-TR" sz="3200">
                <a:solidFill>
                  <a:srgbClr val="00B0F0"/>
                </a:solidFill>
                <a:latin typeface="Arial Nova"/>
                <a:ea typeface="+mn-ea"/>
                <a:cs typeface="Arial"/>
              </a:rPr>
              <a:t>4- </a:t>
            </a:r>
            <a:r>
              <a:rPr lang="tr-TR" sz="3200" err="1">
                <a:solidFill>
                  <a:srgbClr val="00B0F0"/>
                </a:solidFill>
                <a:latin typeface="Arial Nova"/>
                <a:ea typeface="+mn-ea"/>
                <a:cs typeface="Arial"/>
              </a:rPr>
              <a:t>Neural</a:t>
            </a:r>
            <a:r>
              <a:rPr lang="tr-TR" sz="3200">
                <a:solidFill>
                  <a:srgbClr val="00B0F0"/>
                </a:solidFill>
                <a:latin typeface="Arial Nova"/>
                <a:ea typeface="+mn-ea"/>
                <a:cs typeface="Arial"/>
              </a:rPr>
              <a:t> Network</a:t>
            </a:r>
          </a:p>
        </p:txBody>
      </p:sp>
      <p:sp>
        <p:nvSpPr>
          <p:cNvPr id="3" name="İçerik Yer Tutucusu 2">
            <a:extLst>
              <a:ext uri="{FF2B5EF4-FFF2-40B4-BE49-F238E27FC236}">
                <a16:creationId xmlns:a16="http://schemas.microsoft.com/office/drawing/2014/main" id="{27DCAD24-F199-0756-4D29-2B99F9677D4A}"/>
              </a:ext>
            </a:extLst>
          </p:cNvPr>
          <p:cNvSpPr>
            <a:spLocks noGrp="1"/>
          </p:cNvSpPr>
          <p:nvPr>
            <p:ph idx="1"/>
          </p:nvPr>
        </p:nvSpPr>
        <p:spPr>
          <a:xfrm>
            <a:off x="612647" y="1162300"/>
            <a:ext cx="10653579" cy="5147060"/>
          </a:xfrm>
        </p:spPr>
        <p:txBody>
          <a:bodyPr vert="horz" lIns="91440" tIns="45720" rIns="91440" bIns="45720" rtlCol="0" anchor="t">
            <a:normAutofit fontScale="85000" lnSpcReduction="10000"/>
          </a:bodyPr>
          <a:lstStyle/>
          <a:p>
            <a:pPr>
              <a:buFont typeface="Calibri" panose="020B0604020202020204" pitchFamily="34" charset="0"/>
              <a:buChar char="-"/>
            </a:pPr>
            <a:r>
              <a:rPr lang="tr-TR" sz="2100">
                <a:latin typeface="Arial Nova"/>
                <a:ea typeface="+mn-lt"/>
                <a:cs typeface="+mn-lt"/>
              </a:rPr>
              <a:t> Doğrusal Olmayan İlişkileri Modelleme: Karmaşık, doğrusal olmayan veri yapılarını etkili şekilde öğrenebilir.</a:t>
            </a:r>
            <a:endParaRPr lang="tr-TR"/>
          </a:p>
          <a:p>
            <a:pPr>
              <a:buFont typeface="Calibri" panose="020B0604020202020204" pitchFamily="34" charset="0"/>
              <a:buChar char="-"/>
            </a:pPr>
            <a:r>
              <a:rPr lang="tr-TR" sz="2100">
                <a:latin typeface="Arial Nova"/>
                <a:ea typeface="+mn-lt"/>
                <a:cs typeface="+mn-lt"/>
              </a:rPr>
              <a:t>Esneklik: Çok çeşitli problem türlerine (sınıflandırma, regresyon, görüntü işleme vb.) uygulanabilir.</a:t>
            </a:r>
          </a:p>
          <a:p>
            <a:pPr>
              <a:buFont typeface="Calibri" panose="020B0604020202020204" pitchFamily="34" charset="0"/>
              <a:buChar char="-"/>
            </a:pPr>
            <a:r>
              <a:rPr lang="tr-TR" sz="2100">
                <a:latin typeface="Arial Nova"/>
                <a:ea typeface="+mn-lt"/>
                <a:cs typeface="+mn-lt"/>
              </a:rPr>
              <a:t>Özellik Öğrenme: Manuel özellik mühendisliği gerektirmeden, veriden otomatik olarak özellikler çıkarabilir. Kara Kutu Yapısı: Model kararlarının açıklanması zordur, </a:t>
            </a:r>
            <a:r>
              <a:rPr lang="tr-TR" sz="2100" err="1">
                <a:latin typeface="Arial Nova"/>
                <a:ea typeface="+mn-lt"/>
                <a:cs typeface="+mn-lt"/>
              </a:rPr>
              <a:t>yorumlanabilirlik</a:t>
            </a:r>
            <a:r>
              <a:rPr lang="tr-TR" sz="2100">
                <a:latin typeface="Arial Nova"/>
                <a:ea typeface="+mn-lt"/>
                <a:cs typeface="+mn-lt"/>
              </a:rPr>
              <a:t> sınırlıdır.</a:t>
            </a:r>
          </a:p>
          <a:p>
            <a:pPr>
              <a:buFont typeface="Calibri" panose="020B0604020202020204" pitchFamily="34" charset="0"/>
              <a:buChar char="-"/>
            </a:pPr>
            <a:r>
              <a:rPr lang="tr-TR" sz="2100">
                <a:latin typeface="Arial Nova"/>
                <a:ea typeface="+mn-lt"/>
                <a:cs typeface="+mn-lt"/>
              </a:rPr>
              <a:t>Veri Gereksinimi: Etkili öğrenme için büyük miktarda etiketli veriye ihtiyaç duyar.</a:t>
            </a:r>
          </a:p>
          <a:p>
            <a:pPr>
              <a:buFont typeface="Calibri" panose="020B0604020202020204" pitchFamily="34" charset="0"/>
              <a:buChar char="-"/>
            </a:pPr>
            <a:r>
              <a:rPr lang="tr-TR" sz="2100">
                <a:latin typeface="Arial Nova"/>
                <a:ea typeface="+mn-lt"/>
                <a:cs typeface="+mn-lt"/>
              </a:rPr>
              <a:t>Aşırı Öğrenme Eğilimi: Özellikle küçük veri setlerinde aşırı öğrenmeye karşı hassastır.</a:t>
            </a:r>
          </a:p>
          <a:p>
            <a:pPr>
              <a:buFont typeface="Calibri" panose="020B0604020202020204" pitchFamily="34" charset="0"/>
              <a:buChar char="-"/>
            </a:pPr>
            <a:r>
              <a:rPr lang="tr-TR" sz="2100">
                <a:latin typeface="Arial Nova"/>
                <a:ea typeface="+mn-lt"/>
                <a:cs typeface="+mn-lt"/>
              </a:rPr>
              <a:t>Hesaplama Maliyeti: Eğitim süresi uzun olabilir ve yüksek hesaplama gücü gerektirebilir.</a:t>
            </a:r>
          </a:p>
          <a:p>
            <a:pPr>
              <a:buFont typeface="Calibri" panose="020B0604020202020204" pitchFamily="34" charset="0"/>
              <a:buChar char="-"/>
            </a:pPr>
            <a:r>
              <a:rPr lang="tr-TR" sz="2100" err="1">
                <a:latin typeface="Arial Nova"/>
                <a:ea typeface="+mn-lt"/>
                <a:cs typeface="+mn-lt"/>
              </a:rPr>
              <a:t>Hiperparametre</a:t>
            </a:r>
            <a:r>
              <a:rPr lang="tr-TR" sz="2100">
                <a:latin typeface="Arial Nova"/>
                <a:ea typeface="+mn-lt"/>
                <a:cs typeface="+mn-lt"/>
              </a:rPr>
              <a:t> Seçimi: Katman sayısı, nöron sayısı, aktivasyon fonksiyonları gibi birçok parametre dikkatli ayar gerektirir.</a:t>
            </a:r>
          </a:p>
          <a:p>
            <a:pPr>
              <a:buFont typeface="Calibri" panose="020B0604020202020204" pitchFamily="34" charset="0"/>
              <a:buChar char="-"/>
            </a:pPr>
            <a:r>
              <a:rPr lang="tr-TR" sz="2100">
                <a:latin typeface="Arial Nova"/>
                <a:ea typeface="+mn-lt"/>
                <a:cs typeface="+mn-lt"/>
              </a:rPr>
              <a:t>Büyük Veri Performansı: Yeterli veri olduğunda, derin ağlar mükemmel genelleme yeteneği gösterebilir.</a:t>
            </a:r>
          </a:p>
          <a:p>
            <a:pPr>
              <a:buFont typeface="Calibri" panose="020B0604020202020204" pitchFamily="34" charset="0"/>
              <a:buChar char="-"/>
            </a:pPr>
            <a:r>
              <a:rPr lang="tr-TR" sz="2100">
                <a:latin typeface="Arial Nova"/>
                <a:ea typeface="+mn-lt"/>
                <a:cs typeface="+mn-lt"/>
              </a:rPr>
              <a:t>Transfer Learning: Önceden eğitilmiş ağlar, benzer problemlerde hızlı adaptasyon sağlar.</a:t>
            </a:r>
          </a:p>
          <a:p>
            <a:pPr>
              <a:buFont typeface="Calibri" panose="020B0604020202020204" pitchFamily="34" charset="0"/>
              <a:buChar char="-"/>
            </a:pPr>
            <a:endParaRPr lang="tr-TR"/>
          </a:p>
        </p:txBody>
      </p:sp>
      <p:sp>
        <p:nvSpPr>
          <p:cNvPr id="4" name="Veri Yer Tutucusu 3">
            <a:extLst>
              <a:ext uri="{FF2B5EF4-FFF2-40B4-BE49-F238E27FC236}">
                <a16:creationId xmlns:a16="http://schemas.microsoft.com/office/drawing/2014/main" id="{EE29A6E9-C44E-BA0C-C153-63FA1D4B0204}"/>
              </a:ext>
            </a:extLst>
          </p:cNvPr>
          <p:cNvSpPr>
            <a:spLocks noGrp="1"/>
          </p:cNvSpPr>
          <p:nvPr>
            <p:ph type="dt" sz="half" idx="10"/>
          </p:nvPr>
        </p:nvSpPr>
        <p:spPr/>
        <p:txBody>
          <a:bodyPr/>
          <a:lstStyle/>
          <a:p>
            <a:fld id="{BA84434B-2A6E-4311-893A-EF43211C2794}" type="datetime1">
              <a:t>25.11.2025</a:t>
            </a:fld>
            <a:endParaRPr lang="en-US"/>
          </a:p>
        </p:txBody>
      </p:sp>
      <p:sp>
        <p:nvSpPr>
          <p:cNvPr id="5" name="Alt Bilgi Yer Tutucusu 4">
            <a:extLst>
              <a:ext uri="{FF2B5EF4-FFF2-40B4-BE49-F238E27FC236}">
                <a16:creationId xmlns:a16="http://schemas.microsoft.com/office/drawing/2014/main" id="{600471C4-61A6-B210-4125-6B1875774FAD}"/>
              </a:ext>
            </a:extLst>
          </p:cNvPr>
          <p:cNvSpPr>
            <a:spLocks noGrp="1"/>
          </p:cNvSpPr>
          <p:nvPr>
            <p:ph type="ftr" sz="quarter" idx="11"/>
          </p:nvPr>
        </p:nvSpPr>
        <p:spPr/>
        <p:txBody>
          <a:bodyPr/>
          <a:lstStyle/>
          <a:p>
            <a:r>
              <a:rPr lang="en-US"/>
              <a:t>
              </a:t>
            </a:r>
          </a:p>
        </p:txBody>
      </p:sp>
      <p:sp>
        <p:nvSpPr>
          <p:cNvPr id="6" name="Slayt Numarası Yer Tutucusu 5">
            <a:extLst>
              <a:ext uri="{FF2B5EF4-FFF2-40B4-BE49-F238E27FC236}">
                <a16:creationId xmlns:a16="http://schemas.microsoft.com/office/drawing/2014/main" id="{D0C0A91F-CBC9-06C2-2DF0-47AB20616DB3}"/>
              </a:ext>
            </a:extLst>
          </p:cNvPr>
          <p:cNvSpPr>
            <a:spLocks noGrp="1"/>
          </p:cNvSpPr>
          <p:nvPr>
            <p:ph type="sldNum" sz="quarter" idx="12"/>
          </p:nvPr>
        </p:nvSpPr>
        <p:spPr/>
        <p:txBody>
          <a:bodyPr/>
          <a:lstStyle/>
          <a:p>
            <a:fld id="{CC057153-B650-4DEB-B370-79DDCFDCE934}" type="slidenum">
              <a:rPr lang="en-US" dirty="0"/>
              <a:t>10</a:t>
            </a:fld>
            <a:endParaRPr lang="en-US"/>
          </a:p>
        </p:txBody>
      </p:sp>
    </p:spTree>
    <p:extLst>
      <p:ext uri="{BB962C8B-B14F-4D97-AF65-F5344CB8AC3E}">
        <p14:creationId xmlns:p14="http://schemas.microsoft.com/office/powerpoint/2010/main" val="3955846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957263-5A52-F3DD-E28D-B53B08046D9D}"/>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700E7D1-5603-5679-7EDE-A563E2D3C2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73D74206-4465-ABDA-07D6-9170F52C5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Başlık 1">
            <a:extLst>
              <a:ext uri="{FF2B5EF4-FFF2-40B4-BE49-F238E27FC236}">
                <a16:creationId xmlns:a16="http://schemas.microsoft.com/office/drawing/2014/main" id="{BBEF761D-D6CF-0D45-7732-F51C13A6B9A3}"/>
              </a:ext>
            </a:extLst>
          </p:cNvPr>
          <p:cNvSpPr>
            <a:spLocks noGrp="1"/>
          </p:cNvSpPr>
          <p:nvPr>
            <p:ph type="title"/>
          </p:nvPr>
        </p:nvSpPr>
        <p:spPr>
          <a:xfrm>
            <a:off x="1046746" y="586822"/>
            <a:ext cx="3560252" cy="1645920"/>
          </a:xfrm>
        </p:spPr>
        <p:txBody>
          <a:bodyPr>
            <a:normAutofit/>
          </a:bodyPr>
          <a:lstStyle/>
          <a:p>
            <a:r>
              <a:rPr lang="tr-TR" sz="3200">
                <a:solidFill>
                  <a:srgbClr val="00B0F0"/>
                </a:solidFill>
                <a:latin typeface="Arial Nova"/>
                <a:ea typeface="+mn-ea"/>
                <a:cs typeface="Arial"/>
              </a:rPr>
              <a:t>Uygulanan Optimizasyon Teknikleri</a:t>
            </a:r>
          </a:p>
          <a:p>
            <a:endParaRPr lang="tr-TR" sz="3200"/>
          </a:p>
        </p:txBody>
      </p:sp>
      <p:sp>
        <p:nvSpPr>
          <p:cNvPr id="23" name="Rectangle 22">
            <a:extLst>
              <a:ext uri="{FF2B5EF4-FFF2-40B4-BE49-F238E27FC236}">
                <a16:creationId xmlns:a16="http://schemas.microsoft.com/office/drawing/2014/main" id="{FDE5BC59-A7D2-0BC0-27D3-EF2CE69E3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0AB39FDA-106D-6722-67BC-E77034477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İçerik Yer Tutucusu 2">
            <a:extLst>
              <a:ext uri="{FF2B5EF4-FFF2-40B4-BE49-F238E27FC236}">
                <a16:creationId xmlns:a16="http://schemas.microsoft.com/office/drawing/2014/main" id="{C743508B-C349-6E54-392A-5EB339E23581}"/>
              </a:ext>
            </a:extLst>
          </p:cNvPr>
          <p:cNvSpPr>
            <a:spLocks noGrp="1"/>
          </p:cNvSpPr>
          <p:nvPr>
            <p:ph idx="1"/>
          </p:nvPr>
        </p:nvSpPr>
        <p:spPr>
          <a:xfrm>
            <a:off x="5351164" y="586822"/>
            <a:ext cx="6002636" cy="1645920"/>
          </a:xfrm>
        </p:spPr>
        <p:txBody>
          <a:bodyPr vert="horz" lIns="91440" tIns="45720" rIns="91440" bIns="45720" rtlCol="0" anchor="ctr">
            <a:normAutofit/>
          </a:bodyPr>
          <a:lstStyle/>
          <a:p>
            <a:pPr marL="285750" indent="-285750">
              <a:buFont typeface="Arial,Sans-Serif" panose="020B0604020202020204" pitchFamily="34" charset="0"/>
            </a:pPr>
            <a:r>
              <a:rPr lang="tr-TR" sz="1800" err="1">
                <a:latin typeface="Arial Nova"/>
                <a:ea typeface="+mn-lt"/>
                <a:cs typeface="+mn-lt"/>
              </a:rPr>
              <a:t>Baseline</a:t>
            </a:r>
            <a:r>
              <a:rPr lang="tr-TR" sz="1800">
                <a:latin typeface="Arial Nova"/>
                <a:ea typeface="+mn-lt"/>
                <a:cs typeface="+mn-lt"/>
              </a:rPr>
              <a:t> </a:t>
            </a:r>
            <a:r>
              <a:rPr lang="tr-TR" sz="1800" err="1">
                <a:latin typeface="Arial Nova"/>
                <a:ea typeface="+mn-lt"/>
                <a:cs typeface="+mn-lt"/>
              </a:rPr>
              <a:t>Neural</a:t>
            </a:r>
            <a:r>
              <a:rPr lang="tr-TR" sz="1800">
                <a:latin typeface="Arial Nova"/>
                <a:ea typeface="+mn-lt"/>
                <a:cs typeface="+mn-lt"/>
              </a:rPr>
              <a:t> Network</a:t>
            </a:r>
            <a:endParaRPr lang="en-US" sz="1800">
              <a:latin typeface="Arial Nova"/>
              <a:ea typeface="+mn-lt"/>
              <a:cs typeface="+mn-lt"/>
            </a:endParaRPr>
          </a:p>
          <a:p>
            <a:pPr marL="285750" indent="-285750">
              <a:buFont typeface="Arial,Sans-Serif" panose="020B0604020202020204" pitchFamily="34" charset="0"/>
            </a:pPr>
            <a:r>
              <a:rPr lang="tr-TR" sz="1800" err="1">
                <a:latin typeface="Arial Nova"/>
                <a:ea typeface="+mn-lt"/>
                <a:cs typeface="+mn-lt"/>
              </a:rPr>
              <a:t>RandomizedSearchCV</a:t>
            </a:r>
            <a:r>
              <a:rPr lang="tr-TR" sz="1800">
                <a:latin typeface="Arial Nova"/>
                <a:ea typeface="+mn-lt"/>
                <a:cs typeface="+mn-lt"/>
              </a:rPr>
              <a:t> ile </a:t>
            </a:r>
            <a:r>
              <a:rPr lang="tr-TR" sz="1800" err="1">
                <a:latin typeface="Arial Nova"/>
                <a:ea typeface="+mn-lt"/>
                <a:cs typeface="+mn-lt"/>
              </a:rPr>
              <a:t>Hiperparametre</a:t>
            </a:r>
            <a:r>
              <a:rPr lang="tr-TR" sz="1800">
                <a:latin typeface="Arial Nova"/>
                <a:ea typeface="+mn-lt"/>
                <a:cs typeface="+mn-lt"/>
              </a:rPr>
              <a:t> Optimizasyonu</a:t>
            </a:r>
          </a:p>
          <a:p>
            <a:pPr marL="342900" indent="-342900">
              <a:lnSpc>
                <a:spcPct val="110000"/>
              </a:lnSpc>
            </a:pPr>
            <a:endParaRPr lang="tr-TR" sz="1400" b="1"/>
          </a:p>
          <a:p>
            <a:pPr>
              <a:lnSpc>
                <a:spcPct val="110000"/>
              </a:lnSpc>
            </a:pPr>
            <a:endParaRPr lang="tr-TR" sz="1400"/>
          </a:p>
        </p:txBody>
      </p:sp>
      <p:sp>
        <p:nvSpPr>
          <p:cNvPr id="4" name="Veri Yer Tutucusu 3">
            <a:extLst>
              <a:ext uri="{FF2B5EF4-FFF2-40B4-BE49-F238E27FC236}">
                <a16:creationId xmlns:a16="http://schemas.microsoft.com/office/drawing/2014/main" id="{4E7FAB62-BBF1-AF70-F010-3AA5136AD47E}"/>
              </a:ext>
            </a:extLst>
          </p:cNvPr>
          <p:cNvSpPr>
            <a:spLocks noGrp="1"/>
          </p:cNvSpPr>
          <p:nvPr>
            <p:ph type="dt" sz="half" idx="10"/>
          </p:nvPr>
        </p:nvSpPr>
        <p:spPr>
          <a:xfrm>
            <a:off x="838200" y="6356350"/>
            <a:ext cx="2743200" cy="365125"/>
          </a:xfrm>
        </p:spPr>
        <p:txBody>
          <a:bodyPr>
            <a:normAutofit/>
          </a:bodyPr>
          <a:lstStyle/>
          <a:p>
            <a:pPr>
              <a:spcAft>
                <a:spcPts val="600"/>
              </a:spcAft>
            </a:pPr>
            <a:fld id="{55D1F05A-FAB9-4C06-975A-703285EA0E7E}" type="datetime1">
              <a:rPr lang="en-US" sz="1200">
                <a:solidFill>
                  <a:schemeClr val="tx1">
                    <a:lumMod val="50000"/>
                    <a:lumOff val="50000"/>
                  </a:schemeClr>
                </a:solidFill>
              </a:rPr>
              <a:pPr>
                <a:spcAft>
                  <a:spcPts val="600"/>
                </a:spcAft>
              </a:pPr>
              <a:t>11/25/2025</a:t>
            </a:fld>
            <a:endParaRPr lang="en-US" sz="1200">
              <a:solidFill>
                <a:schemeClr val="tx1">
                  <a:lumMod val="50000"/>
                  <a:lumOff val="50000"/>
                </a:schemeClr>
              </a:solidFill>
            </a:endParaRPr>
          </a:p>
        </p:txBody>
      </p:sp>
      <p:sp>
        <p:nvSpPr>
          <p:cNvPr id="5" name="Alt Bilgi Yer Tutucusu 4">
            <a:extLst>
              <a:ext uri="{FF2B5EF4-FFF2-40B4-BE49-F238E27FC236}">
                <a16:creationId xmlns:a16="http://schemas.microsoft.com/office/drawing/2014/main" id="{CCDD28E4-CCFE-CCA1-97E9-2B56A670EEA4}"/>
              </a:ext>
            </a:extLst>
          </p:cNvPr>
          <p:cNvSpPr>
            <a:spLocks noGrp="1"/>
          </p:cNvSpPr>
          <p:nvPr>
            <p:ph type="ftr" sz="quarter" idx="11"/>
          </p:nvPr>
        </p:nvSpPr>
        <p:spPr>
          <a:xfrm>
            <a:off x="4038600" y="6356350"/>
            <a:ext cx="4114800" cy="365125"/>
          </a:xfrm>
        </p:spPr>
        <p:txBody>
          <a:bodyPr>
            <a:normAutofit/>
          </a:bodyPr>
          <a:lstStyle/>
          <a:p>
            <a:pPr algn="ctr">
              <a:lnSpc>
                <a:spcPct val="90000"/>
              </a:lnSpc>
              <a:spcAft>
                <a:spcPts val="600"/>
              </a:spcAft>
            </a:pPr>
            <a:r>
              <a:rPr lang="en-US" sz="700">
                <a:solidFill>
                  <a:schemeClr val="tx1">
                    <a:lumMod val="50000"/>
                    <a:lumOff val="50000"/>
                  </a:schemeClr>
                </a:solidFill>
              </a:rPr>
              <a:t>
              </a:t>
            </a:r>
          </a:p>
        </p:txBody>
      </p:sp>
      <p:sp>
        <p:nvSpPr>
          <p:cNvPr id="6" name="Slayt Numarası Yer Tutucusu 5">
            <a:extLst>
              <a:ext uri="{FF2B5EF4-FFF2-40B4-BE49-F238E27FC236}">
                <a16:creationId xmlns:a16="http://schemas.microsoft.com/office/drawing/2014/main" id="{46EDB05C-1CD7-899F-2C8C-CB7DE9FB71CF}"/>
              </a:ext>
            </a:extLst>
          </p:cNvPr>
          <p:cNvSpPr>
            <a:spLocks noGrp="1"/>
          </p:cNvSpPr>
          <p:nvPr>
            <p:ph type="sldNum" sz="quarter" idx="12"/>
          </p:nvPr>
        </p:nvSpPr>
        <p:spPr>
          <a:xfrm>
            <a:off x="8610600" y="6356350"/>
            <a:ext cx="2743200" cy="365125"/>
          </a:xfrm>
        </p:spPr>
        <p:txBody>
          <a:bodyPr>
            <a:normAutofit/>
          </a:bodyPr>
          <a:lstStyle/>
          <a:p>
            <a:pPr>
              <a:spcAft>
                <a:spcPts val="600"/>
              </a:spcAft>
            </a:pPr>
            <a:fld id="{CC057153-B650-4DEB-B370-79DDCFDCE934}" type="slidenum">
              <a:rPr lang="en-US" sz="1200">
                <a:solidFill>
                  <a:schemeClr val="tx1">
                    <a:lumMod val="50000"/>
                    <a:lumOff val="50000"/>
                  </a:schemeClr>
                </a:solidFill>
              </a:rPr>
              <a:pPr>
                <a:spcAft>
                  <a:spcPts val="600"/>
                </a:spcAft>
              </a:pPr>
              <a:t>11</a:t>
            </a:fld>
            <a:endParaRPr lang="en-US" sz="1200">
              <a:solidFill>
                <a:schemeClr val="tx1">
                  <a:lumMod val="50000"/>
                  <a:lumOff val="50000"/>
                </a:schemeClr>
              </a:solidFill>
            </a:endParaRPr>
          </a:p>
        </p:txBody>
      </p:sp>
      <p:sp>
        <p:nvSpPr>
          <p:cNvPr id="15" name="Metin kutusu 14">
            <a:extLst>
              <a:ext uri="{FF2B5EF4-FFF2-40B4-BE49-F238E27FC236}">
                <a16:creationId xmlns:a16="http://schemas.microsoft.com/office/drawing/2014/main" id="{8A8F4CB2-3E0C-43B4-2EF1-408288CA7191}"/>
              </a:ext>
            </a:extLst>
          </p:cNvPr>
          <p:cNvSpPr txBox="1"/>
          <p:nvPr/>
        </p:nvSpPr>
        <p:spPr>
          <a:xfrm>
            <a:off x="2827867" y="2633133"/>
            <a:ext cx="698847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Nova"/>
                <a:ea typeface="+mn-lt"/>
                <a:cs typeface="+mn-lt"/>
              </a:rPr>
              <a:t>En İyi Neural Network </a:t>
            </a:r>
            <a:r>
              <a:rPr lang="en-US" err="1">
                <a:latin typeface="Arial Nova"/>
                <a:ea typeface="+mn-lt"/>
                <a:cs typeface="+mn-lt"/>
              </a:rPr>
              <a:t>Modeli</a:t>
            </a:r>
            <a:r>
              <a:rPr lang="en-US">
                <a:latin typeface="Arial Nova"/>
                <a:ea typeface="+mn-lt"/>
                <a:cs typeface="+mn-lt"/>
              </a:rPr>
              <a:t>: </a:t>
            </a:r>
            <a:r>
              <a:rPr lang="en-US" err="1">
                <a:latin typeface="Arial Nova"/>
                <a:ea typeface="+mn-lt"/>
                <a:cs typeface="+mn-lt"/>
              </a:rPr>
              <a:t>RandomizedSearch</a:t>
            </a:r>
            <a:r>
              <a:rPr lang="en-US">
                <a:latin typeface="Arial Nova"/>
                <a:ea typeface="+mn-lt"/>
                <a:cs typeface="+mn-lt"/>
              </a:rPr>
              <a:t> + K-Fold (</a:t>
            </a:r>
            <a:r>
              <a:rPr lang="en-US" err="1">
                <a:latin typeface="Arial Nova"/>
                <a:ea typeface="+mn-lt"/>
                <a:cs typeface="+mn-lt"/>
              </a:rPr>
              <a:t>Eşik</a:t>
            </a:r>
            <a:r>
              <a:rPr lang="en-US">
                <a:latin typeface="Arial Nova"/>
                <a:ea typeface="+mn-lt"/>
                <a:cs typeface="+mn-lt"/>
              </a:rPr>
              <a:t> = 0.08)</a:t>
            </a:r>
          </a:p>
          <a:p>
            <a:pPr algn="ctr"/>
            <a:endParaRPr lang="tr-TR" sz="2000"/>
          </a:p>
        </p:txBody>
      </p:sp>
      <p:graphicFrame>
        <p:nvGraphicFramePr>
          <p:cNvPr id="8" name="Tablo 7">
            <a:extLst>
              <a:ext uri="{FF2B5EF4-FFF2-40B4-BE49-F238E27FC236}">
                <a16:creationId xmlns:a16="http://schemas.microsoft.com/office/drawing/2014/main" id="{68F4A0FA-4AE9-8CEC-E211-826F00D9AAD0}"/>
              </a:ext>
            </a:extLst>
          </p:cNvPr>
          <p:cNvGraphicFramePr>
            <a:graphicFrameLocks noGrp="1"/>
          </p:cNvGraphicFramePr>
          <p:nvPr>
            <p:extLst>
              <p:ext uri="{D42A27DB-BD31-4B8C-83A1-F6EECF244321}">
                <p14:modId xmlns:p14="http://schemas.microsoft.com/office/powerpoint/2010/main" val="2606143113"/>
              </p:ext>
            </p:extLst>
          </p:nvPr>
        </p:nvGraphicFramePr>
        <p:xfrm>
          <a:off x="1859071" y="3343823"/>
          <a:ext cx="8929509" cy="2030848"/>
        </p:xfrm>
        <a:graphic>
          <a:graphicData uri="http://schemas.openxmlformats.org/drawingml/2006/table">
            <a:tbl>
              <a:tblPr firstRow="1" firstCol="1" bandRow="1">
                <a:tableStyleId>{5C22544A-7EE6-4342-B048-85BDC9FD1C3A}</a:tableStyleId>
              </a:tblPr>
              <a:tblGrid>
                <a:gridCol w="2976503">
                  <a:extLst>
                    <a:ext uri="{9D8B030D-6E8A-4147-A177-3AD203B41FA5}">
                      <a16:colId xmlns:a16="http://schemas.microsoft.com/office/drawing/2014/main" val="4138899533"/>
                    </a:ext>
                  </a:extLst>
                </a:gridCol>
                <a:gridCol w="2976503">
                  <a:extLst>
                    <a:ext uri="{9D8B030D-6E8A-4147-A177-3AD203B41FA5}">
                      <a16:colId xmlns:a16="http://schemas.microsoft.com/office/drawing/2014/main" val="1137695184"/>
                    </a:ext>
                  </a:extLst>
                </a:gridCol>
                <a:gridCol w="2976503">
                  <a:extLst>
                    <a:ext uri="{9D8B030D-6E8A-4147-A177-3AD203B41FA5}">
                      <a16:colId xmlns:a16="http://schemas.microsoft.com/office/drawing/2014/main" val="1470300567"/>
                    </a:ext>
                  </a:extLst>
                </a:gridCol>
              </a:tblGrid>
              <a:tr h="870364">
                <a:tc>
                  <a:txBody>
                    <a:bodyPr/>
                    <a:lstStyle/>
                    <a:p>
                      <a:pPr algn="ctr">
                        <a:buNone/>
                      </a:pPr>
                      <a:endParaRPr lang="tr-TR">
                        <a:effectLst/>
                      </a:endParaRP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a:buNone/>
                      </a:pPr>
                      <a:r>
                        <a:rPr lang="tr-TR" sz="1800" kern="1200" err="1">
                          <a:solidFill>
                            <a:srgbClr val="000000"/>
                          </a:solidFill>
                          <a:latin typeface="Arial Nova"/>
                          <a:ea typeface="+mn-lt"/>
                          <a:cs typeface="+mn-lt"/>
                        </a:rPr>
                        <a:t>Predicted</a:t>
                      </a:r>
                      <a:r>
                        <a:rPr lang="tr-TR" sz="1800" kern="1200">
                          <a:solidFill>
                            <a:srgbClr val="000000"/>
                          </a:solidFill>
                          <a:latin typeface="Arial Nova"/>
                          <a:ea typeface="+mn-lt"/>
                          <a:cs typeface="+mn-lt"/>
                        </a:rPr>
                        <a:t>: </a:t>
                      </a:r>
                      <a:r>
                        <a:rPr lang="tr-TR" sz="1800" kern="1200" err="1">
                          <a:solidFill>
                            <a:srgbClr val="000000"/>
                          </a:solidFill>
                          <a:latin typeface="Arial Nova"/>
                          <a:ea typeface="+mn-lt"/>
                          <a:cs typeface="+mn-lt"/>
                        </a:rPr>
                        <a:t>Alive</a:t>
                      </a: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a:buNone/>
                      </a:pPr>
                      <a:r>
                        <a:rPr lang="tr-TR" sz="1800" kern="1200" err="1">
                          <a:solidFill>
                            <a:srgbClr val="000000"/>
                          </a:solidFill>
                          <a:latin typeface="Arial Nova"/>
                          <a:ea typeface="+mn-lt"/>
                          <a:cs typeface="+mn-lt"/>
                        </a:rPr>
                        <a:t>Predicted</a:t>
                      </a:r>
                      <a:r>
                        <a:rPr lang="tr-TR" sz="1800" kern="1200">
                          <a:solidFill>
                            <a:srgbClr val="000000"/>
                          </a:solidFill>
                          <a:latin typeface="Arial Nova"/>
                          <a:ea typeface="+mn-lt"/>
                          <a:cs typeface="+mn-lt"/>
                        </a:rPr>
                        <a:t>: </a:t>
                      </a:r>
                      <a:r>
                        <a:rPr lang="tr-TR" sz="1800" kern="1200" err="1">
                          <a:solidFill>
                            <a:srgbClr val="000000"/>
                          </a:solidFill>
                          <a:latin typeface="Arial Nova"/>
                          <a:ea typeface="+mn-lt"/>
                          <a:cs typeface="+mn-lt"/>
                        </a:rPr>
                        <a:t>Dead</a:t>
                      </a: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2755236249"/>
                  </a:ext>
                </a:extLst>
              </a:tr>
              <a:tr h="580242">
                <a:tc>
                  <a:txBody>
                    <a:bodyPr/>
                    <a:lstStyle/>
                    <a:p>
                      <a:pPr>
                        <a:buNone/>
                      </a:pPr>
                      <a:r>
                        <a:rPr lang="tr-TR" sz="1800" kern="1200" err="1">
                          <a:solidFill>
                            <a:srgbClr val="000000"/>
                          </a:solidFill>
                          <a:latin typeface="Arial Nova"/>
                          <a:ea typeface="+mn-lt"/>
                          <a:cs typeface="+mn-lt"/>
                        </a:rPr>
                        <a:t>Actual</a:t>
                      </a:r>
                      <a:r>
                        <a:rPr lang="tr-TR" sz="1800" kern="1200">
                          <a:solidFill>
                            <a:srgbClr val="000000"/>
                          </a:solidFill>
                          <a:latin typeface="Arial Nova"/>
                          <a:ea typeface="+mn-lt"/>
                          <a:cs typeface="+mn-lt"/>
                        </a:rPr>
                        <a:t>: </a:t>
                      </a:r>
                      <a:r>
                        <a:rPr lang="tr-TR" sz="1800" kern="1200" err="1">
                          <a:solidFill>
                            <a:srgbClr val="000000"/>
                          </a:solidFill>
                          <a:latin typeface="Arial Nova"/>
                          <a:ea typeface="+mn-lt"/>
                          <a:cs typeface="+mn-lt"/>
                        </a:rPr>
                        <a:t>Alive</a:t>
                      </a: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a:buNone/>
                      </a:pPr>
                      <a:r>
                        <a:rPr lang="tr-TR" sz="1800" kern="1200">
                          <a:solidFill>
                            <a:schemeClr val="tx1"/>
                          </a:solidFill>
                          <a:latin typeface="Arial Nova"/>
                          <a:ea typeface="+mn-lt"/>
                          <a:cs typeface="+mn-lt"/>
                        </a:rPr>
                        <a:t>78 (TN)</a:t>
                      </a: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AD47"/>
                    </a:solidFill>
                  </a:tcPr>
                </a:tc>
                <a:tc>
                  <a:txBody>
                    <a:bodyPr/>
                    <a:lstStyle/>
                    <a:p>
                      <a:pPr algn="ctr">
                        <a:buNone/>
                      </a:pPr>
                      <a:r>
                        <a:rPr lang="tr-TR" sz="1800" kern="1200">
                          <a:solidFill>
                            <a:schemeClr val="tx1"/>
                          </a:solidFill>
                          <a:latin typeface="Arial Nova"/>
                          <a:ea typeface="+mn-lt"/>
                          <a:cs typeface="+mn-lt"/>
                        </a:rPr>
                        <a:t>34 (FP)</a:t>
                      </a: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668547601"/>
                  </a:ext>
                </a:extLst>
              </a:tr>
              <a:tr h="580242">
                <a:tc>
                  <a:txBody>
                    <a:bodyPr/>
                    <a:lstStyle/>
                    <a:p>
                      <a:pPr>
                        <a:buNone/>
                      </a:pPr>
                      <a:r>
                        <a:rPr lang="tr-TR" sz="1800" kern="1200" err="1">
                          <a:solidFill>
                            <a:srgbClr val="000000"/>
                          </a:solidFill>
                          <a:latin typeface="Arial Nova"/>
                          <a:ea typeface="+mn-lt"/>
                          <a:cs typeface="+mn-lt"/>
                        </a:rPr>
                        <a:t>Actual</a:t>
                      </a:r>
                      <a:r>
                        <a:rPr lang="tr-TR" sz="1800" kern="1200">
                          <a:solidFill>
                            <a:srgbClr val="000000"/>
                          </a:solidFill>
                          <a:latin typeface="Arial Nova"/>
                          <a:ea typeface="+mn-lt"/>
                          <a:cs typeface="+mn-lt"/>
                        </a:rPr>
                        <a:t>: </a:t>
                      </a:r>
                      <a:r>
                        <a:rPr lang="tr-TR" sz="1800" kern="1200" err="1">
                          <a:solidFill>
                            <a:srgbClr val="000000"/>
                          </a:solidFill>
                          <a:latin typeface="Arial Nova"/>
                          <a:ea typeface="+mn-lt"/>
                          <a:cs typeface="+mn-lt"/>
                        </a:rPr>
                        <a:t>Dead</a:t>
                      </a: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a:buNone/>
                      </a:pPr>
                      <a:r>
                        <a:rPr lang="tr-TR" sz="1800" kern="1200">
                          <a:solidFill>
                            <a:schemeClr val="tx1"/>
                          </a:solidFill>
                          <a:latin typeface="Arial Nova"/>
                          <a:ea typeface="+mn-lt"/>
                          <a:cs typeface="+mn-lt"/>
                        </a:rPr>
                        <a:t>7 (FN)</a:t>
                      </a: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ctr">
                        <a:buNone/>
                      </a:pPr>
                      <a:r>
                        <a:rPr lang="tr-TR" sz="1800" kern="1200">
                          <a:solidFill>
                            <a:schemeClr val="tx1"/>
                          </a:solidFill>
                          <a:latin typeface="Arial Nova"/>
                          <a:ea typeface="+mn-lt"/>
                          <a:cs typeface="+mn-lt"/>
                        </a:rPr>
                        <a:t>3 (TP)</a:t>
                      </a:r>
                    </a:p>
                  </a:txBody>
                  <a:tcPr marL="6350" marR="6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1356969261"/>
                  </a:ext>
                </a:extLst>
              </a:tr>
            </a:tbl>
          </a:graphicData>
        </a:graphic>
      </p:graphicFrame>
    </p:spTree>
    <p:extLst>
      <p:ext uri="{BB962C8B-B14F-4D97-AF65-F5344CB8AC3E}">
        <p14:creationId xmlns:p14="http://schemas.microsoft.com/office/powerpoint/2010/main" val="2976202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FC4E9-C417-E66E-16CB-315DA5A0987D}"/>
              </a:ext>
            </a:extLst>
          </p:cNvPr>
          <p:cNvSpPr>
            <a:spLocks noGrp="1"/>
          </p:cNvSpPr>
          <p:nvPr>
            <p:ph type="title"/>
          </p:nvPr>
        </p:nvSpPr>
        <p:spPr/>
        <p:txBody>
          <a:bodyPr/>
          <a:lstStyle/>
          <a:p>
            <a:r>
              <a:rPr lang="en-US"/>
              <a:t>                       </a:t>
            </a:r>
            <a:r>
              <a:rPr lang="en-US">
                <a:ea typeface="+mj-lt"/>
                <a:cs typeface="+mj-lt"/>
              </a:rPr>
              <a:t>   </a:t>
            </a:r>
            <a:r>
              <a:rPr lang="en-US" sz="3200">
                <a:solidFill>
                  <a:srgbClr val="00B0F0"/>
                </a:solidFill>
                <a:latin typeface="Arial Nova"/>
                <a:ea typeface="+mn-ea"/>
                <a:cs typeface="Arial"/>
              </a:rPr>
              <a:t>     Model Tuning</a:t>
            </a:r>
          </a:p>
        </p:txBody>
      </p:sp>
      <p:sp>
        <p:nvSpPr>
          <p:cNvPr id="3" name="Content Placeholder 2">
            <a:extLst>
              <a:ext uri="{FF2B5EF4-FFF2-40B4-BE49-F238E27FC236}">
                <a16:creationId xmlns:a16="http://schemas.microsoft.com/office/drawing/2014/main" id="{CCFE64D9-6F23-9ED7-9FC1-884B545DCA37}"/>
              </a:ext>
            </a:extLst>
          </p:cNvPr>
          <p:cNvSpPr>
            <a:spLocks noGrp="1"/>
          </p:cNvSpPr>
          <p:nvPr>
            <p:ph idx="1"/>
          </p:nvPr>
        </p:nvSpPr>
        <p:spPr/>
        <p:txBody>
          <a:bodyPr vert="horz" lIns="91440" tIns="45720" rIns="91440" bIns="45720" rtlCol="0" anchor="t">
            <a:normAutofit/>
          </a:bodyPr>
          <a:lstStyle/>
          <a:p>
            <a:pPr marL="0" indent="0">
              <a:buNone/>
            </a:pPr>
            <a:r>
              <a:rPr lang="en-US" sz="3200">
                <a:solidFill>
                  <a:srgbClr val="00B0F0"/>
                </a:solidFill>
                <a:latin typeface="Arial Nova"/>
                <a:cs typeface="Arial"/>
              </a:rPr>
              <a:t>Randomized Search CV </a:t>
            </a:r>
          </a:p>
          <a:p>
            <a:pPr>
              <a:buFont typeface="Calibri" panose="020B0604020202020204" pitchFamily="34" charset="0"/>
              <a:buChar char="-"/>
            </a:pPr>
            <a:r>
              <a:rPr lang="en-US" sz="1800">
                <a:latin typeface="Arial Nova"/>
                <a:ea typeface="+mn-lt"/>
                <a:cs typeface="+mn-lt"/>
              </a:rPr>
              <a:t>RSCV, </a:t>
            </a:r>
            <a:r>
              <a:rPr lang="en-US" sz="1800" err="1">
                <a:latin typeface="Arial Nova"/>
                <a:ea typeface="+mn-lt"/>
                <a:cs typeface="+mn-lt"/>
              </a:rPr>
              <a:t>bir</a:t>
            </a:r>
            <a:r>
              <a:rPr lang="en-US" sz="1800">
                <a:latin typeface="Arial Nova"/>
                <a:ea typeface="+mn-lt"/>
                <a:cs typeface="+mn-lt"/>
              </a:rPr>
              <a:t> </a:t>
            </a:r>
            <a:r>
              <a:rPr lang="en-US" sz="1800" err="1">
                <a:latin typeface="Arial Nova"/>
                <a:ea typeface="+mn-lt"/>
                <a:cs typeface="+mn-lt"/>
              </a:rPr>
              <a:t>makine</a:t>
            </a:r>
            <a:r>
              <a:rPr lang="en-US" sz="1800">
                <a:latin typeface="Arial Nova"/>
                <a:ea typeface="+mn-lt"/>
                <a:cs typeface="+mn-lt"/>
              </a:rPr>
              <a:t> </a:t>
            </a:r>
            <a:r>
              <a:rPr lang="en-US" sz="1800" err="1">
                <a:latin typeface="Arial Nova"/>
                <a:ea typeface="+mn-lt"/>
                <a:cs typeface="+mn-lt"/>
              </a:rPr>
              <a:t>öğrenimi</a:t>
            </a:r>
            <a:r>
              <a:rPr lang="en-US" sz="1800">
                <a:latin typeface="Arial Nova"/>
                <a:ea typeface="+mn-lt"/>
                <a:cs typeface="+mn-lt"/>
              </a:rPr>
              <a:t> </a:t>
            </a:r>
            <a:r>
              <a:rPr lang="en-US" sz="1800" err="1">
                <a:latin typeface="Arial Nova"/>
                <a:ea typeface="+mn-lt"/>
                <a:cs typeface="+mn-lt"/>
              </a:rPr>
              <a:t>modelinin</a:t>
            </a:r>
            <a:r>
              <a:rPr lang="en-US" sz="1800">
                <a:latin typeface="Arial Nova"/>
                <a:ea typeface="+mn-lt"/>
                <a:cs typeface="+mn-lt"/>
              </a:rPr>
              <a:t> </a:t>
            </a:r>
            <a:r>
              <a:rPr lang="en-US" sz="1800" err="1">
                <a:latin typeface="Arial Nova"/>
                <a:ea typeface="+mn-lt"/>
                <a:cs typeface="+mn-lt"/>
              </a:rPr>
              <a:t>hiperparametrelerinin</a:t>
            </a:r>
            <a:r>
              <a:rPr lang="en-US" sz="1800">
                <a:latin typeface="Arial Nova"/>
                <a:ea typeface="+mn-lt"/>
                <a:cs typeface="+mn-lt"/>
              </a:rPr>
              <a:t> (</a:t>
            </a:r>
            <a:r>
              <a:rPr lang="en-US" sz="1800" err="1">
                <a:latin typeface="Arial Nova"/>
                <a:ea typeface="+mn-lt"/>
                <a:cs typeface="+mn-lt"/>
              </a:rPr>
              <a:t>örneğin</a:t>
            </a:r>
            <a:r>
              <a:rPr lang="en-US" sz="1800">
                <a:latin typeface="Arial Nova"/>
                <a:ea typeface="+mn-lt"/>
                <a:cs typeface="+mn-lt"/>
              </a:rPr>
              <a:t>, </a:t>
            </a:r>
            <a:r>
              <a:rPr lang="en-US" sz="1800" err="1">
                <a:latin typeface="Arial Nova"/>
                <a:ea typeface="+mn-lt"/>
                <a:cs typeface="+mn-lt"/>
              </a:rPr>
              <a:t>n_estimators</a:t>
            </a:r>
            <a:r>
              <a:rPr lang="en-US" sz="1800">
                <a:latin typeface="Arial Nova"/>
                <a:ea typeface="+mn-lt"/>
                <a:cs typeface="+mn-lt"/>
              </a:rPr>
              <a:t>, </a:t>
            </a:r>
            <a:r>
              <a:rPr lang="en-US" sz="1800" err="1">
                <a:latin typeface="Arial Nova"/>
                <a:ea typeface="+mn-lt"/>
                <a:cs typeface="+mn-lt"/>
              </a:rPr>
              <a:t>max_depth</a:t>
            </a:r>
            <a:r>
              <a:rPr lang="en-US" sz="1800">
                <a:latin typeface="Arial Nova"/>
                <a:ea typeface="+mn-lt"/>
                <a:cs typeface="+mn-lt"/>
              </a:rPr>
              <a:t>) </a:t>
            </a:r>
            <a:r>
              <a:rPr lang="en-US" sz="1800" err="1">
                <a:latin typeface="Arial Nova"/>
                <a:ea typeface="+mn-lt"/>
                <a:cs typeface="+mn-lt"/>
              </a:rPr>
              <a:t>en</a:t>
            </a:r>
            <a:r>
              <a:rPr lang="en-US" sz="1800">
                <a:latin typeface="Arial Nova"/>
                <a:ea typeface="+mn-lt"/>
                <a:cs typeface="+mn-lt"/>
              </a:rPr>
              <a:t> iyi </a:t>
            </a:r>
            <a:r>
              <a:rPr lang="en-US" sz="1800" err="1">
                <a:latin typeface="Arial Nova"/>
                <a:ea typeface="+mn-lt"/>
                <a:cs typeface="+mn-lt"/>
              </a:rPr>
              <a:t>kombinasyonunu</a:t>
            </a:r>
            <a:r>
              <a:rPr lang="en-US" sz="1800">
                <a:latin typeface="Arial Nova"/>
                <a:ea typeface="+mn-lt"/>
                <a:cs typeface="+mn-lt"/>
              </a:rPr>
              <a:t> </a:t>
            </a:r>
            <a:r>
              <a:rPr lang="en-US" sz="1800" err="1">
                <a:latin typeface="Arial Nova"/>
                <a:ea typeface="+mn-lt"/>
                <a:cs typeface="+mn-lt"/>
              </a:rPr>
              <a:t>bulmak</a:t>
            </a:r>
            <a:r>
              <a:rPr lang="en-US" sz="1800">
                <a:latin typeface="Arial Nova"/>
                <a:ea typeface="+mn-lt"/>
                <a:cs typeface="+mn-lt"/>
              </a:rPr>
              <a:t> </a:t>
            </a:r>
            <a:r>
              <a:rPr lang="en-US" sz="1800" err="1">
                <a:latin typeface="Arial Nova"/>
                <a:ea typeface="+mn-lt"/>
                <a:cs typeface="+mn-lt"/>
              </a:rPr>
              <a:t>için</a:t>
            </a:r>
            <a:r>
              <a:rPr lang="en-US" sz="1800">
                <a:latin typeface="Arial Nova"/>
                <a:ea typeface="+mn-lt"/>
                <a:cs typeface="+mn-lt"/>
              </a:rPr>
              <a:t> </a:t>
            </a:r>
            <a:r>
              <a:rPr lang="en-US" sz="1800" err="1">
                <a:latin typeface="Arial Nova"/>
                <a:ea typeface="+mn-lt"/>
                <a:cs typeface="+mn-lt"/>
              </a:rPr>
              <a:t>kullanılan</a:t>
            </a:r>
            <a:r>
              <a:rPr lang="en-US" sz="1800">
                <a:latin typeface="Arial Nova"/>
                <a:ea typeface="+mn-lt"/>
                <a:cs typeface="+mn-lt"/>
              </a:rPr>
              <a:t> </a:t>
            </a:r>
            <a:r>
              <a:rPr lang="en-US" sz="1800" err="1">
                <a:latin typeface="Arial Nova"/>
                <a:ea typeface="+mn-lt"/>
                <a:cs typeface="+mn-lt"/>
              </a:rPr>
              <a:t>bir</a:t>
            </a:r>
            <a:r>
              <a:rPr lang="en-US" sz="1800">
                <a:latin typeface="Arial Nova"/>
                <a:ea typeface="+mn-lt"/>
                <a:cs typeface="+mn-lt"/>
              </a:rPr>
              <a:t> </a:t>
            </a:r>
            <a:r>
              <a:rPr lang="en-US" sz="1800" err="1">
                <a:latin typeface="Arial Nova"/>
                <a:ea typeface="+mn-lt"/>
                <a:cs typeface="+mn-lt"/>
              </a:rPr>
              <a:t>optimizasyon</a:t>
            </a:r>
            <a:r>
              <a:rPr lang="en-US" sz="1800">
                <a:latin typeface="Arial Nova"/>
                <a:ea typeface="+mn-lt"/>
                <a:cs typeface="+mn-lt"/>
              </a:rPr>
              <a:t> </a:t>
            </a:r>
            <a:r>
              <a:rPr lang="en-US" sz="1800" err="1">
                <a:latin typeface="Arial Nova"/>
                <a:ea typeface="+mn-lt"/>
                <a:cs typeface="+mn-lt"/>
              </a:rPr>
              <a:t>tekniğidir</a:t>
            </a:r>
            <a:r>
              <a:rPr lang="en-US" sz="1800">
                <a:latin typeface="Arial Nova"/>
                <a:ea typeface="+mn-lt"/>
                <a:cs typeface="+mn-lt"/>
              </a:rPr>
              <a:t>. </a:t>
            </a:r>
            <a:r>
              <a:rPr lang="en-US" sz="1800" err="1">
                <a:latin typeface="Arial Nova"/>
                <a:ea typeface="+mn-lt"/>
                <a:cs typeface="+mn-lt"/>
              </a:rPr>
              <a:t>Denenecek</a:t>
            </a:r>
            <a:r>
              <a:rPr lang="en-US" sz="1800">
                <a:latin typeface="Arial Nova"/>
                <a:ea typeface="+mn-lt"/>
                <a:cs typeface="+mn-lt"/>
              </a:rPr>
              <a:t> </a:t>
            </a:r>
            <a:r>
              <a:rPr lang="en-US" sz="1800" err="1">
                <a:latin typeface="Arial Nova"/>
                <a:ea typeface="+mn-lt"/>
                <a:cs typeface="+mn-lt"/>
              </a:rPr>
              <a:t>parametre</a:t>
            </a:r>
            <a:r>
              <a:rPr lang="en-US" sz="1800">
                <a:latin typeface="Arial Nova"/>
                <a:ea typeface="+mn-lt"/>
                <a:cs typeface="+mn-lt"/>
              </a:rPr>
              <a:t> </a:t>
            </a:r>
            <a:r>
              <a:rPr lang="en-US" sz="1800" err="1">
                <a:latin typeface="Arial Nova"/>
                <a:ea typeface="+mn-lt"/>
                <a:cs typeface="+mn-lt"/>
              </a:rPr>
              <a:t>aralıkları</a:t>
            </a:r>
            <a:r>
              <a:rPr lang="en-US" sz="1800">
                <a:latin typeface="Arial Nova"/>
                <a:ea typeface="+mn-lt"/>
                <a:cs typeface="+mn-lt"/>
              </a:rPr>
              <a:t> </a:t>
            </a:r>
            <a:r>
              <a:rPr lang="en-US" sz="1800" err="1">
                <a:latin typeface="Arial Nova"/>
                <a:ea typeface="+mn-lt"/>
                <a:cs typeface="+mn-lt"/>
              </a:rPr>
              <a:t>içinden</a:t>
            </a:r>
            <a:r>
              <a:rPr lang="en-US" sz="1800">
                <a:latin typeface="Arial Nova"/>
                <a:ea typeface="+mn-lt"/>
                <a:cs typeface="+mn-lt"/>
              </a:rPr>
              <a:t> </a:t>
            </a:r>
            <a:r>
              <a:rPr lang="en-US" sz="1800" err="1">
                <a:latin typeface="Arial Nova"/>
                <a:ea typeface="+mn-lt"/>
                <a:cs typeface="+mn-lt"/>
              </a:rPr>
              <a:t>rastgele</a:t>
            </a:r>
            <a:r>
              <a:rPr lang="en-US" sz="1800">
                <a:latin typeface="Arial Nova"/>
                <a:ea typeface="+mn-lt"/>
                <a:cs typeface="+mn-lt"/>
              </a:rPr>
              <a:t> </a:t>
            </a:r>
            <a:r>
              <a:rPr lang="en-US" sz="1800" err="1">
                <a:latin typeface="Arial Nova"/>
                <a:ea typeface="+mn-lt"/>
                <a:cs typeface="+mn-lt"/>
              </a:rPr>
              <a:t>seçim</a:t>
            </a:r>
            <a:r>
              <a:rPr lang="en-US" sz="1800">
                <a:latin typeface="Arial Nova"/>
                <a:ea typeface="+mn-lt"/>
                <a:cs typeface="+mn-lt"/>
              </a:rPr>
              <a:t> </a:t>
            </a:r>
            <a:r>
              <a:rPr lang="en-US" sz="1800" err="1">
                <a:latin typeface="Arial Nova"/>
                <a:ea typeface="+mn-lt"/>
                <a:cs typeface="+mn-lt"/>
              </a:rPr>
              <a:t>yaparak</a:t>
            </a:r>
            <a:r>
              <a:rPr lang="en-US" sz="1800">
                <a:latin typeface="Arial Nova"/>
                <a:ea typeface="+mn-lt"/>
                <a:cs typeface="+mn-lt"/>
              </a:rPr>
              <a:t>, </a:t>
            </a:r>
            <a:r>
              <a:rPr lang="en-US" sz="1800" err="1">
                <a:latin typeface="Arial Nova"/>
                <a:ea typeface="+mn-lt"/>
                <a:cs typeface="+mn-lt"/>
              </a:rPr>
              <a:t>tüm</a:t>
            </a:r>
            <a:r>
              <a:rPr lang="en-US" sz="1800">
                <a:latin typeface="Arial Nova"/>
                <a:ea typeface="+mn-lt"/>
                <a:cs typeface="+mn-lt"/>
              </a:rPr>
              <a:t> </a:t>
            </a:r>
            <a:r>
              <a:rPr lang="en-US" sz="1800" err="1">
                <a:latin typeface="Arial Nova"/>
                <a:ea typeface="+mn-lt"/>
                <a:cs typeface="+mn-lt"/>
              </a:rPr>
              <a:t>olası</a:t>
            </a:r>
            <a:r>
              <a:rPr lang="en-US" sz="1800">
                <a:latin typeface="Arial Nova"/>
                <a:ea typeface="+mn-lt"/>
                <a:cs typeface="+mn-lt"/>
              </a:rPr>
              <a:t> </a:t>
            </a:r>
            <a:r>
              <a:rPr lang="en-US" sz="1800" err="1">
                <a:latin typeface="Arial Nova"/>
                <a:ea typeface="+mn-lt"/>
                <a:cs typeface="+mn-lt"/>
              </a:rPr>
              <a:t>kombinasyonları</a:t>
            </a:r>
            <a:r>
              <a:rPr lang="en-US" sz="1800">
                <a:latin typeface="Arial Nova"/>
                <a:ea typeface="+mn-lt"/>
                <a:cs typeface="+mn-lt"/>
              </a:rPr>
              <a:t> </a:t>
            </a:r>
            <a:r>
              <a:rPr lang="en-US" sz="1800" err="1">
                <a:latin typeface="Arial Nova"/>
                <a:ea typeface="+mn-lt"/>
                <a:cs typeface="+mn-lt"/>
              </a:rPr>
              <a:t>denemeye</a:t>
            </a:r>
            <a:r>
              <a:rPr lang="en-US" sz="1800">
                <a:latin typeface="Arial Nova"/>
                <a:ea typeface="+mn-lt"/>
                <a:cs typeface="+mn-lt"/>
              </a:rPr>
              <a:t> </a:t>
            </a:r>
            <a:r>
              <a:rPr lang="en-US" sz="1800" err="1">
                <a:latin typeface="Arial Nova"/>
                <a:ea typeface="+mn-lt"/>
                <a:cs typeface="+mn-lt"/>
              </a:rPr>
              <a:t>kıyasla</a:t>
            </a:r>
            <a:r>
              <a:rPr lang="en-US" sz="1800">
                <a:latin typeface="Arial Nova"/>
                <a:ea typeface="+mn-lt"/>
                <a:cs typeface="+mn-lt"/>
              </a:rPr>
              <a:t> (Grid Search) </a:t>
            </a:r>
            <a:r>
              <a:rPr lang="en-US" sz="1800" err="1">
                <a:latin typeface="Arial Nova"/>
                <a:ea typeface="+mn-lt"/>
                <a:cs typeface="+mn-lt"/>
              </a:rPr>
              <a:t>zamandan</a:t>
            </a:r>
            <a:r>
              <a:rPr lang="en-US" sz="1800">
                <a:latin typeface="Arial Nova"/>
                <a:ea typeface="+mn-lt"/>
                <a:cs typeface="+mn-lt"/>
              </a:rPr>
              <a:t> </a:t>
            </a:r>
            <a:r>
              <a:rPr lang="en-US" sz="1800" err="1">
                <a:latin typeface="Arial Nova"/>
                <a:ea typeface="+mn-lt"/>
                <a:cs typeface="+mn-lt"/>
              </a:rPr>
              <a:t>tasarruf</a:t>
            </a:r>
            <a:r>
              <a:rPr lang="en-US" sz="1800">
                <a:latin typeface="Arial Nova"/>
                <a:ea typeface="+mn-lt"/>
                <a:cs typeface="+mn-lt"/>
              </a:rPr>
              <a:t> </a:t>
            </a:r>
            <a:r>
              <a:rPr lang="en-US" sz="1800" err="1">
                <a:latin typeface="Arial Nova"/>
                <a:ea typeface="+mn-lt"/>
                <a:cs typeface="+mn-lt"/>
              </a:rPr>
              <a:t>sağlar</a:t>
            </a:r>
            <a:r>
              <a:rPr lang="en-US" sz="1800">
                <a:latin typeface="Arial Nova"/>
                <a:ea typeface="+mn-lt"/>
                <a:cs typeface="+mn-lt"/>
              </a:rPr>
              <a:t>.</a:t>
            </a:r>
          </a:p>
          <a:p>
            <a:pPr>
              <a:buFont typeface="Calibri" panose="020B0604020202020204" pitchFamily="34" charset="0"/>
              <a:buChar char="-"/>
            </a:pPr>
            <a:r>
              <a:rPr lang="en-US" sz="1800">
                <a:latin typeface="Arial Nova"/>
                <a:ea typeface="+mn-lt"/>
                <a:cs typeface="+mn-lt"/>
              </a:rPr>
              <a:t>SMOTE </a:t>
            </a:r>
            <a:r>
              <a:rPr lang="en-US" sz="1800" err="1">
                <a:latin typeface="Arial Nova"/>
                <a:ea typeface="+mn-lt"/>
                <a:cs typeface="+mn-lt"/>
              </a:rPr>
              <a:t>uygulanan</a:t>
            </a:r>
            <a:r>
              <a:rPr lang="en-US" sz="1800">
                <a:latin typeface="Arial Nova"/>
                <a:ea typeface="+mn-lt"/>
                <a:cs typeface="+mn-lt"/>
              </a:rPr>
              <a:t> </a:t>
            </a:r>
            <a:r>
              <a:rPr lang="en-US" sz="1800" err="1">
                <a:latin typeface="Arial Nova"/>
                <a:ea typeface="+mn-lt"/>
                <a:cs typeface="+mn-lt"/>
              </a:rPr>
              <a:t>eğitim</a:t>
            </a:r>
            <a:r>
              <a:rPr lang="en-US" sz="1800">
                <a:latin typeface="Arial Nova"/>
                <a:ea typeface="+mn-lt"/>
                <a:cs typeface="+mn-lt"/>
              </a:rPr>
              <a:t> </a:t>
            </a:r>
            <a:r>
              <a:rPr lang="en-US" sz="1800" err="1">
                <a:latin typeface="Arial Nova"/>
                <a:ea typeface="+mn-lt"/>
                <a:cs typeface="+mn-lt"/>
              </a:rPr>
              <a:t>verisi</a:t>
            </a:r>
            <a:r>
              <a:rPr lang="en-US" sz="1800">
                <a:latin typeface="Arial Nova"/>
                <a:ea typeface="+mn-lt"/>
                <a:cs typeface="+mn-lt"/>
              </a:rPr>
              <a:t> </a:t>
            </a:r>
            <a:r>
              <a:rPr lang="en-US" sz="1800" err="1">
                <a:latin typeface="Arial Nova"/>
                <a:ea typeface="+mn-lt"/>
                <a:cs typeface="+mn-lt"/>
              </a:rPr>
              <a:t>üzerinde</a:t>
            </a:r>
            <a:r>
              <a:rPr lang="en-US" sz="1800">
                <a:latin typeface="Arial Nova"/>
                <a:ea typeface="+mn-lt"/>
                <a:cs typeface="+mn-lt"/>
              </a:rPr>
              <a:t>, </a:t>
            </a:r>
            <a:r>
              <a:rPr lang="en-US" sz="1800" err="1">
                <a:latin typeface="Arial Nova"/>
                <a:ea typeface="+mn-lt"/>
                <a:cs typeface="+mn-lt"/>
              </a:rPr>
              <a:t>en</a:t>
            </a:r>
            <a:r>
              <a:rPr lang="en-US" sz="1800">
                <a:latin typeface="Arial Nova"/>
                <a:ea typeface="+mn-lt"/>
                <a:cs typeface="+mn-lt"/>
              </a:rPr>
              <a:t> </a:t>
            </a:r>
            <a:r>
              <a:rPr lang="en-US" sz="1800" err="1">
                <a:latin typeface="Arial Nova"/>
                <a:ea typeface="+mn-lt"/>
                <a:cs typeface="+mn-lt"/>
              </a:rPr>
              <a:t>yüksek</a:t>
            </a:r>
            <a:r>
              <a:rPr lang="en-US" sz="1800">
                <a:latin typeface="Arial Nova"/>
                <a:ea typeface="+mn-lt"/>
                <a:cs typeface="+mn-lt"/>
              </a:rPr>
              <a:t> Recall </a:t>
            </a:r>
            <a:r>
              <a:rPr lang="en-US" sz="1800" err="1">
                <a:latin typeface="Arial Nova"/>
                <a:ea typeface="+mn-lt"/>
                <a:cs typeface="+mn-lt"/>
              </a:rPr>
              <a:t>skorunu</a:t>
            </a:r>
            <a:r>
              <a:rPr lang="en-US" sz="1800">
                <a:latin typeface="Arial Nova"/>
                <a:ea typeface="+mn-lt"/>
                <a:cs typeface="+mn-lt"/>
              </a:rPr>
              <a:t> </a:t>
            </a:r>
            <a:r>
              <a:rPr lang="en-US" sz="1800" err="1">
                <a:latin typeface="Arial Nova"/>
                <a:ea typeface="+mn-lt"/>
                <a:cs typeface="+mn-lt"/>
              </a:rPr>
              <a:t>verecek</a:t>
            </a:r>
            <a:r>
              <a:rPr lang="en-US" sz="1800">
                <a:latin typeface="Arial Nova"/>
                <a:ea typeface="+mn-lt"/>
                <a:cs typeface="+mn-lt"/>
              </a:rPr>
              <a:t> </a:t>
            </a:r>
            <a:r>
              <a:rPr lang="en-US" sz="1800" err="1">
                <a:latin typeface="Arial Nova"/>
                <a:ea typeface="+mn-lt"/>
                <a:cs typeface="+mn-lt"/>
              </a:rPr>
              <a:t>olan</a:t>
            </a:r>
            <a:r>
              <a:rPr lang="en-US" sz="1800">
                <a:latin typeface="Arial Nova"/>
                <a:ea typeface="+mn-lt"/>
                <a:cs typeface="+mn-lt"/>
              </a:rPr>
              <a:t> Random Forest </a:t>
            </a:r>
            <a:r>
              <a:rPr lang="en-US" sz="1800" err="1">
                <a:latin typeface="Arial Nova"/>
                <a:ea typeface="+mn-lt"/>
                <a:cs typeface="+mn-lt"/>
              </a:rPr>
              <a:t>hiperparametrelerini</a:t>
            </a:r>
            <a:r>
              <a:rPr lang="en-US" sz="1800">
                <a:latin typeface="Arial Nova"/>
                <a:ea typeface="+mn-lt"/>
                <a:cs typeface="+mn-lt"/>
              </a:rPr>
              <a:t> </a:t>
            </a:r>
            <a:r>
              <a:rPr lang="en-US" sz="1800" err="1">
                <a:latin typeface="Arial Nova"/>
                <a:ea typeface="+mn-lt"/>
                <a:cs typeface="+mn-lt"/>
              </a:rPr>
              <a:t>aramak</a:t>
            </a:r>
            <a:r>
              <a:rPr lang="en-US" sz="1800">
                <a:latin typeface="Arial Nova"/>
                <a:ea typeface="+mn-lt"/>
                <a:cs typeface="+mn-lt"/>
              </a:rPr>
              <a:t> </a:t>
            </a:r>
            <a:r>
              <a:rPr lang="en-US" sz="1800" err="1">
                <a:latin typeface="Arial Nova"/>
                <a:ea typeface="+mn-lt"/>
                <a:cs typeface="+mn-lt"/>
              </a:rPr>
              <a:t>için</a:t>
            </a:r>
            <a:r>
              <a:rPr lang="en-US" sz="1800">
                <a:latin typeface="Arial Nova"/>
                <a:ea typeface="+mn-lt"/>
                <a:cs typeface="+mn-lt"/>
              </a:rPr>
              <a:t> </a:t>
            </a:r>
            <a:r>
              <a:rPr lang="en-US" sz="1800" err="1">
                <a:latin typeface="Arial Nova"/>
                <a:ea typeface="+mn-lt"/>
                <a:cs typeface="+mn-lt"/>
              </a:rPr>
              <a:t>kullanılmıştır</a:t>
            </a:r>
            <a:r>
              <a:rPr lang="en-US" sz="1800">
                <a:latin typeface="Arial Nova"/>
                <a:ea typeface="+mn-lt"/>
                <a:cs typeface="+mn-lt"/>
              </a:rPr>
              <a:t>.</a:t>
            </a:r>
          </a:p>
          <a:p>
            <a:pPr>
              <a:buFont typeface="Calibri" panose="020B0604020202020204" pitchFamily="34" charset="0"/>
              <a:buChar char="-"/>
            </a:pPr>
            <a:r>
              <a:rPr lang="en-US" sz="1800">
                <a:latin typeface="Arial Nova"/>
                <a:ea typeface="+mn-lt"/>
                <a:cs typeface="+mn-lt"/>
              </a:rPr>
              <a:t>RSCV </a:t>
            </a:r>
            <a:r>
              <a:rPr lang="en-US" sz="1800" err="1">
                <a:latin typeface="Arial Nova"/>
                <a:ea typeface="+mn-lt"/>
                <a:cs typeface="+mn-lt"/>
              </a:rPr>
              <a:t>sayesinde</a:t>
            </a:r>
            <a:r>
              <a:rPr lang="en-US" sz="1800">
                <a:latin typeface="Arial Nova"/>
                <a:ea typeface="+mn-lt"/>
                <a:cs typeface="+mn-lt"/>
              </a:rPr>
              <a:t>, ham </a:t>
            </a:r>
            <a:r>
              <a:rPr lang="en-US" sz="1800" err="1">
                <a:latin typeface="Arial Nova"/>
                <a:ea typeface="+mn-lt"/>
                <a:cs typeface="+mn-lt"/>
              </a:rPr>
              <a:t>modelin</a:t>
            </a:r>
            <a:r>
              <a:rPr lang="en-US" sz="1800">
                <a:latin typeface="Arial Nova"/>
                <a:ea typeface="+mn-lt"/>
                <a:cs typeface="+mn-lt"/>
              </a:rPr>
              <a:t> </a:t>
            </a:r>
            <a:r>
              <a:rPr lang="en-US" sz="1800" err="1">
                <a:latin typeface="Arial Nova"/>
                <a:ea typeface="+mn-lt"/>
                <a:cs typeface="+mn-lt"/>
              </a:rPr>
              <a:t>varsayılan</a:t>
            </a:r>
            <a:r>
              <a:rPr lang="en-US" sz="1800">
                <a:latin typeface="Arial Nova"/>
                <a:ea typeface="+mn-lt"/>
                <a:cs typeface="+mn-lt"/>
              </a:rPr>
              <a:t> </a:t>
            </a:r>
            <a:r>
              <a:rPr lang="en-US" sz="1800" err="1">
                <a:latin typeface="Arial Nova"/>
                <a:ea typeface="+mn-lt"/>
                <a:cs typeface="+mn-lt"/>
              </a:rPr>
              <a:t>parametreleri</a:t>
            </a:r>
            <a:r>
              <a:rPr lang="en-US" sz="1800">
                <a:latin typeface="Arial Nova"/>
                <a:ea typeface="+mn-lt"/>
                <a:cs typeface="+mn-lt"/>
              </a:rPr>
              <a:t> </a:t>
            </a:r>
            <a:r>
              <a:rPr lang="en-US" sz="1800" err="1">
                <a:latin typeface="Arial Nova"/>
                <a:ea typeface="+mn-lt"/>
                <a:cs typeface="+mn-lt"/>
              </a:rPr>
              <a:t>yerine</a:t>
            </a:r>
            <a:r>
              <a:rPr lang="en-US" sz="1800">
                <a:latin typeface="Arial Nova"/>
                <a:ea typeface="+mn-lt"/>
                <a:cs typeface="+mn-lt"/>
              </a:rPr>
              <a:t>, </a:t>
            </a:r>
            <a:r>
              <a:rPr lang="en-US" sz="1800" err="1">
                <a:latin typeface="Arial Nova"/>
                <a:ea typeface="+mn-lt"/>
                <a:cs typeface="+mn-lt"/>
              </a:rPr>
              <a:t>veri</a:t>
            </a:r>
            <a:r>
              <a:rPr lang="en-US" sz="1800">
                <a:latin typeface="Arial Nova"/>
                <a:ea typeface="+mn-lt"/>
                <a:cs typeface="+mn-lt"/>
              </a:rPr>
              <a:t> </a:t>
            </a:r>
            <a:r>
              <a:rPr lang="en-US" sz="1800" err="1">
                <a:latin typeface="Arial Nova"/>
                <a:ea typeface="+mn-lt"/>
                <a:cs typeface="+mn-lt"/>
              </a:rPr>
              <a:t>setimize</a:t>
            </a:r>
            <a:r>
              <a:rPr lang="en-US" sz="1800">
                <a:latin typeface="Arial Nova"/>
                <a:ea typeface="+mn-lt"/>
                <a:cs typeface="+mn-lt"/>
              </a:rPr>
              <a:t> </a:t>
            </a:r>
            <a:r>
              <a:rPr lang="en-US" sz="1800" err="1">
                <a:latin typeface="Arial Nova"/>
                <a:ea typeface="+mn-lt"/>
                <a:cs typeface="+mn-lt"/>
              </a:rPr>
              <a:t>en</a:t>
            </a:r>
            <a:r>
              <a:rPr lang="en-US" sz="1800">
                <a:latin typeface="Arial Nova"/>
                <a:ea typeface="+mn-lt"/>
                <a:cs typeface="+mn-lt"/>
              </a:rPr>
              <a:t> </a:t>
            </a:r>
            <a:r>
              <a:rPr lang="en-US" sz="1800" err="1">
                <a:latin typeface="Arial Nova"/>
                <a:ea typeface="+mn-lt"/>
                <a:cs typeface="+mn-lt"/>
              </a:rPr>
              <a:t>uygun</a:t>
            </a:r>
            <a:r>
              <a:rPr lang="en-US" sz="1800">
                <a:latin typeface="Arial Nova"/>
                <a:ea typeface="+mn-lt"/>
                <a:cs typeface="+mn-lt"/>
              </a:rPr>
              <a:t> </a:t>
            </a:r>
            <a:r>
              <a:rPr lang="en-US" sz="1800" err="1">
                <a:latin typeface="Arial Nova"/>
                <a:ea typeface="+mn-lt"/>
                <a:cs typeface="+mn-lt"/>
              </a:rPr>
              <a:t>olan</a:t>
            </a:r>
            <a:r>
              <a:rPr lang="en-US" sz="1800">
                <a:latin typeface="Arial Nova"/>
                <a:ea typeface="+mn-lt"/>
                <a:cs typeface="+mn-lt"/>
              </a:rPr>
              <a:t>  </a:t>
            </a:r>
            <a:r>
              <a:rPr lang="en-US" sz="1800" err="1">
                <a:latin typeface="Arial Nova"/>
                <a:ea typeface="+mn-lt"/>
                <a:cs typeface="+mn-lt"/>
              </a:rPr>
              <a:t>parametre</a:t>
            </a:r>
            <a:r>
              <a:rPr lang="en-US" sz="1800">
                <a:latin typeface="Arial Nova"/>
                <a:ea typeface="+mn-lt"/>
                <a:cs typeface="+mn-lt"/>
              </a:rPr>
              <a:t> </a:t>
            </a:r>
            <a:r>
              <a:rPr lang="en-US" sz="1800" err="1">
                <a:latin typeface="Arial Nova"/>
                <a:ea typeface="+mn-lt"/>
                <a:cs typeface="+mn-lt"/>
              </a:rPr>
              <a:t>seti</a:t>
            </a:r>
            <a:r>
              <a:rPr lang="en-US" sz="1800">
                <a:latin typeface="Arial Nova"/>
                <a:ea typeface="+mn-lt"/>
                <a:cs typeface="+mn-lt"/>
              </a:rPr>
              <a:t> (</a:t>
            </a:r>
            <a:r>
              <a:rPr lang="en-US" sz="1800" err="1">
                <a:latin typeface="Arial Nova"/>
                <a:ea typeface="+mn-lt"/>
                <a:cs typeface="+mn-lt"/>
              </a:rPr>
              <a:t>n_estimators</a:t>
            </a:r>
            <a:r>
              <a:rPr lang="en-US" sz="1800">
                <a:latin typeface="Arial Nova"/>
                <a:ea typeface="+mn-lt"/>
                <a:cs typeface="+mn-lt"/>
              </a:rPr>
              <a:t>: 221, </a:t>
            </a:r>
            <a:r>
              <a:rPr lang="en-US" sz="1800" err="1">
                <a:latin typeface="Arial Nova"/>
                <a:ea typeface="+mn-lt"/>
                <a:cs typeface="+mn-lt"/>
              </a:rPr>
              <a:t>max_depth</a:t>
            </a:r>
            <a:r>
              <a:rPr lang="en-US" sz="1800">
                <a:latin typeface="Arial Nova"/>
                <a:ea typeface="+mn-lt"/>
                <a:cs typeface="+mn-lt"/>
              </a:rPr>
              <a:t>: 20 vb.) </a:t>
            </a:r>
            <a:r>
              <a:rPr lang="en-US" sz="1800" err="1">
                <a:latin typeface="Arial Nova"/>
                <a:ea typeface="+mn-lt"/>
                <a:cs typeface="+mn-lt"/>
              </a:rPr>
              <a:t>seçilmiştir</a:t>
            </a:r>
            <a:r>
              <a:rPr lang="en-US" sz="1800">
                <a:latin typeface="Arial Nova"/>
                <a:ea typeface="+mn-lt"/>
                <a:cs typeface="+mn-lt"/>
              </a:rPr>
              <a:t>. Bu </a:t>
            </a:r>
            <a:r>
              <a:rPr lang="en-US" sz="1800" err="1">
                <a:latin typeface="Arial Nova"/>
                <a:ea typeface="+mn-lt"/>
                <a:cs typeface="+mn-lt"/>
              </a:rPr>
              <a:t>optimizasyon</a:t>
            </a:r>
            <a:r>
              <a:rPr lang="en-US" sz="1800">
                <a:latin typeface="Arial Nova"/>
                <a:ea typeface="+mn-lt"/>
                <a:cs typeface="+mn-lt"/>
              </a:rPr>
              <a:t>, ROC-AUC </a:t>
            </a:r>
            <a:r>
              <a:rPr lang="en-US" sz="1800" err="1">
                <a:latin typeface="Arial Nova"/>
                <a:ea typeface="+mn-lt"/>
                <a:cs typeface="+mn-lt"/>
              </a:rPr>
              <a:t>ve</a:t>
            </a:r>
            <a:r>
              <a:rPr lang="en-US" sz="1800">
                <a:latin typeface="Arial Nova"/>
                <a:ea typeface="+mn-lt"/>
                <a:cs typeface="+mn-lt"/>
              </a:rPr>
              <a:t> PR-AUC </a:t>
            </a:r>
            <a:r>
              <a:rPr lang="en-US" sz="1800" err="1">
                <a:latin typeface="Arial Nova"/>
                <a:ea typeface="+mn-lt"/>
                <a:cs typeface="+mn-lt"/>
              </a:rPr>
              <a:t>gibi</a:t>
            </a:r>
            <a:r>
              <a:rPr lang="en-US" sz="1800">
                <a:latin typeface="Arial Nova"/>
                <a:ea typeface="+mn-lt"/>
                <a:cs typeface="+mn-lt"/>
              </a:rPr>
              <a:t> </a:t>
            </a:r>
            <a:r>
              <a:rPr lang="en-US" sz="1800" err="1">
                <a:latin typeface="Arial Nova"/>
                <a:ea typeface="+mn-lt"/>
                <a:cs typeface="+mn-lt"/>
              </a:rPr>
              <a:t>ayırt</a:t>
            </a:r>
            <a:r>
              <a:rPr lang="en-US" sz="1800">
                <a:latin typeface="Arial Nova"/>
                <a:ea typeface="+mn-lt"/>
                <a:cs typeface="+mn-lt"/>
              </a:rPr>
              <a:t> </a:t>
            </a:r>
            <a:r>
              <a:rPr lang="en-US" sz="1800" err="1">
                <a:latin typeface="Arial Nova"/>
                <a:ea typeface="+mn-lt"/>
                <a:cs typeface="+mn-lt"/>
              </a:rPr>
              <a:t>etme</a:t>
            </a:r>
            <a:r>
              <a:rPr lang="en-US" sz="1800">
                <a:latin typeface="Arial Nova"/>
                <a:ea typeface="+mn-lt"/>
                <a:cs typeface="+mn-lt"/>
              </a:rPr>
              <a:t> </a:t>
            </a:r>
            <a:r>
              <a:rPr lang="en-US" sz="1800" err="1">
                <a:latin typeface="Arial Nova"/>
                <a:ea typeface="+mn-lt"/>
                <a:cs typeface="+mn-lt"/>
              </a:rPr>
              <a:t>gücü</a:t>
            </a:r>
            <a:r>
              <a:rPr lang="en-US" sz="1800">
                <a:latin typeface="Arial Nova"/>
                <a:ea typeface="+mn-lt"/>
                <a:cs typeface="+mn-lt"/>
              </a:rPr>
              <a:t> </a:t>
            </a:r>
            <a:r>
              <a:rPr lang="en-US" sz="1800" err="1">
                <a:latin typeface="Arial Nova"/>
                <a:ea typeface="+mn-lt"/>
                <a:cs typeface="+mn-lt"/>
              </a:rPr>
              <a:t>metriklerinde</a:t>
            </a:r>
            <a:r>
              <a:rPr lang="en-US" sz="1800">
                <a:latin typeface="Arial Nova"/>
                <a:ea typeface="+mn-lt"/>
                <a:cs typeface="+mn-lt"/>
              </a:rPr>
              <a:t>  </a:t>
            </a:r>
            <a:r>
              <a:rPr lang="en-US" sz="1800" err="1">
                <a:latin typeface="Arial Nova"/>
                <a:ea typeface="+mn-lt"/>
                <a:cs typeface="+mn-lt"/>
              </a:rPr>
              <a:t>iyileşme</a:t>
            </a:r>
            <a:r>
              <a:rPr lang="en-US" sz="1800">
                <a:latin typeface="Arial Nova"/>
                <a:ea typeface="+mn-lt"/>
                <a:cs typeface="+mn-lt"/>
              </a:rPr>
              <a:t> </a:t>
            </a:r>
            <a:r>
              <a:rPr lang="en-US" sz="1800" err="1">
                <a:latin typeface="Arial Nova"/>
                <a:ea typeface="+mn-lt"/>
                <a:cs typeface="+mn-lt"/>
              </a:rPr>
              <a:t>sağladı</a:t>
            </a:r>
            <a:r>
              <a:rPr lang="en-US" sz="1800">
                <a:latin typeface="Arial Nova"/>
                <a:ea typeface="+mn-lt"/>
                <a:cs typeface="+mn-lt"/>
              </a:rPr>
              <a:t> </a:t>
            </a:r>
          </a:p>
          <a:p>
            <a:pPr>
              <a:buFont typeface="Calibri" panose="020B0604020202020204" pitchFamily="34" charset="0"/>
              <a:buChar char="-"/>
            </a:pPr>
            <a:r>
              <a:rPr lang="en-US" sz="1800">
                <a:latin typeface="Arial Nova"/>
                <a:ea typeface="+mn-lt"/>
                <a:cs typeface="+mn-lt"/>
              </a:rPr>
              <a:t>(ROC-AUC: 0.525 -&gt; 0.554; PR-AUC: 0.094 -&gt; 0.159).</a:t>
            </a:r>
          </a:p>
        </p:txBody>
      </p:sp>
      <p:sp>
        <p:nvSpPr>
          <p:cNvPr id="4" name="Date Placeholder 3">
            <a:extLst>
              <a:ext uri="{FF2B5EF4-FFF2-40B4-BE49-F238E27FC236}">
                <a16:creationId xmlns:a16="http://schemas.microsoft.com/office/drawing/2014/main" id="{6BB7C0D6-5E26-D137-6D3A-6FD0E8E19521}"/>
              </a:ext>
            </a:extLst>
          </p:cNvPr>
          <p:cNvSpPr>
            <a:spLocks noGrp="1"/>
          </p:cNvSpPr>
          <p:nvPr>
            <p:ph type="dt" sz="half" idx="10"/>
          </p:nvPr>
        </p:nvSpPr>
        <p:spPr/>
        <p:txBody>
          <a:bodyPr/>
          <a:lstStyle/>
          <a:p>
            <a:fld id="{C0CD05E5-7384-47B9-B488-2355A12A4BB9}" type="datetime1">
              <a:t>25.11.2025</a:t>
            </a:fld>
            <a:endParaRPr lang="en-US"/>
          </a:p>
        </p:txBody>
      </p:sp>
      <p:sp>
        <p:nvSpPr>
          <p:cNvPr id="5" name="Footer Placeholder 4">
            <a:extLst>
              <a:ext uri="{FF2B5EF4-FFF2-40B4-BE49-F238E27FC236}">
                <a16:creationId xmlns:a16="http://schemas.microsoft.com/office/drawing/2014/main" id="{814AF0F4-807D-F545-BA84-D2D6A360D48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196A0D7-A368-F60A-E7C6-8EEAEDC5A903}"/>
              </a:ext>
            </a:extLst>
          </p:cNvPr>
          <p:cNvSpPr>
            <a:spLocks noGrp="1"/>
          </p:cNvSpPr>
          <p:nvPr>
            <p:ph type="sldNum" sz="quarter" idx="12"/>
          </p:nvPr>
        </p:nvSpPr>
        <p:spPr/>
        <p:txBody>
          <a:bodyPr/>
          <a:lstStyle/>
          <a:p>
            <a:fld id="{CC057153-B650-4DEB-B370-79DDCFDCE934}" type="slidenum">
              <a:rPr lang="en-US" dirty="0"/>
              <a:t>12</a:t>
            </a:fld>
            <a:endParaRPr lang="en-US"/>
          </a:p>
        </p:txBody>
      </p:sp>
    </p:spTree>
    <p:extLst>
      <p:ext uri="{BB962C8B-B14F-4D97-AF65-F5344CB8AC3E}">
        <p14:creationId xmlns:p14="http://schemas.microsoft.com/office/powerpoint/2010/main" val="3059936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BBDA8-8CF6-F396-F58F-ADD24AEEE0CC}"/>
              </a:ext>
            </a:extLst>
          </p:cNvPr>
          <p:cNvSpPr>
            <a:spLocks noGrp="1"/>
          </p:cNvSpPr>
          <p:nvPr>
            <p:ph type="title"/>
          </p:nvPr>
        </p:nvSpPr>
        <p:spPr/>
        <p:txBody>
          <a:bodyPr/>
          <a:lstStyle/>
          <a:p>
            <a:r>
              <a:rPr lang="en-US">
                <a:ea typeface="+mj-lt"/>
                <a:cs typeface="+mj-lt"/>
              </a:rPr>
              <a:t>                                  </a:t>
            </a:r>
            <a:r>
              <a:rPr lang="en-US" sz="3200">
                <a:solidFill>
                  <a:srgbClr val="00B0F0"/>
                </a:solidFill>
                <a:latin typeface="Arial Nova"/>
                <a:ea typeface="+mn-ea"/>
                <a:cs typeface="Arial"/>
              </a:rPr>
              <a:t>Model Tuning</a:t>
            </a:r>
          </a:p>
        </p:txBody>
      </p:sp>
      <p:sp>
        <p:nvSpPr>
          <p:cNvPr id="3" name="Content Placeholder 2">
            <a:extLst>
              <a:ext uri="{FF2B5EF4-FFF2-40B4-BE49-F238E27FC236}">
                <a16:creationId xmlns:a16="http://schemas.microsoft.com/office/drawing/2014/main" id="{E2703106-D77C-3D64-C257-2F9906D42FCD}"/>
              </a:ext>
            </a:extLst>
          </p:cNvPr>
          <p:cNvSpPr>
            <a:spLocks noGrp="1"/>
          </p:cNvSpPr>
          <p:nvPr>
            <p:ph idx="1"/>
          </p:nvPr>
        </p:nvSpPr>
        <p:spPr/>
        <p:txBody>
          <a:bodyPr vert="horz" lIns="91440" tIns="45720" rIns="91440" bIns="45720" rtlCol="0" anchor="t">
            <a:normAutofit/>
          </a:bodyPr>
          <a:lstStyle/>
          <a:p>
            <a:pPr marL="0" indent="0">
              <a:buNone/>
            </a:pPr>
            <a:r>
              <a:rPr lang="en-US" sz="3200">
                <a:solidFill>
                  <a:srgbClr val="00B0F0"/>
                </a:solidFill>
                <a:latin typeface="Arial Nova"/>
                <a:cs typeface="Arial"/>
              </a:rPr>
              <a:t>Stratified K-Fold (</a:t>
            </a:r>
            <a:r>
              <a:rPr lang="en-US" sz="3200" err="1">
                <a:solidFill>
                  <a:srgbClr val="00B0F0"/>
                </a:solidFill>
                <a:latin typeface="Arial Nova"/>
                <a:cs typeface="Arial"/>
              </a:rPr>
              <a:t>Katmanlı</a:t>
            </a:r>
            <a:r>
              <a:rPr lang="en-US" sz="3200">
                <a:solidFill>
                  <a:srgbClr val="00B0F0"/>
                </a:solidFill>
                <a:latin typeface="Arial Nova"/>
                <a:cs typeface="Arial"/>
              </a:rPr>
              <a:t> </a:t>
            </a:r>
            <a:r>
              <a:rPr lang="en-US" sz="3200" err="1">
                <a:solidFill>
                  <a:srgbClr val="00B0F0"/>
                </a:solidFill>
                <a:latin typeface="Arial Nova"/>
                <a:cs typeface="Arial"/>
              </a:rPr>
              <a:t>Çapraz</a:t>
            </a:r>
            <a:r>
              <a:rPr lang="en-US" sz="3200">
                <a:solidFill>
                  <a:srgbClr val="00B0F0"/>
                </a:solidFill>
                <a:latin typeface="Arial Nova"/>
                <a:cs typeface="Arial"/>
              </a:rPr>
              <a:t> </a:t>
            </a:r>
            <a:r>
              <a:rPr lang="en-US" sz="3200" err="1">
                <a:solidFill>
                  <a:srgbClr val="00B0F0"/>
                </a:solidFill>
                <a:latin typeface="Arial Nova"/>
                <a:cs typeface="Arial"/>
              </a:rPr>
              <a:t>Doğrulama</a:t>
            </a:r>
            <a:r>
              <a:rPr lang="en-US" sz="3200">
                <a:solidFill>
                  <a:srgbClr val="00B0F0"/>
                </a:solidFill>
                <a:latin typeface="Arial Nova"/>
                <a:cs typeface="Arial"/>
              </a:rPr>
              <a:t>)</a:t>
            </a:r>
          </a:p>
          <a:p>
            <a:pPr marL="0" indent="0">
              <a:buNone/>
            </a:pPr>
            <a:endParaRPr lang="en-US">
              <a:ea typeface="+mn-lt"/>
              <a:cs typeface="+mn-lt"/>
            </a:endParaRPr>
          </a:p>
          <a:p>
            <a:pPr>
              <a:buFont typeface="Calibri" panose="020B0604020202020204" pitchFamily="34" charset="0"/>
              <a:buChar char="-"/>
            </a:pPr>
            <a:r>
              <a:rPr lang="en-US" sz="1800">
                <a:latin typeface="Arial Nova"/>
                <a:ea typeface="+mn-lt"/>
                <a:cs typeface="+mn-lt"/>
              </a:rPr>
              <a:t>K-Fold, </a:t>
            </a:r>
            <a:r>
              <a:rPr lang="en-US" sz="1800" err="1">
                <a:latin typeface="Arial Nova"/>
                <a:ea typeface="+mn-lt"/>
                <a:cs typeface="+mn-lt"/>
              </a:rPr>
              <a:t>modelin</a:t>
            </a:r>
            <a:r>
              <a:rPr lang="en-US" sz="1800">
                <a:latin typeface="Arial Nova"/>
                <a:ea typeface="+mn-lt"/>
                <a:cs typeface="+mn-lt"/>
              </a:rPr>
              <a:t> </a:t>
            </a:r>
            <a:r>
              <a:rPr lang="en-US" sz="1800" err="1">
                <a:latin typeface="Arial Nova"/>
                <a:ea typeface="+mn-lt"/>
                <a:cs typeface="+mn-lt"/>
              </a:rPr>
              <a:t>pe</a:t>
            </a:r>
            <a:r>
              <a:rPr lang="en-US" err="1">
                <a:ea typeface="+mn-lt"/>
                <a:cs typeface="+mn-lt"/>
              </a:rPr>
              <a:t>rformansı</a:t>
            </a:r>
            <a:r>
              <a:rPr lang="en-US" sz="1800" err="1">
                <a:latin typeface="Arial Nova"/>
                <a:ea typeface="+mn-lt"/>
                <a:cs typeface="+mn-lt"/>
              </a:rPr>
              <a:t>nı</a:t>
            </a:r>
            <a:r>
              <a:rPr lang="en-US" sz="1800">
                <a:latin typeface="Arial Nova"/>
                <a:ea typeface="+mn-lt"/>
                <a:cs typeface="+mn-lt"/>
              </a:rPr>
              <a:t> </a:t>
            </a:r>
            <a:r>
              <a:rPr lang="en-US" sz="1800" err="1">
                <a:latin typeface="Arial Nova"/>
                <a:ea typeface="+mn-lt"/>
                <a:cs typeface="+mn-lt"/>
              </a:rPr>
              <a:t>güvenilir</a:t>
            </a:r>
            <a:r>
              <a:rPr lang="en-US" sz="1800">
                <a:latin typeface="Arial Nova"/>
                <a:ea typeface="+mn-lt"/>
                <a:cs typeface="+mn-lt"/>
              </a:rPr>
              <a:t> </a:t>
            </a:r>
            <a:r>
              <a:rPr lang="en-US" sz="1800" err="1">
                <a:latin typeface="Arial Nova"/>
                <a:ea typeface="+mn-lt"/>
                <a:cs typeface="+mn-lt"/>
              </a:rPr>
              <a:t>bir</a:t>
            </a:r>
            <a:r>
              <a:rPr lang="en-US" sz="1800">
                <a:latin typeface="Arial Nova"/>
                <a:ea typeface="+mn-lt"/>
                <a:cs typeface="+mn-lt"/>
              </a:rPr>
              <a:t> </a:t>
            </a:r>
            <a:r>
              <a:rPr lang="en-US" sz="1800" err="1">
                <a:latin typeface="Arial Nova"/>
                <a:ea typeface="+mn-lt"/>
                <a:cs typeface="+mn-lt"/>
              </a:rPr>
              <a:t>şekilde</a:t>
            </a:r>
            <a:r>
              <a:rPr lang="en-US" sz="1800">
                <a:latin typeface="Arial Nova"/>
                <a:ea typeface="+mn-lt"/>
                <a:cs typeface="+mn-lt"/>
              </a:rPr>
              <a:t> </a:t>
            </a:r>
            <a:r>
              <a:rPr lang="en-US" sz="1800" err="1">
                <a:latin typeface="Arial Nova"/>
                <a:ea typeface="+mn-lt"/>
                <a:cs typeface="+mn-lt"/>
              </a:rPr>
              <a:t>ölçmek</a:t>
            </a:r>
            <a:r>
              <a:rPr lang="en-US" sz="1800">
                <a:latin typeface="Arial Nova"/>
                <a:ea typeface="+mn-lt"/>
                <a:cs typeface="+mn-lt"/>
              </a:rPr>
              <a:t> </a:t>
            </a:r>
            <a:r>
              <a:rPr lang="en-US" sz="1800" err="1">
                <a:latin typeface="Arial Nova"/>
                <a:ea typeface="+mn-lt"/>
                <a:cs typeface="+mn-lt"/>
              </a:rPr>
              <a:t>için</a:t>
            </a:r>
            <a:r>
              <a:rPr lang="en-US" sz="1800">
                <a:latin typeface="Arial Nova"/>
                <a:ea typeface="+mn-lt"/>
                <a:cs typeface="+mn-lt"/>
              </a:rPr>
              <a:t> </a:t>
            </a:r>
            <a:r>
              <a:rPr lang="en-US" sz="1800" err="1">
                <a:latin typeface="Arial Nova"/>
                <a:ea typeface="+mn-lt"/>
                <a:cs typeface="+mn-lt"/>
              </a:rPr>
              <a:t>veriyi</a:t>
            </a:r>
            <a:r>
              <a:rPr lang="en-US" sz="1800">
                <a:latin typeface="Arial Nova"/>
                <a:ea typeface="+mn-lt"/>
                <a:cs typeface="+mn-lt"/>
              </a:rPr>
              <a:t> K </a:t>
            </a:r>
            <a:r>
              <a:rPr lang="en-US" sz="1800" err="1">
                <a:latin typeface="Arial Nova"/>
                <a:ea typeface="+mn-lt"/>
                <a:cs typeface="+mn-lt"/>
              </a:rPr>
              <a:t>adet</a:t>
            </a:r>
            <a:r>
              <a:rPr lang="en-US" sz="1800">
                <a:latin typeface="Arial Nova"/>
                <a:ea typeface="+mn-lt"/>
                <a:cs typeface="+mn-lt"/>
              </a:rPr>
              <a:t> </a:t>
            </a:r>
            <a:r>
              <a:rPr lang="en-US" sz="1800" err="1">
                <a:latin typeface="Arial Nova"/>
                <a:ea typeface="+mn-lt"/>
                <a:cs typeface="+mn-lt"/>
              </a:rPr>
              <a:t>eşit</a:t>
            </a:r>
            <a:r>
              <a:rPr lang="en-US" sz="1800">
                <a:latin typeface="Arial Nova"/>
                <a:ea typeface="+mn-lt"/>
                <a:cs typeface="+mn-lt"/>
              </a:rPr>
              <a:t> </a:t>
            </a:r>
            <a:r>
              <a:rPr lang="en-US" sz="1800" err="1">
                <a:latin typeface="Arial Nova"/>
                <a:ea typeface="+mn-lt"/>
                <a:cs typeface="+mn-lt"/>
              </a:rPr>
              <a:t>parçaya</a:t>
            </a:r>
            <a:r>
              <a:rPr lang="en-US" sz="1800">
                <a:latin typeface="Arial Nova"/>
                <a:ea typeface="+mn-lt"/>
                <a:cs typeface="+mn-lt"/>
              </a:rPr>
              <a:t> (</a:t>
            </a:r>
            <a:r>
              <a:rPr lang="en-US" sz="1800" err="1">
                <a:latin typeface="Arial Nova"/>
                <a:ea typeface="+mn-lt"/>
                <a:cs typeface="+mn-lt"/>
              </a:rPr>
              <a:t>katman</a:t>
            </a:r>
            <a:r>
              <a:rPr lang="en-US" sz="1800">
                <a:latin typeface="Arial Nova"/>
                <a:ea typeface="+mn-lt"/>
                <a:cs typeface="+mn-lt"/>
              </a:rPr>
              <a:t>/fold) </a:t>
            </a:r>
            <a:r>
              <a:rPr lang="en-US" sz="1800" err="1">
                <a:latin typeface="Arial Nova"/>
                <a:ea typeface="+mn-lt"/>
                <a:cs typeface="+mn-lt"/>
              </a:rPr>
              <a:t>böler</a:t>
            </a:r>
            <a:r>
              <a:rPr lang="en-US" sz="1800">
                <a:latin typeface="Arial Nova"/>
                <a:ea typeface="+mn-lt"/>
                <a:cs typeface="+mn-lt"/>
              </a:rPr>
              <a:t>. Stratified K-Fold </a:t>
            </a:r>
            <a:r>
              <a:rPr lang="en-US" sz="1800" err="1">
                <a:latin typeface="Arial Nova"/>
                <a:ea typeface="+mn-lt"/>
                <a:cs typeface="+mn-lt"/>
              </a:rPr>
              <a:t>ise</a:t>
            </a:r>
            <a:r>
              <a:rPr lang="en-US" sz="1800">
                <a:latin typeface="Arial Nova"/>
                <a:ea typeface="+mn-lt"/>
                <a:cs typeface="+mn-lt"/>
              </a:rPr>
              <a:t> </a:t>
            </a:r>
            <a:r>
              <a:rPr lang="en-US" sz="1800" err="1">
                <a:latin typeface="Arial Nova"/>
                <a:ea typeface="+mn-lt"/>
                <a:cs typeface="+mn-lt"/>
              </a:rPr>
              <a:t>bu</a:t>
            </a:r>
            <a:r>
              <a:rPr lang="en-US" sz="1800">
                <a:latin typeface="Arial Nova"/>
                <a:ea typeface="+mn-lt"/>
                <a:cs typeface="+mn-lt"/>
              </a:rPr>
              <a:t> </a:t>
            </a:r>
            <a:r>
              <a:rPr lang="en-US" sz="1800" err="1">
                <a:latin typeface="Arial Nova"/>
                <a:ea typeface="+mn-lt"/>
                <a:cs typeface="+mn-lt"/>
              </a:rPr>
              <a:t>bölme</a:t>
            </a:r>
            <a:r>
              <a:rPr lang="en-US" sz="1800">
                <a:latin typeface="Arial Nova"/>
                <a:ea typeface="+mn-lt"/>
                <a:cs typeface="+mn-lt"/>
              </a:rPr>
              <a:t> </a:t>
            </a:r>
            <a:r>
              <a:rPr lang="en-US" sz="1800" err="1">
                <a:latin typeface="Arial Nova"/>
                <a:ea typeface="+mn-lt"/>
                <a:cs typeface="+mn-lt"/>
              </a:rPr>
              <a:t>işlemini</a:t>
            </a:r>
            <a:r>
              <a:rPr lang="en-US" sz="1800">
                <a:latin typeface="Arial Nova"/>
                <a:ea typeface="+mn-lt"/>
                <a:cs typeface="+mn-lt"/>
              </a:rPr>
              <a:t> </a:t>
            </a:r>
            <a:r>
              <a:rPr lang="en-US" sz="1800" err="1">
                <a:latin typeface="Arial Nova"/>
                <a:ea typeface="+mn-lt"/>
                <a:cs typeface="+mn-lt"/>
              </a:rPr>
              <a:t>yaparken</a:t>
            </a:r>
            <a:r>
              <a:rPr lang="en-US" sz="1800">
                <a:latin typeface="Arial Nova"/>
                <a:ea typeface="+mn-lt"/>
                <a:cs typeface="+mn-lt"/>
              </a:rPr>
              <a:t>, </a:t>
            </a:r>
            <a:r>
              <a:rPr lang="en-US" sz="1800" err="1">
                <a:latin typeface="Arial Nova"/>
                <a:ea typeface="+mn-lt"/>
                <a:cs typeface="+mn-lt"/>
              </a:rPr>
              <a:t>özellikle</a:t>
            </a:r>
            <a:r>
              <a:rPr lang="en-US" sz="1800">
                <a:latin typeface="Arial Nova"/>
                <a:ea typeface="+mn-lt"/>
                <a:cs typeface="+mn-lt"/>
              </a:rPr>
              <a:t> </a:t>
            </a:r>
            <a:r>
              <a:rPr lang="en-US" sz="1800" err="1">
                <a:latin typeface="Arial Nova"/>
                <a:ea typeface="+mn-lt"/>
                <a:cs typeface="+mn-lt"/>
              </a:rPr>
              <a:t>dengesiz</a:t>
            </a:r>
            <a:r>
              <a:rPr lang="en-US" sz="1800">
                <a:latin typeface="Arial Nova"/>
                <a:ea typeface="+mn-lt"/>
                <a:cs typeface="+mn-lt"/>
              </a:rPr>
              <a:t> </a:t>
            </a:r>
            <a:r>
              <a:rPr lang="en-US" sz="1800" err="1">
                <a:latin typeface="Arial Nova"/>
                <a:ea typeface="+mn-lt"/>
                <a:cs typeface="+mn-lt"/>
              </a:rPr>
              <a:t>veri</a:t>
            </a:r>
            <a:r>
              <a:rPr lang="en-US" sz="1800">
                <a:latin typeface="Arial Nova"/>
                <a:ea typeface="+mn-lt"/>
                <a:cs typeface="+mn-lt"/>
              </a:rPr>
              <a:t> </a:t>
            </a:r>
            <a:r>
              <a:rPr lang="en-US" sz="1800" err="1">
                <a:latin typeface="Arial Nova"/>
                <a:ea typeface="+mn-lt"/>
                <a:cs typeface="+mn-lt"/>
              </a:rPr>
              <a:t>setlerinde</a:t>
            </a:r>
            <a:r>
              <a:rPr lang="en-US" sz="1800">
                <a:latin typeface="Arial Nova"/>
                <a:ea typeface="+mn-lt"/>
                <a:cs typeface="+mn-lt"/>
              </a:rPr>
              <a:t>, her </a:t>
            </a:r>
            <a:r>
              <a:rPr lang="en-US" sz="1800" err="1">
                <a:latin typeface="Arial Nova"/>
                <a:ea typeface="+mn-lt"/>
                <a:cs typeface="+mn-lt"/>
              </a:rPr>
              <a:t>bir</a:t>
            </a:r>
            <a:r>
              <a:rPr lang="en-US" sz="1800">
                <a:latin typeface="Arial Nova"/>
                <a:ea typeface="+mn-lt"/>
                <a:cs typeface="+mn-lt"/>
              </a:rPr>
              <a:t> </a:t>
            </a:r>
            <a:r>
              <a:rPr lang="en-US" sz="1800" err="1">
                <a:latin typeface="Arial Nova"/>
                <a:ea typeface="+mn-lt"/>
                <a:cs typeface="+mn-lt"/>
              </a:rPr>
              <a:t>katmanda</a:t>
            </a:r>
            <a:r>
              <a:rPr lang="en-US" sz="1800">
                <a:latin typeface="Arial Nova"/>
                <a:ea typeface="+mn-lt"/>
                <a:cs typeface="+mn-lt"/>
              </a:rPr>
              <a:t> </a:t>
            </a:r>
            <a:r>
              <a:rPr lang="en-US" sz="1800" err="1">
                <a:latin typeface="Arial Nova"/>
                <a:ea typeface="+mn-lt"/>
                <a:cs typeface="+mn-lt"/>
              </a:rPr>
              <a:t>sınıf</a:t>
            </a:r>
            <a:r>
              <a:rPr lang="en-US" sz="1800">
                <a:latin typeface="Arial Nova"/>
                <a:ea typeface="+mn-lt"/>
                <a:cs typeface="+mn-lt"/>
              </a:rPr>
              <a:t> </a:t>
            </a:r>
            <a:r>
              <a:rPr lang="en-US" sz="1800" err="1">
                <a:latin typeface="Arial Nova"/>
                <a:ea typeface="+mn-lt"/>
                <a:cs typeface="+mn-lt"/>
              </a:rPr>
              <a:t>oranlarının</a:t>
            </a:r>
            <a:r>
              <a:rPr lang="en-US" sz="1800">
                <a:latin typeface="Arial Nova"/>
                <a:ea typeface="+mn-lt"/>
                <a:cs typeface="+mn-lt"/>
              </a:rPr>
              <a:t> (</a:t>
            </a:r>
            <a:r>
              <a:rPr lang="en-US" sz="1800" err="1">
                <a:latin typeface="Arial Nova"/>
                <a:ea typeface="+mn-lt"/>
                <a:cs typeface="+mn-lt"/>
              </a:rPr>
              <a:t>azınlık</a:t>
            </a:r>
            <a:r>
              <a:rPr lang="en-US" sz="1800">
                <a:latin typeface="Arial Nova"/>
                <a:ea typeface="+mn-lt"/>
                <a:cs typeface="+mn-lt"/>
              </a:rPr>
              <a:t> </a:t>
            </a:r>
            <a:r>
              <a:rPr lang="en-US" sz="1800" err="1">
                <a:latin typeface="Arial Nova"/>
                <a:ea typeface="+mn-lt"/>
                <a:cs typeface="+mn-lt"/>
              </a:rPr>
              <a:t>ve</a:t>
            </a:r>
            <a:r>
              <a:rPr lang="en-US" sz="1800">
                <a:latin typeface="Arial Nova"/>
                <a:ea typeface="+mn-lt"/>
                <a:cs typeface="+mn-lt"/>
              </a:rPr>
              <a:t> </a:t>
            </a:r>
            <a:r>
              <a:rPr lang="en-US" sz="1800" err="1">
                <a:latin typeface="Arial Nova"/>
                <a:ea typeface="+mn-lt"/>
                <a:cs typeface="+mn-lt"/>
              </a:rPr>
              <a:t>çoğunluk</a:t>
            </a:r>
            <a:r>
              <a:rPr lang="en-US" sz="1800">
                <a:latin typeface="Arial Nova"/>
                <a:ea typeface="+mn-lt"/>
                <a:cs typeface="+mn-lt"/>
              </a:rPr>
              <a:t>) </a:t>
            </a:r>
            <a:r>
              <a:rPr lang="en-US" sz="1800" err="1">
                <a:latin typeface="Arial Nova"/>
                <a:ea typeface="+mn-lt"/>
                <a:cs typeface="+mn-lt"/>
              </a:rPr>
              <a:t>aynı</a:t>
            </a:r>
            <a:r>
              <a:rPr lang="en-US" sz="1800">
                <a:latin typeface="Arial Nova"/>
                <a:ea typeface="+mn-lt"/>
                <a:cs typeface="+mn-lt"/>
              </a:rPr>
              <a:t> </a:t>
            </a:r>
            <a:r>
              <a:rPr lang="en-US" sz="1800" err="1">
                <a:latin typeface="Arial Nova"/>
                <a:ea typeface="+mn-lt"/>
                <a:cs typeface="+mn-lt"/>
              </a:rPr>
              <a:t>kalmasını</a:t>
            </a:r>
            <a:r>
              <a:rPr lang="en-US" sz="1800">
                <a:latin typeface="Arial Nova"/>
                <a:ea typeface="+mn-lt"/>
                <a:cs typeface="+mn-lt"/>
              </a:rPr>
              <a:t> </a:t>
            </a:r>
            <a:r>
              <a:rPr lang="en-US" sz="1800" err="1">
                <a:latin typeface="Arial Nova"/>
                <a:ea typeface="+mn-lt"/>
                <a:cs typeface="+mn-lt"/>
              </a:rPr>
              <a:t>sağlar</a:t>
            </a:r>
            <a:r>
              <a:rPr lang="en-US" sz="1800">
                <a:latin typeface="Arial Nova"/>
                <a:ea typeface="+mn-lt"/>
                <a:cs typeface="+mn-lt"/>
              </a:rPr>
              <a:t>.</a:t>
            </a:r>
          </a:p>
          <a:p>
            <a:pPr>
              <a:buFont typeface="Calibri" panose="020B0604020202020204" pitchFamily="34" charset="0"/>
              <a:buChar char="-"/>
            </a:pPr>
            <a:r>
              <a:rPr lang="en-US" sz="1800">
                <a:latin typeface="Arial Nova"/>
                <a:ea typeface="+mn-lt"/>
                <a:cs typeface="+mn-lt"/>
              </a:rPr>
              <a:t>Her </a:t>
            </a:r>
            <a:r>
              <a:rPr lang="en-US" sz="1800" err="1">
                <a:latin typeface="Arial Nova"/>
                <a:ea typeface="+mn-lt"/>
                <a:cs typeface="+mn-lt"/>
              </a:rPr>
              <a:t>katmanda</a:t>
            </a:r>
            <a:r>
              <a:rPr lang="en-US" sz="1800">
                <a:latin typeface="Arial Nova"/>
                <a:ea typeface="+mn-lt"/>
                <a:cs typeface="+mn-lt"/>
              </a:rPr>
              <a:t> </a:t>
            </a:r>
            <a:r>
              <a:rPr lang="en-US" sz="1800" err="1">
                <a:latin typeface="Arial Nova"/>
                <a:ea typeface="+mn-lt"/>
                <a:cs typeface="+mn-lt"/>
              </a:rPr>
              <a:t>dengeli</a:t>
            </a:r>
            <a:r>
              <a:rPr lang="en-US" sz="1800">
                <a:latin typeface="Arial Nova"/>
                <a:ea typeface="+mn-lt"/>
                <a:cs typeface="+mn-lt"/>
              </a:rPr>
              <a:t> </a:t>
            </a:r>
            <a:r>
              <a:rPr lang="en-US" sz="1800" err="1">
                <a:latin typeface="Arial Nova"/>
                <a:ea typeface="+mn-lt"/>
                <a:cs typeface="+mn-lt"/>
              </a:rPr>
              <a:t>bir</a:t>
            </a:r>
            <a:r>
              <a:rPr lang="en-US" sz="1800">
                <a:latin typeface="Arial Nova"/>
                <a:ea typeface="+mn-lt"/>
                <a:cs typeface="+mn-lt"/>
              </a:rPr>
              <a:t> </a:t>
            </a:r>
            <a:r>
              <a:rPr lang="en-US" sz="1800" err="1">
                <a:latin typeface="Arial Nova"/>
                <a:ea typeface="+mn-lt"/>
                <a:cs typeface="+mn-lt"/>
              </a:rPr>
              <a:t>azınlık</a:t>
            </a:r>
            <a:r>
              <a:rPr lang="en-US" sz="1800">
                <a:latin typeface="Arial Nova"/>
                <a:ea typeface="+mn-lt"/>
                <a:cs typeface="+mn-lt"/>
              </a:rPr>
              <a:t> </a:t>
            </a:r>
            <a:r>
              <a:rPr lang="en-US" sz="1800" err="1">
                <a:latin typeface="Arial Nova"/>
                <a:ea typeface="+mn-lt"/>
                <a:cs typeface="+mn-lt"/>
              </a:rPr>
              <a:t>sınıfı</a:t>
            </a:r>
            <a:r>
              <a:rPr lang="en-US" sz="1800">
                <a:latin typeface="Arial Nova"/>
                <a:ea typeface="+mn-lt"/>
                <a:cs typeface="+mn-lt"/>
              </a:rPr>
              <a:t> </a:t>
            </a:r>
            <a:r>
              <a:rPr lang="en-US" sz="1800" err="1">
                <a:latin typeface="Arial Nova"/>
                <a:ea typeface="+mn-lt"/>
                <a:cs typeface="+mn-lt"/>
              </a:rPr>
              <a:t>oranı</a:t>
            </a:r>
            <a:r>
              <a:rPr lang="en-US" sz="1800">
                <a:latin typeface="Arial Nova"/>
                <a:ea typeface="+mn-lt"/>
                <a:cs typeface="+mn-lt"/>
              </a:rPr>
              <a:t> </a:t>
            </a:r>
            <a:r>
              <a:rPr lang="en-US" sz="1800" err="1">
                <a:latin typeface="Arial Nova"/>
                <a:ea typeface="+mn-lt"/>
                <a:cs typeface="+mn-lt"/>
              </a:rPr>
              <a:t>olduğu</a:t>
            </a:r>
            <a:r>
              <a:rPr lang="en-US" sz="1800">
                <a:latin typeface="Arial Nova"/>
                <a:ea typeface="+mn-lt"/>
                <a:cs typeface="+mn-lt"/>
              </a:rPr>
              <a:t> </a:t>
            </a:r>
            <a:r>
              <a:rPr lang="en-US" sz="1800" err="1">
                <a:latin typeface="Arial Nova"/>
                <a:ea typeface="+mn-lt"/>
                <a:cs typeface="+mn-lt"/>
              </a:rPr>
              <a:t>için</a:t>
            </a:r>
            <a:r>
              <a:rPr lang="en-US" sz="1800">
                <a:latin typeface="Arial Nova"/>
                <a:ea typeface="+mn-lt"/>
                <a:cs typeface="+mn-lt"/>
              </a:rPr>
              <a:t>, her test </a:t>
            </a:r>
            <a:r>
              <a:rPr lang="en-US" sz="1800" err="1">
                <a:latin typeface="Arial Nova"/>
                <a:ea typeface="+mn-lt"/>
                <a:cs typeface="+mn-lt"/>
              </a:rPr>
              <a:t>skorunun</a:t>
            </a:r>
            <a:r>
              <a:rPr lang="en-US" sz="1800">
                <a:latin typeface="Arial Nova"/>
                <a:ea typeface="+mn-lt"/>
                <a:cs typeface="+mn-lt"/>
              </a:rPr>
              <a:t> </a:t>
            </a:r>
            <a:r>
              <a:rPr lang="en-US" sz="1800" err="1">
                <a:latin typeface="Arial Nova"/>
                <a:ea typeface="+mn-lt"/>
                <a:cs typeface="+mn-lt"/>
              </a:rPr>
              <a:t>güvenilir</a:t>
            </a:r>
            <a:r>
              <a:rPr lang="en-US" sz="1800">
                <a:latin typeface="Arial Nova"/>
                <a:ea typeface="+mn-lt"/>
                <a:cs typeface="+mn-lt"/>
              </a:rPr>
              <a:t> </a:t>
            </a:r>
            <a:r>
              <a:rPr lang="en-US" sz="1800" err="1">
                <a:latin typeface="Arial Nova"/>
                <a:ea typeface="+mn-lt"/>
                <a:cs typeface="+mn-lt"/>
              </a:rPr>
              <a:t>olması</a:t>
            </a:r>
            <a:r>
              <a:rPr lang="en-US" sz="1800">
                <a:latin typeface="Arial Nova"/>
                <a:ea typeface="+mn-lt"/>
                <a:cs typeface="+mn-lt"/>
              </a:rPr>
              <a:t> </a:t>
            </a:r>
            <a:r>
              <a:rPr lang="en-US" sz="1800" err="1">
                <a:latin typeface="Arial Nova"/>
                <a:ea typeface="+mn-lt"/>
                <a:cs typeface="+mn-lt"/>
              </a:rPr>
              <a:t>sağlandı</a:t>
            </a:r>
            <a:r>
              <a:rPr lang="en-US" sz="1800">
                <a:latin typeface="Arial Nova"/>
                <a:ea typeface="+mn-lt"/>
                <a:cs typeface="+mn-lt"/>
              </a:rPr>
              <a:t>.</a:t>
            </a:r>
          </a:p>
        </p:txBody>
      </p:sp>
      <p:sp>
        <p:nvSpPr>
          <p:cNvPr id="4" name="Date Placeholder 3">
            <a:extLst>
              <a:ext uri="{FF2B5EF4-FFF2-40B4-BE49-F238E27FC236}">
                <a16:creationId xmlns:a16="http://schemas.microsoft.com/office/drawing/2014/main" id="{B7B1D117-2036-C115-0E28-0B1BB6113C05}"/>
              </a:ext>
            </a:extLst>
          </p:cNvPr>
          <p:cNvSpPr>
            <a:spLocks noGrp="1"/>
          </p:cNvSpPr>
          <p:nvPr>
            <p:ph type="dt" sz="half" idx="10"/>
          </p:nvPr>
        </p:nvSpPr>
        <p:spPr/>
        <p:txBody>
          <a:bodyPr/>
          <a:lstStyle/>
          <a:p>
            <a:fld id="{2F4D7AF3-C582-4C3D-86BE-ADAEEF03BF0F}" type="datetime1">
              <a:t>25.11.2025</a:t>
            </a:fld>
            <a:endParaRPr lang="en-US"/>
          </a:p>
        </p:txBody>
      </p:sp>
      <p:sp>
        <p:nvSpPr>
          <p:cNvPr id="5" name="Footer Placeholder 4">
            <a:extLst>
              <a:ext uri="{FF2B5EF4-FFF2-40B4-BE49-F238E27FC236}">
                <a16:creationId xmlns:a16="http://schemas.microsoft.com/office/drawing/2014/main" id="{93033691-8B17-F28E-F2C5-D885AF00C84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F17C5A4-D046-64C3-D0B4-72BAA444A1BA}"/>
              </a:ext>
            </a:extLst>
          </p:cNvPr>
          <p:cNvSpPr>
            <a:spLocks noGrp="1"/>
          </p:cNvSpPr>
          <p:nvPr>
            <p:ph type="sldNum" sz="quarter" idx="12"/>
          </p:nvPr>
        </p:nvSpPr>
        <p:spPr/>
        <p:txBody>
          <a:bodyPr/>
          <a:lstStyle/>
          <a:p>
            <a:fld id="{CC057153-B650-4DEB-B370-79DDCFDCE934}" type="slidenum">
              <a:rPr lang="en-US" dirty="0"/>
              <a:t>13</a:t>
            </a:fld>
            <a:endParaRPr lang="en-US"/>
          </a:p>
        </p:txBody>
      </p:sp>
    </p:spTree>
    <p:extLst>
      <p:ext uri="{BB962C8B-B14F-4D97-AF65-F5344CB8AC3E}">
        <p14:creationId xmlns:p14="http://schemas.microsoft.com/office/powerpoint/2010/main" val="270482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60492-2105-E533-080E-CC45ECE01D05}"/>
              </a:ext>
            </a:extLst>
          </p:cNvPr>
          <p:cNvSpPr>
            <a:spLocks noGrp="1"/>
          </p:cNvSpPr>
          <p:nvPr>
            <p:ph type="title"/>
          </p:nvPr>
        </p:nvSpPr>
        <p:spPr/>
        <p:txBody>
          <a:bodyPr/>
          <a:lstStyle/>
          <a:p>
            <a:r>
              <a:rPr lang="en-US"/>
              <a:t>                                  </a:t>
            </a:r>
            <a:r>
              <a:rPr lang="en-US" sz="3200">
                <a:solidFill>
                  <a:srgbClr val="00B0F0"/>
                </a:solidFill>
                <a:latin typeface="Arial Nova"/>
                <a:ea typeface="+mn-ea"/>
                <a:cs typeface="Arial"/>
              </a:rPr>
              <a:t>Model Tuning</a:t>
            </a:r>
          </a:p>
          <a:p>
            <a:endParaRPr lang="en-US"/>
          </a:p>
        </p:txBody>
      </p:sp>
      <p:sp>
        <p:nvSpPr>
          <p:cNvPr id="3" name="Content Placeholder 2">
            <a:extLst>
              <a:ext uri="{FF2B5EF4-FFF2-40B4-BE49-F238E27FC236}">
                <a16:creationId xmlns:a16="http://schemas.microsoft.com/office/drawing/2014/main" id="{4DDBB358-740B-CC1E-0F67-D0A861C1C736}"/>
              </a:ext>
            </a:extLst>
          </p:cNvPr>
          <p:cNvSpPr>
            <a:spLocks noGrp="1"/>
          </p:cNvSpPr>
          <p:nvPr>
            <p:ph idx="1"/>
          </p:nvPr>
        </p:nvSpPr>
        <p:spPr/>
        <p:txBody>
          <a:bodyPr vert="horz" lIns="91440" tIns="45720" rIns="91440" bIns="45720" rtlCol="0" anchor="t">
            <a:normAutofit/>
          </a:bodyPr>
          <a:lstStyle/>
          <a:p>
            <a:pPr marL="0" indent="0">
              <a:buNone/>
            </a:pPr>
            <a:r>
              <a:rPr lang="en-US" sz="3200">
                <a:solidFill>
                  <a:srgbClr val="00B0F0"/>
                </a:solidFill>
                <a:latin typeface="Arial Nova"/>
                <a:cs typeface="Arial"/>
              </a:rPr>
              <a:t>Threshold Optimization (</a:t>
            </a:r>
            <a:r>
              <a:rPr lang="en-US" sz="3200" err="1">
                <a:solidFill>
                  <a:srgbClr val="00B0F0"/>
                </a:solidFill>
                <a:latin typeface="Arial Nova"/>
                <a:cs typeface="Arial"/>
              </a:rPr>
              <a:t>Eşik</a:t>
            </a:r>
            <a:r>
              <a:rPr lang="en-US" sz="3200">
                <a:solidFill>
                  <a:srgbClr val="00B0F0"/>
                </a:solidFill>
                <a:latin typeface="Arial Nova"/>
                <a:cs typeface="Arial"/>
              </a:rPr>
              <a:t> </a:t>
            </a:r>
            <a:r>
              <a:rPr lang="en-US" sz="3200" err="1">
                <a:solidFill>
                  <a:srgbClr val="00B0F0"/>
                </a:solidFill>
                <a:latin typeface="Arial Nova"/>
                <a:cs typeface="Arial"/>
              </a:rPr>
              <a:t>Değeri</a:t>
            </a:r>
            <a:r>
              <a:rPr lang="en-US" sz="3200">
                <a:solidFill>
                  <a:srgbClr val="00B0F0"/>
                </a:solidFill>
                <a:latin typeface="Arial Nova"/>
                <a:cs typeface="Arial"/>
              </a:rPr>
              <a:t> </a:t>
            </a:r>
            <a:r>
              <a:rPr lang="en-US" sz="3200" err="1">
                <a:solidFill>
                  <a:srgbClr val="00B0F0"/>
                </a:solidFill>
                <a:latin typeface="Arial Nova"/>
                <a:cs typeface="Arial"/>
              </a:rPr>
              <a:t>Optimizasyonu</a:t>
            </a:r>
            <a:r>
              <a:rPr lang="en-US" sz="3200">
                <a:solidFill>
                  <a:srgbClr val="00B0F0"/>
                </a:solidFill>
                <a:latin typeface="Arial Nova"/>
                <a:cs typeface="Arial"/>
              </a:rPr>
              <a:t>) </a:t>
            </a:r>
          </a:p>
          <a:p>
            <a:pPr>
              <a:buFont typeface="Calibri" panose="020B0604020202020204" pitchFamily="34" charset="0"/>
              <a:buChar char="-"/>
            </a:pPr>
            <a:r>
              <a:rPr lang="en-US" sz="1800" err="1">
                <a:latin typeface="Arial Nova"/>
                <a:ea typeface="+mn-lt"/>
                <a:cs typeface="+mn-lt"/>
              </a:rPr>
              <a:t>Tüm</a:t>
            </a:r>
            <a:r>
              <a:rPr lang="en-US" sz="1800">
                <a:latin typeface="Arial Nova"/>
                <a:ea typeface="+mn-lt"/>
                <a:cs typeface="+mn-lt"/>
              </a:rPr>
              <a:t> </a:t>
            </a:r>
            <a:r>
              <a:rPr lang="en-US" sz="1800" err="1">
                <a:latin typeface="Arial Nova"/>
                <a:ea typeface="+mn-lt"/>
                <a:cs typeface="+mn-lt"/>
              </a:rPr>
              <a:t>eğitim</a:t>
            </a:r>
            <a:r>
              <a:rPr lang="en-US" sz="1800">
                <a:latin typeface="Arial Nova"/>
                <a:ea typeface="+mn-lt"/>
                <a:cs typeface="+mn-lt"/>
              </a:rPr>
              <a:t> </a:t>
            </a:r>
            <a:r>
              <a:rPr lang="en-US" sz="1800" err="1">
                <a:latin typeface="Arial Nova"/>
                <a:ea typeface="+mn-lt"/>
                <a:cs typeface="+mn-lt"/>
              </a:rPr>
              <a:t>verisi</a:t>
            </a:r>
            <a:r>
              <a:rPr lang="en-US" sz="1800">
                <a:latin typeface="Arial Nova"/>
                <a:ea typeface="+mn-lt"/>
                <a:cs typeface="+mn-lt"/>
              </a:rPr>
              <a:t> </a:t>
            </a:r>
            <a:r>
              <a:rPr lang="en-US" sz="1800" err="1">
                <a:latin typeface="Arial Nova"/>
                <a:ea typeface="+mn-lt"/>
                <a:cs typeface="+mn-lt"/>
              </a:rPr>
              <a:t>üzerinde</a:t>
            </a:r>
            <a:r>
              <a:rPr lang="en-US" sz="1800">
                <a:latin typeface="Arial Nova"/>
                <a:ea typeface="+mn-lt"/>
                <a:cs typeface="+mn-lt"/>
              </a:rPr>
              <a:t> </a:t>
            </a:r>
            <a:r>
              <a:rPr lang="en-US" sz="1800" err="1">
                <a:latin typeface="Arial Nova"/>
                <a:ea typeface="+mn-lt"/>
                <a:cs typeface="+mn-lt"/>
              </a:rPr>
              <a:t>eğitilmiş</a:t>
            </a:r>
            <a:r>
              <a:rPr lang="en-US" sz="1800">
                <a:latin typeface="Arial Nova"/>
                <a:ea typeface="+mn-lt"/>
                <a:cs typeface="+mn-lt"/>
              </a:rPr>
              <a:t> </a:t>
            </a:r>
            <a:r>
              <a:rPr lang="en-US" sz="1800" err="1">
                <a:latin typeface="Arial Nova"/>
                <a:ea typeface="+mn-lt"/>
                <a:cs typeface="+mn-lt"/>
              </a:rPr>
              <a:t>nihai</a:t>
            </a:r>
            <a:r>
              <a:rPr lang="en-US" sz="1800">
                <a:latin typeface="Arial Nova"/>
                <a:ea typeface="+mn-lt"/>
                <a:cs typeface="+mn-lt"/>
              </a:rPr>
              <a:t> </a:t>
            </a:r>
            <a:r>
              <a:rPr lang="en-US" sz="1800" err="1">
                <a:latin typeface="Arial Nova"/>
                <a:ea typeface="+mn-lt"/>
                <a:cs typeface="+mn-lt"/>
              </a:rPr>
              <a:t>pipeline'ın</a:t>
            </a:r>
            <a:r>
              <a:rPr lang="en-US" sz="1800">
                <a:latin typeface="Arial Nova"/>
                <a:ea typeface="+mn-lt"/>
                <a:cs typeface="+mn-lt"/>
              </a:rPr>
              <a:t> test </a:t>
            </a:r>
            <a:r>
              <a:rPr lang="en-US" sz="1800" err="1">
                <a:latin typeface="Arial Nova"/>
                <a:ea typeface="+mn-lt"/>
                <a:cs typeface="+mn-lt"/>
              </a:rPr>
              <a:t>setindeki</a:t>
            </a:r>
            <a:r>
              <a:rPr lang="en-US" sz="1800">
                <a:latin typeface="Arial Nova"/>
                <a:ea typeface="+mn-lt"/>
                <a:cs typeface="+mn-lt"/>
              </a:rPr>
              <a:t> </a:t>
            </a:r>
            <a:r>
              <a:rPr lang="en-US" sz="1800" err="1">
                <a:latin typeface="Arial Nova"/>
                <a:ea typeface="+mn-lt"/>
                <a:cs typeface="+mn-lt"/>
              </a:rPr>
              <a:t>olasılıkları</a:t>
            </a:r>
            <a:r>
              <a:rPr lang="en-US" sz="1800">
                <a:latin typeface="Arial Nova"/>
                <a:ea typeface="+mn-lt"/>
                <a:cs typeface="+mn-lt"/>
              </a:rPr>
              <a:t> </a:t>
            </a:r>
            <a:r>
              <a:rPr lang="en-US" sz="1800" err="1">
                <a:latin typeface="Arial Nova"/>
                <a:ea typeface="+mn-lt"/>
                <a:cs typeface="+mn-lt"/>
              </a:rPr>
              <a:t>kullanılarak,t</a:t>
            </a:r>
            <a:r>
              <a:rPr lang="en-US" sz="1800">
                <a:latin typeface="Arial Nova"/>
                <a:ea typeface="+mn-lt"/>
                <a:cs typeface="+mn-lt"/>
              </a:rPr>
              <a:t>=0.01 </a:t>
            </a:r>
            <a:r>
              <a:rPr lang="en-US" sz="1800" err="1">
                <a:latin typeface="Arial Nova"/>
                <a:ea typeface="+mn-lt"/>
                <a:cs typeface="+mn-lt"/>
              </a:rPr>
              <a:t>ile</a:t>
            </a:r>
            <a:r>
              <a:rPr lang="en-US" sz="1800">
                <a:latin typeface="Arial Nova"/>
                <a:ea typeface="+mn-lt"/>
                <a:cs typeface="+mn-lt"/>
              </a:rPr>
              <a:t> t=0.99 </a:t>
            </a:r>
            <a:r>
              <a:rPr lang="en-US" sz="1800" err="1">
                <a:latin typeface="Arial Nova"/>
                <a:ea typeface="+mn-lt"/>
                <a:cs typeface="+mn-lt"/>
              </a:rPr>
              <a:t>arasındaki</a:t>
            </a:r>
            <a:r>
              <a:rPr lang="en-US" sz="1800">
                <a:latin typeface="Arial Nova"/>
                <a:ea typeface="+mn-lt"/>
                <a:cs typeface="+mn-lt"/>
              </a:rPr>
              <a:t> </a:t>
            </a:r>
            <a:r>
              <a:rPr lang="en-US" sz="1800" err="1">
                <a:latin typeface="Arial Nova"/>
                <a:ea typeface="+mn-lt"/>
                <a:cs typeface="+mn-lt"/>
              </a:rPr>
              <a:t>tüm</a:t>
            </a:r>
            <a:r>
              <a:rPr lang="en-US" sz="1800">
                <a:latin typeface="Arial Nova"/>
                <a:ea typeface="+mn-lt"/>
                <a:cs typeface="+mn-lt"/>
              </a:rPr>
              <a:t> </a:t>
            </a:r>
            <a:r>
              <a:rPr lang="en-US" sz="1800" err="1">
                <a:latin typeface="Arial Nova"/>
                <a:ea typeface="+mn-lt"/>
                <a:cs typeface="+mn-lt"/>
              </a:rPr>
              <a:t>olası</a:t>
            </a:r>
            <a:r>
              <a:rPr lang="en-US" sz="1800">
                <a:latin typeface="Arial Nova"/>
                <a:ea typeface="+mn-lt"/>
                <a:cs typeface="+mn-lt"/>
              </a:rPr>
              <a:t> </a:t>
            </a:r>
            <a:r>
              <a:rPr lang="en-US" sz="1800" err="1">
                <a:latin typeface="Arial Nova"/>
                <a:ea typeface="+mn-lt"/>
                <a:cs typeface="+mn-lt"/>
              </a:rPr>
              <a:t>eşikler</a:t>
            </a:r>
            <a:r>
              <a:rPr lang="en-US" sz="1800">
                <a:latin typeface="Arial Nova"/>
                <a:ea typeface="+mn-lt"/>
                <a:cs typeface="+mn-lt"/>
              </a:rPr>
              <a:t> </a:t>
            </a:r>
            <a:r>
              <a:rPr lang="en-US" sz="1800" err="1">
                <a:latin typeface="Arial Nova"/>
                <a:ea typeface="+mn-lt"/>
                <a:cs typeface="+mn-lt"/>
              </a:rPr>
              <a:t>denenmiştir</a:t>
            </a:r>
            <a:r>
              <a:rPr lang="en-US" sz="1800">
                <a:latin typeface="Arial Nova"/>
                <a:ea typeface="+mn-lt"/>
                <a:cs typeface="+mn-lt"/>
              </a:rPr>
              <a:t>. En </a:t>
            </a:r>
            <a:r>
              <a:rPr lang="en-US" sz="1800" err="1">
                <a:latin typeface="Arial Nova"/>
                <a:ea typeface="+mn-lt"/>
                <a:cs typeface="+mn-lt"/>
              </a:rPr>
              <a:t>yüksek</a:t>
            </a:r>
            <a:r>
              <a:rPr lang="en-US" sz="1800">
                <a:latin typeface="Arial Nova"/>
                <a:ea typeface="+mn-lt"/>
                <a:cs typeface="+mn-lt"/>
              </a:rPr>
              <a:t> F1-Score'u </a:t>
            </a:r>
            <a:r>
              <a:rPr lang="en-US" sz="1800" err="1">
                <a:latin typeface="Arial Nova"/>
                <a:ea typeface="+mn-lt"/>
                <a:cs typeface="+mn-lt"/>
              </a:rPr>
              <a:t>veren</a:t>
            </a:r>
            <a:r>
              <a:rPr lang="en-US" sz="1800">
                <a:latin typeface="Arial Nova"/>
                <a:ea typeface="+mn-lt"/>
                <a:cs typeface="+mn-lt"/>
              </a:rPr>
              <a:t> </a:t>
            </a:r>
            <a:r>
              <a:rPr lang="en-US" sz="1800" err="1">
                <a:latin typeface="Arial Nova"/>
                <a:ea typeface="+mn-lt"/>
                <a:cs typeface="+mn-lt"/>
              </a:rPr>
              <a:t>eşik</a:t>
            </a:r>
            <a:r>
              <a:rPr lang="en-US" sz="1800">
                <a:latin typeface="Arial Nova"/>
                <a:ea typeface="+mn-lt"/>
                <a:cs typeface="+mn-lt"/>
              </a:rPr>
              <a:t> (t=0.40) optimal </a:t>
            </a:r>
            <a:r>
              <a:rPr lang="en-US" sz="1800" err="1">
                <a:latin typeface="Arial Nova"/>
                <a:ea typeface="+mn-lt"/>
                <a:cs typeface="+mn-lt"/>
              </a:rPr>
              <a:t>olarak</a:t>
            </a:r>
            <a:r>
              <a:rPr lang="en-US" sz="1800">
                <a:latin typeface="Arial Nova"/>
                <a:ea typeface="+mn-lt"/>
                <a:cs typeface="+mn-lt"/>
              </a:rPr>
              <a:t> </a:t>
            </a:r>
            <a:r>
              <a:rPr lang="en-US" sz="1800" err="1">
                <a:latin typeface="Arial Nova"/>
                <a:ea typeface="+mn-lt"/>
                <a:cs typeface="+mn-lt"/>
              </a:rPr>
              <a:t>belirlenmiştir</a:t>
            </a:r>
            <a:r>
              <a:rPr lang="en-US">
                <a:ea typeface="+mn-lt"/>
                <a:cs typeface="+mn-lt"/>
              </a:rPr>
              <a:t>.</a:t>
            </a:r>
            <a:endParaRPr lang="en-US" sz="1800">
              <a:latin typeface="Arial Nova"/>
              <a:ea typeface="+mn-lt"/>
              <a:cs typeface="+mn-lt"/>
            </a:endParaRPr>
          </a:p>
          <a:p>
            <a:pPr>
              <a:buFont typeface="Calibri"/>
              <a:buChar char="-"/>
            </a:pPr>
            <a:endParaRPr lang="en-US" sz="1800">
              <a:latin typeface="Arial Nova"/>
              <a:ea typeface="+mn-lt"/>
              <a:cs typeface="+mn-lt"/>
            </a:endParaRPr>
          </a:p>
          <a:p>
            <a:pPr>
              <a:buFont typeface="Calibri" panose="020B0604020202020204" pitchFamily="34" charset="0"/>
              <a:buChar char="-"/>
            </a:pPr>
            <a:r>
              <a:rPr lang="en-US" sz="1800">
                <a:latin typeface="Arial Nova"/>
                <a:ea typeface="+mn-lt"/>
                <a:cs typeface="+mn-lt"/>
              </a:rPr>
              <a:t>Ham </a:t>
            </a:r>
            <a:r>
              <a:rPr lang="en-US" sz="1800" err="1">
                <a:latin typeface="Arial Nova"/>
                <a:ea typeface="+mn-lt"/>
                <a:cs typeface="+mn-lt"/>
              </a:rPr>
              <a:t>modelde</a:t>
            </a:r>
            <a:r>
              <a:rPr lang="en-US" sz="1800">
                <a:latin typeface="Arial Nova"/>
                <a:ea typeface="+mn-lt"/>
                <a:cs typeface="+mn-lt"/>
              </a:rPr>
              <a:t>, F1=0.185 </a:t>
            </a:r>
            <a:r>
              <a:rPr lang="en-US" sz="1800" err="1">
                <a:latin typeface="Arial Nova"/>
                <a:ea typeface="+mn-lt"/>
                <a:cs typeface="+mn-lt"/>
              </a:rPr>
              <a:t>için</a:t>
            </a:r>
            <a:r>
              <a:rPr lang="en-US" sz="1800">
                <a:latin typeface="Arial Nova"/>
                <a:ea typeface="+mn-lt"/>
                <a:cs typeface="+mn-lt"/>
              </a:rPr>
              <a:t> t=0.21 </a:t>
            </a:r>
            <a:r>
              <a:rPr lang="en-US" sz="1800" err="1">
                <a:latin typeface="Arial Nova"/>
                <a:ea typeface="+mn-lt"/>
                <a:cs typeface="+mn-lt"/>
              </a:rPr>
              <a:t>eşiği</a:t>
            </a:r>
            <a:r>
              <a:rPr lang="en-US" sz="1800">
                <a:latin typeface="Arial Nova"/>
                <a:ea typeface="+mn-lt"/>
                <a:cs typeface="+mn-lt"/>
              </a:rPr>
              <a:t> </a:t>
            </a:r>
            <a:r>
              <a:rPr lang="en-US" sz="1800" err="1">
                <a:latin typeface="Arial Nova"/>
                <a:ea typeface="+mn-lt"/>
                <a:cs typeface="+mn-lt"/>
              </a:rPr>
              <a:t>en</a:t>
            </a:r>
            <a:r>
              <a:rPr lang="en-US" sz="1800">
                <a:latin typeface="Arial Nova"/>
                <a:ea typeface="+mn-lt"/>
                <a:cs typeface="+mn-lt"/>
              </a:rPr>
              <a:t> </a:t>
            </a:r>
            <a:r>
              <a:rPr lang="en-US" sz="1800" err="1">
                <a:latin typeface="Arial Nova"/>
                <a:ea typeface="+mn-lt"/>
                <a:cs typeface="+mn-lt"/>
              </a:rPr>
              <a:t>uygunken</a:t>
            </a:r>
            <a:r>
              <a:rPr lang="en-US" sz="1800">
                <a:latin typeface="Arial Nova"/>
                <a:ea typeface="+mn-lt"/>
                <a:cs typeface="+mn-lt"/>
              </a:rPr>
              <a:t>, optimize </a:t>
            </a:r>
            <a:r>
              <a:rPr lang="en-US" sz="1800" err="1">
                <a:latin typeface="Arial Nova"/>
                <a:ea typeface="+mn-lt"/>
                <a:cs typeface="+mn-lt"/>
              </a:rPr>
              <a:t>edilmiş</a:t>
            </a:r>
            <a:r>
              <a:rPr lang="en-US" sz="1800">
                <a:latin typeface="Arial Nova"/>
                <a:ea typeface="+mn-lt"/>
                <a:cs typeface="+mn-lt"/>
              </a:rPr>
              <a:t> </a:t>
            </a:r>
            <a:r>
              <a:rPr lang="en-US" sz="1800" err="1">
                <a:latin typeface="Arial Nova"/>
                <a:ea typeface="+mn-lt"/>
                <a:cs typeface="+mn-lt"/>
              </a:rPr>
              <a:t>modelde</a:t>
            </a:r>
            <a:r>
              <a:rPr lang="en-US" sz="1800">
                <a:latin typeface="Arial Nova"/>
                <a:ea typeface="+mn-lt"/>
                <a:cs typeface="+mn-lt"/>
              </a:rPr>
              <a:t> F1=0.286 </a:t>
            </a:r>
            <a:r>
              <a:rPr lang="en-US" sz="1800" err="1">
                <a:latin typeface="Arial Nova"/>
                <a:ea typeface="+mn-lt"/>
                <a:cs typeface="+mn-lt"/>
              </a:rPr>
              <a:t>için</a:t>
            </a:r>
            <a:r>
              <a:rPr lang="en-US" sz="1800">
                <a:latin typeface="Arial Nova"/>
                <a:ea typeface="+mn-lt"/>
                <a:cs typeface="+mn-lt"/>
              </a:rPr>
              <a:t> </a:t>
            </a:r>
            <a:r>
              <a:rPr lang="en-US" sz="1800" err="1">
                <a:latin typeface="Arial Nova"/>
                <a:ea typeface="+mn-lt"/>
                <a:cs typeface="+mn-lt"/>
              </a:rPr>
              <a:t>eşik</a:t>
            </a:r>
            <a:r>
              <a:rPr lang="en-US" sz="1800">
                <a:latin typeface="Arial Nova"/>
                <a:ea typeface="+mn-lt"/>
                <a:cs typeface="+mn-lt"/>
              </a:rPr>
              <a:t> t=0.40'a </a:t>
            </a:r>
            <a:r>
              <a:rPr lang="en-US" sz="1800" err="1">
                <a:latin typeface="Arial Nova"/>
                <a:ea typeface="+mn-lt"/>
                <a:cs typeface="+mn-lt"/>
              </a:rPr>
              <a:t>yükselmiştir</a:t>
            </a:r>
            <a:r>
              <a:rPr lang="en-US" sz="1800">
                <a:latin typeface="Arial Nova"/>
                <a:ea typeface="+mn-lt"/>
                <a:cs typeface="+mn-lt"/>
              </a:rPr>
              <a:t>.</a:t>
            </a:r>
          </a:p>
          <a:p>
            <a:pPr>
              <a:buFont typeface="Calibri"/>
              <a:buChar char="-"/>
            </a:pPr>
            <a:r>
              <a:rPr lang="en-US" sz="1800" b="1" err="1">
                <a:latin typeface="Arial Nova"/>
                <a:ea typeface="+mn-lt"/>
                <a:cs typeface="+mn-lt"/>
              </a:rPr>
              <a:t>Yorum</a:t>
            </a:r>
            <a:r>
              <a:rPr lang="en-US" b="1">
                <a:ea typeface="+mn-lt"/>
                <a:cs typeface="+mn-lt"/>
              </a:rPr>
              <a:t>:</a:t>
            </a:r>
            <a:r>
              <a:rPr lang="en-US">
                <a:ea typeface="+mn-lt"/>
                <a:cs typeface="+mn-lt"/>
              </a:rPr>
              <a:t> </a:t>
            </a:r>
            <a:r>
              <a:rPr lang="en-US" sz="1800">
                <a:latin typeface="Arial Nova"/>
                <a:ea typeface="+mn-lt"/>
                <a:cs typeface="+mn-lt"/>
              </a:rPr>
              <a:t>Bu </a:t>
            </a:r>
            <a:r>
              <a:rPr lang="en-US" sz="1800" err="1">
                <a:latin typeface="Arial Nova"/>
                <a:ea typeface="+mn-lt"/>
                <a:cs typeface="+mn-lt"/>
              </a:rPr>
              <a:t>değişim</a:t>
            </a:r>
            <a:r>
              <a:rPr lang="en-US" sz="1800">
                <a:latin typeface="Arial Nova"/>
                <a:ea typeface="+mn-lt"/>
                <a:cs typeface="+mn-lt"/>
              </a:rPr>
              <a:t>, </a:t>
            </a:r>
            <a:r>
              <a:rPr lang="en-US" sz="1800" err="1">
                <a:latin typeface="Arial Nova"/>
                <a:ea typeface="+mn-lt"/>
                <a:cs typeface="+mn-lt"/>
              </a:rPr>
              <a:t>modelin</a:t>
            </a:r>
            <a:r>
              <a:rPr lang="en-US" sz="1800">
                <a:latin typeface="Arial Nova"/>
                <a:ea typeface="+mn-lt"/>
                <a:cs typeface="+mn-lt"/>
              </a:rPr>
              <a:t> </a:t>
            </a:r>
            <a:r>
              <a:rPr lang="en-US" sz="1800" err="1">
                <a:latin typeface="Arial Nova"/>
                <a:ea typeface="+mn-lt"/>
                <a:cs typeface="+mn-lt"/>
              </a:rPr>
              <a:t>çoğunluk</a:t>
            </a:r>
            <a:r>
              <a:rPr lang="en-US" sz="1800">
                <a:latin typeface="Arial Nova"/>
                <a:ea typeface="+mn-lt"/>
                <a:cs typeface="+mn-lt"/>
              </a:rPr>
              <a:t> </a:t>
            </a:r>
            <a:r>
              <a:rPr lang="en-US" sz="1800" err="1">
                <a:latin typeface="Arial Nova"/>
                <a:ea typeface="+mn-lt"/>
                <a:cs typeface="+mn-lt"/>
              </a:rPr>
              <a:t>sınıfına</a:t>
            </a:r>
            <a:r>
              <a:rPr lang="en-US" sz="1800">
                <a:latin typeface="Arial Nova"/>
                <a:ea typeface="+mn-lt"/>
                <a:cs typeface="+mn-lt"/>
              </a:rPr>
              <a:t> </a:t>
            </a:r>
            <a:r>
              <a:rPr lang="en-US" sz="1800" err="1">
                <a:latin typeface="Arial Nova"/>
                <a:ea typeface="+mn-lt"/>
                <a:cs typeface="+mn-lt"/>
              </a:rPr>
              <a:t>olan</a:t>
            </a:r>
            <a:r>
              <a:rPr lang="en-US" sz="1800">
                <a:latin typeface="Arial Nova"/>
                <a:ea typeface="+mn-lt"/>
                <a:cs typeface="+mn-lt"/>
              </a:rPr>
              <a:t> </a:t>
            </a:r>
            <a:r>
              <a:rPr lang="en-US" sz="1800" err="1">
                <a:latin typeface="Arial Nova"/>
                <a:ea typeface="+mn-lt"/>
                <a:cs typeface="+mn-lt"/>
              </a:rPr>
              <a:t>güveninin</a:t>
            </a:r>
            <a:r>
              <a:rPr lang="en-US" sz="1800">
                <a:latin typeface="Arial Nova"/>
                <a:ea typeface="+mn-lt"/>
                <a:cs typeface="+mn-lt"/>
              </a:rPr>
              <a:t> </a:t>
            </a:r>
            <a:r>
              <a:rPr lang="en-US" sz="1800" err="1">
                <a:latin typeface="Arial Nova"/>
                <a:ea typeface="+mn-lt"/>
                <a:cs typeface="+mn-lt"/>
              </a:rPr>
              <a:t>arttığını</a:t>
            </a:r>
            <a:r>
              <a:rPr lang="en-US" sz="1800">
                <a:latin typeface="Arial Nova"/>
                <a:ea typeface="+mn-lt"/>
                <a:cs typeface="+mn-lt"/>
              </a:rPr>
              <a:t> </a:t>
            </a:r>
            <a:r>
              <a:rPr lang="en-US" sz="1800" err="1">
                <a:latin typeface="Arial Nova"/>
                <a:ea typeface="+mn-lt"/>
                <a:cs typeface="+mn-lt"/>
              </a:rPr>
              <a:t>ve</a:t>
            </a:r>
            <a:r>
              <a:rPr lang="en-US" sz="1800">
                <a:latin typeface="Arial Nova"/>
                <a:ea typeface="+mn-lt"/>
                <a:cs typeface="+mn-lt"/>
              </a:rPr>
              <a:t> </a:t>
            </a:r>
            <a:r>
              <a:rPr lang="en-US" sz="1800" err="1">
                <a:latin typeface="Arial Nova"/>
                <a:ea typeface="+mn-lt"/>
                <a:cs typeface="+mn-lt"/>
              </a:rPr>
              <a:t>pozitif</a:t>
            </a:r>
            <a:r>
              <a:rPr lang="en-US" sz="1800">
                <a:latin typeface="Arial Nova"/>
                <a:ea typeface="+mn-lt"/>
                <a:cs typeface="+mn-lt"/>
              </a:rPr>
              <a:t> </a:t>
            </a:r>
            <a:r>
              <a:rPr lang="en-US" sz="1800" err="1">
                <a:latin typeface="Arial Nova"/>
                <a:ea typeface="+mn-lt"/>
                <a:cs typeface="+mn-lt"/>
              </a:rPr>
              <a:t>sınıfı</a:t>
            </a:r>
            <a:r>
              <a:rPr lang="en-US" sz="1800">
                <a:latin typeface="Arial Nova"/>
                <a:ea typeface="+mn-lt"/>
                <a:cs typeface="+mn-lt"/>
              </a:rPr>
              <a:t> </a:t>
            </a:r>
            <a:r>
              <a:rPr lang="en-US" sz="1800" err="1">
                <a:latin typeface="Arial Nova"/>
                <a:ea typeface="+mn-lt"/>
                <a:cs typeface="+mn-lt"/>
              </a:rPr>
              <a:t>ilan</a:t>
            </a:r>
            <a:r>
              <a:rPr lang="en-US" sz="1800">
                <a:latin typeface="Arial Nova"/>
                <a:ea typeface="+mn-lt"/>
                <a:cs typeface="+mn-lt"/>
              </a:rPr>
              <a:t> </a:t>
            </a:r>
            <a:r>
              <a:rPr lang="en-US" sz="1800" err="1">
                <a:latin typeface="Arial Nova"/>
                <a:ea typeface="+mn-lt"/>
                <a:cs typeface="+mn-lt"/>
              </a:rPr>
              <a:t>etmek</a:t>
            </a:r>
            <a:r>
              <a:rPr lang="en-US" sz="1800">
                <a:latin typeface="Arial Nova"/>
                <a:ea typeface="+mn-lt"/>
                <a:cs typeface="+mn-lt"/>
              </a:rPr>
              <a:t> </a:t>
            </a:r>
            <a:r>
              <a:rPr lang="en-US" sz="1800" err="1">
                <a:latin typeface="Arial Nova"/>
                <a:ea typeface="+mn-lt"/>
                <a:cs typeface="+mn-lt"/>
              </a:rPr>
              <a:t>için</a:t>
            </a:r>
            <a:r>
              <a:rPr lang="en-US" sz="1800">
                <a:latin typeface="Arial Nova"/>
                <a:ea typeface="+mn-lt"/>
                <a:cs typeface="+mn-lt"/>
              </a:rPr>
              <a:t> </a:t>
            </a:r>
            <a:r>
              <a:rPr lang="en-US" sz="1800" err="1">
                <a:latin typeface="Arial Nova"/>
                <a:ea typeface="+mn-lt"/>
                <a:cs typeface="+mn-lt"/>
              </a:rPr>
              <a:t>daha</a:t>
            </a:r>
            <a:r>
              <a:rPr lang="en-US" sz="1800">
                <a:latin typeface="Arial Nova"/>
                <a:ea typeface="+mn-lt"/>
                <a:cs typeface="+mn-lt"/>
              </a:rPr>
              <a:t> </a:t>
            </a:r>
            <a:r>
              <a:rPr lang="en-US" sz="1800" err="1">
                <a:latin typeface="Arial Nova"/>
                <a:ea typeface="+mn-lt"/>
                <a:cs typeface="+mn-lt"/>
              </a:rPr>
              <a:t>yüksek</a:t>
            </a:r>
            <a:r>
              <a:rPr lang="en-US" sz="1800">
                <a:latin typeface="Arial Nova"/>
                <a:ea typeface="+mn-lt"/>
                <a:cs typeface="+mn-lt"/>
              </a:rPr>
              <a:t> </a:t>
            </a:r>
            <a:r>
              <a:rPr lang="en-US" sz="1800" err="1">
                <a:latin typeface="Arial Nova"/>
                <a:ea typeface="+mn-lt"/>
                <a:cs typeface="+mn-lt"/>
              </a:rPr>
              <a:t>bir</a:t>
            </a:r>
            <a:r>
              <a:rPr lang="en-US" sz="1800">
                <a:latin typeface="Arial Nova"/>
                <a:ea typeface="+mn-lt"/>
                <a:cs typeface="+mn-lt"/>
              </a:rPr>
              <a:t> </a:t>
            </a:r>
            <a:r>
              <a:rPr lang="en-US" sz="1800" err="1">
                <a:latin typeface="Arial Nova"/>
                <a:ea typeface="+mn-lt"/>
                <a:cs typeface="+mn-lt"/>
              </a:rPr>
              <a:t>kesinlik</a:t>
            </a:r>
            <a:r>
              <a:rPr lang="en-US" sz="1800">
                <a:latin typeface="Arial Nova"/>
                <a:ea typeface="+mn-lt"/>
                <a:cs typeface="+mn-lt"/>
              </a:rPr>
              <a:t> </a:t>
            </a:r>
            <a:r>
              <a:rPr lang="en-US" sz="1800" err="1">
                <a:latin typeface="Arial Nova"/>
                <a:ea typeface="+mn-lt"/>
                <a:cs typeface="+mn-lt"/>
              </a:rPr>
              <a:t>istediğini</a:t>
            </a:r>
            <a:r>
              <a:rPr lang="en-US" sz="1800">
                <a:latin typeface="Arial Nova"/>
                <a:ea typeface="+mn-lt"/>
                <a:cs typeface="+mn-lt"/>
              </a:rPr>
              <a:t> </a:t>
            </a:r>
            <a:r>
              <a:rPr lang="en-US" sz="1800" err="1">
                <a:latin typeface="Arial Nova"/>
                <a:ea typeface="+mn-lt"/>
                <a:cs typeface="+mn-lt"/>
              </a:rPr>
              <a:t>gösterir</a:t>
            </a:r>
            <a:r>
              <a:rPr lang="en-US" sz="1800">
                <a:latin typeface="Arial Nova"/>
                <a:ea typeface="+mn-lt"/>
                <a:cs typeface="+mn-lt"/>
              </a:rPr>
              <a:t>. Bu </a:t>
            </a:r>
            <a:r>
              <a:rPr lang="en-US" sz="1800" err="1">
                <a:latin typeface="Arial Nova"/>
                <a:ea typeface="+mn-lt"/>
                <a:cs typeface="+mn-lt"/>
              </a:rPr>
              <a:t>yüksek</a:t>
            </a:r>
            <a:r>
              <a:rPr lang="en-US" sz="1800">
                <a:latin typeface="Arial Nova"/>
                <a:ea typeface="+mn-lt"/>
                <a:cs typeface="+mn-lt"/>
              </a:rPr>
              <a:t> </a:t>
            </a:r>
            <a:r>
              <a:rPr lang="en-US" sz="1800" err="1">
                <a:latin typeface="Arial Nova"/>
                <a:ea typeface="+mn-lt"/>
                <a:cs typeface="+mn-lt"/>
              </a:rPr>
              <a:t>eşik</a:t>
            </a:r>
            <a:r>
              <a:rPr lang="en-US" sz="1800">
                <a:latin typeface="Arial Nova"/>
                <a:ea typeface="+mn-lt"/>
                <a:cs typeface="+mn-lt"/>
              </a:rPr>
              <a:t>, </a:t>
            </a:r>
            <a:r>
              <a:rPr lang="en-US" sz="1800" err="1">
                <a:latin typeface="Arial Nova"/>
                <a:ea typeface="+mn-lt"/>
                <a:cs typeface="+mn-lt"/>
              </a:rPr>
              <a:t>modelin</a:t>
            </a:r>
            <a:r>
              <a:rPr lang="en-US" sz="1800">
                <a:latin typeface="Arial Nova"/>
                <a:ea typeface="+mn-lt"/>
                <a:cs typeface="+mn-lt"/>
              </a:rPr>
              <a:t> Precision </a:t>
            </a:r>
            <a:r>
              <a:rPr lang="en-US" sz="1800" err="1">
                <a:latin typeface="Arial Nova"/>
                <a:ea typeface="+mn-lt"/>
                <a:cs typeface="+mn-lt"/>
              </a:rPr>
              <a:t>değerini</a:t>
            </a:r>
            <a:r>
              <a:rPr lang="en-US" sz="1800">
                <a:latin typeface="Arial Nova"/>
                <a:ea typeface="+mn-lt"/>
                <a:cs typeface="+mn-lt"/>
              </a:rPr>
              <a:t> 0.114'ten 0.50'ye </a:t>
            </a:r>
            <a:r>
              <a:rPr lang="en-US" sz="1800" err="1">
                <a:latin typeface="Arial Nova"/>
                <a:ea typeface="+mn-lt"/>
                <a:cs typeface="+mn-lt"/>
              </a:rPr>
              <a:t>yükseltmiş</a:t>
            </a:r>
            <a:r>
              <a:rPr lang="en-US" sz="1800">
                <a:latin typeface="Arial Nova"/>
                <a:ea typeface="+mn-lt"/>
                <a:cs typeface="+mn-lt"/>
              </a:rPr>
              <a:t> </a:t>
            </a:r>
            <a:r>
              <a:rPr lang="en-US" sz="1800" err="1">
                <a:latin typeface="Arial Nova"/>
                <a:ea typeface="+mn-lt"/>
                <a:cs typeface="+mn-lt"/>
              </a:rPr>
              <a:t>ancak</a:t>
            </a:r>
            <a:r>
              <a:rPr lang="en-US" sz="1800">
                <a:latin typeface="Arial Nova"/>
                <a:ea typeface="+mn-lt"/>
                <a:cs typeface="+mn-lt"/>
              </a:rPr>
              <a:t> </a:t>
            </a:r>
            <a:r>
              <a:rPr lang="en-US" sz="1800" err="1">
                <a:latin typeface="Arial Nova"/>
                <a:ea typeface="+mn-lt"/>
                <a:cs typeface="+mn-lt"/>
              </a:rPr>
              <a:t>bunun</a:t>
            </a:r>
            <a:r>
              <a:rPr lang="en-US" sz="1800">
                <a:latin typeface="Arial Nova"/>
                <a:ea typeface="+mn-lt"/>
                <a:cs typeface="+mn-lt"/>
              </a:rPr>
              <a:t> </a:t>
            </a:r>
            <a:r>
              <a:rPr lang="en-US" sz="1800" err="1">
                <a:latin typeface="Arial Nova"/>
                <a:ea typeface="+mn-lt"/>
                <a:cs typeface="+mn-lt"/>
              </a:rPr>
              <a:t>karşılığında</a:t>
            </a:r>
            <a:r>
              <a:rPr lang="en-US" sz="1800">
                <a:latin typeface="Arial Nova"/>
                <a:ea typeface="+mn-lt"/>
                <a:cs typeface="+mn-lt"/>
              </a:rPr>
              <a:t> Recall </a:t>
            </a:r>
            <a:r>
              <a:rPr lang="en-US" sz="1800" err="1">
                <a:latin typeface="Arial Nova"/>
                <a:ea typeface="+mn-lt"/>
                <a:cs typeface="+mn-lt"/>
              </a:rPr>
              <a:t>değeri</a:t>
            </a:r>
            <a:r>
              <a:rPr lang="en-US" sz="1800">
                <a:latin typeface="Arial Nova"/>
                <a:ea typeface="+mn-lt"/>
                <a:cs typeface="+mn-lt"/>
              </a:rPr>
              <a:t> 0.50'den 0.20'ye </a:t>
            </a:r>
            <a:r>
              <a:rPr lang="en-US" sz="1800" err="1">
                <a:latin typeface="Arial Nova"/>
                <a:ea typeface="+mn-lt"/>
                <a:cs typeface="+mn-lt"/>
              </a:rPr>
              <a:t>düşmüştür</a:t>
            </a:r>
            <a:endParaRPr lang="en-US" sz="1800">
              <a:latin typeface="Arial Nova"/>
              <a:ea typeface="+mn-lt"/>
              <a:cs typeface="+mn-lt"/>
            </a:endParaRPr>
          </a:p>
          <a:p>
            <a:pPr marL="0" indent="0">
              <a:buNone/>
            </a:pPr>
            <a:endParaRPr lang="en-US" b="1"/>
          </a:p>
        </p:txBody>
      </p:sp>
      <p:sp>
        <p:nvSpPr>
          <p:cNvPr id="4" name="Date Placeholder 3">
            <a:extLst>
              <a:ext uri="{FF2B5EF4-FFF2-40B4-BE49-F238E27FC236}">
                <a16:creationId xmlns:a16="http://schemas.microsoft.com/office/drawing/2014/main" id="{DD430451-7729-E37E-7BD8-710B10223DF7}"/>
              </a:ext>
            </a:extLst>
          </p:cNvPr>
          <p:cNvSpPr>
            <a:spLocks noGrp="1"/>
          </p:cNvSpPr>
          <p:nvPr>
            <p:ph type="dt" sz="half" idx="10"/>
          </p:nvPr>
        </p:nvSpPr>
        <p:spPr/>
        <p:txBody>
          <a:bodyPr/>
          <a:lstStyle/>
          <a:p>
            <a:fld id="{25F31DE1-2742-4E05-BBAD-92567CB048C7}" type="datetime1">
              <a:t>25.11.2025</a:t>
            </a:fld>
            <a:endParaRPr lang="en-US"/>
          </a:p>
        </p:txBody>
      </p:sp>
      <p:sp>
        <p:nvSpPr>
          <p:cNvPr id="5" name="Footer Placeholder 4">
            <a:extLst>
              <a:ext uri="{FF2B5EF4-FFF2-40B4-BE49-F238E27FC236}">
                <a16:creationId xmlns:a16="http://schemas.microsoft.com/office/drawing/2014/main" id="{32FB0B1F-EAC4-405E-E722-E8676EBE8AB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6447995-CF5D-0571-3292-8B5848F25CFB}"/>
              </a:ext>
            </a:extLst>
          </p:cNvPr>
          <p:cNvSpPr>
            <a:spLocks noGrp="1"/>
          </p:cNvSpPr>
          <p:nvPr>
            <p:ph type="sldNum" sz="quarter" idx="12"/>
          </p:nvPr>
        </p:nvSpPr>
        <p:spPr/>
        <p:txBody>
          <a:bodyPr/>
          <a:lstStyle/>
          <a:p>
            <a:fld id="{CC057153-B650-4DEB-B370-79DDCFDCE934}" type="slidenum">
              <a:rPr lang="en-US" dirty="0"/>
              <a:t>14</a:t>
            </a:fld>
            <a:endParaRPr lang="en-US"/>
          </a:p>
        </p:txBody>
      </p:sp>
    </p:spTree>
    <p:extLst>
      <p:ext uri="{BB962C8B-B14F-4D97-AF65-F5344CB8AC3E}">
        <p14:creationId xmlns:p14="http://schemas.microsoft.com/office/powerpoint/2010/main" val="2227666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CF8A0-01DF-01C2-FFB5-5546FC1BDBF7}"/>
              </a:ext>
            </a:extLst>
          </p:cNvPr>
          <p:cNvSpPr>
            <a:spLocks noGrp="1"/>
          </p:cNvSpPr>
          <p:nvPr>
            <p:ph type="title"/>
          </p:nvPr>
        </p:nvSpPr>
        <p:spPr/>
        <p:txBody>
          <a:bodyPr/>
          <a:lstStyle/>
          <a:p>
            <a:r>
              <a:rPr lang="en-US" sz="3200">
                <a:solidFill>
                  <a:srgbClr val="00B0F0"/>
                </a:solidFill>
                <a:latin typeface="Arial Nova"/>
                <a:ea typeface="+mn-ea"/>
                <a:cs typeface="Arial"/>
              </a:rPr>
              <a:t>Model Tuning</a:t>
            </a:r>
            <a:endParaRPr lang="en-US">
              <a:ea typeface="+mn-ea"/>
            </a:endParaRPr>
          </a:p>
          <a:p>
            <a:pPr algn="ctr"/>
            <a:endParaRPr lang="en-US"/>
          </a:p>
        </p:txBody>
      </p:sp>
      <p:sp>
        <p:nvSpPr>
          <p:cNvPr id="3" name="Content Placeholder 2">
            <a:extLst>
              <a:ext uri="{FF2B5EF4-FFF2-40B4-BE49-F238E27FC236}">
                <a16:creationId xmlns:a16="http://schemas.microsoft.com/office/drawing/2014/main" id="{CC3719B3-23E2-6909-8591-FE5478FF86C4}"/>
              </a:ext>
            </a:extLst>
          </p:cNvPr>
          <p:cNvSpPr>
            <a:spLocks noGrp="1"/>
          </p:cNvSpPr>
          <p:nvPr>
            <p:ph idx="1"/>
          </p:nvPr>
        </p:nvSpPr>
        <p:spPr/>
        <p:txBody>
          <a:bodyPr vert="horz" lIns="91440" tIns="45720" rIns="91440" bIns="45720" rtlCol="0" anchor="t">
            <a:normAutofit/>
          </a:bodyPr>
          <a:lstStyle/>
          <a:p>
            <a:pPr marL="0" indent="0">
              <a:buNone/>
            </a:pPr>
            <a:r>
              <a:rPr lang="en-US" sz="3200">
                <a:solidFill>
                  <a:srgbClr val="00B0F0"/>
                </a:solidFill>
                <a:latin typeface="Arial Nova"/>
                <a:cs typeface="Arial"/>
              </a:rPr>
              <a:t>Grid Search CV</a:t>
            </a:r>
          </a:p>
          <a:p>
            <a:pPr>
              <a:buFont typeface="Calibri" panose="020B0604020202020204" pitchFamily="34" charset="0"/>
              <a:buChar char="-"/>
            </a:pPr>
            <a:r>
              <a:rPr lang="en-US">
                <a:ea typeface="+mn-lt"/>
                <a:cs typeface="+mn-lt"/>
              </a:rPr>
              <a:t>RSCV </a:t>
            </a:r>
            <a:r>
              <a:rPr lang="en-US" err="1">
                <a:ea typeface="+mn-lt"/>
                <a:cs typeface="+mn-lt"/>
              </a:rPr>
              <a:t>gibi</a:t>
            </a:r>
            <a:r>
              <a:rPr lang="en-US">
                <a:ea typeface="+mn-lt"/>
                <a:cs typeface="+mn-lt"/>
              </a:rPr>
              <a:t> </a:t>
            </a:r>
            <a:r>
              <a:rPr lang="en-US" err="1">
                <a:ea typeface="+mn-lt"/>
                <a:cs typeface="+mn-lt"/>
              </a:rPr>
              <a:t>hiperparametre</a:t>
            </a:r>
            <a:r>
              <a:rPr lang="en-US">
                <a:ea typeface="+mn-lt"/>
                <a:cs typeface="+mn-lt"/>
              </a:rPr>
              <a:t> </a:t>
            </a:r>
            <a:r>
              <a:rPr lang="en-US" err="1">
                <a:ea typeface="+mn-lt"/>
                <a:cs typeface="+mn-lt"/>
              </a:rPr>
              <a:t>optimizasyonu</a:t>
            </a:r>
            <a:r>
              <a:rPr lang="en-US">
                <a:ea typeface="+mn-lt"/>
                <a:cs typeface="+mn-lt"/>
              </a:rPr>
              <a:t> </a:t>
            </a:r>
            <a:r>
              <a:rPr lang="en-US" err="1">
                <a:ea typeface="+mn-lt"/>
                <a:cs typeface="+mn-lt"/>
              </a:rPr>
              <a:t>yapar</a:t>
            </a:r>
            <a:r>
              <a:rPr lang="en-US">
                <a:ea typeface="+mn-lt"/>
                <a:cs typeface="+mn-lt"/>
              </a:rPr>
              <a:t> </a:t>
            </a:r>
            <a:r>
              <a:rPr lang="en-US" err="1">
                <a:ea typeface="+mn-lt"/>
                <a:cs typeface="+mn-lt"/>
              </a:rPr>
              <a:t>ancak</a:t>
            </a:r>
            <a:r>
              <a:rPr lang="en-US">
                <a:ea typeface="+mn-lt"/>
                <a:cs typeface="+mn-lt"/>
              </a:rPr>
              <a:t> </a:t>
            </a:r>
            <a:r>
              <a:rPr lang="en-US" err="1">
                <a:ea typeface="+mn-lt"/>
                <a:cs typeface="+mn-lt"/>
              </a:rPr>
              <a:t>belirlediğiniz</a:t>
            </a:r>
            <a:r>
              <a:rPr lang="en-US">
                <a:ea typeface="+mn-lt"/>
                <a:cs typeface="+mn-lt"/>
              </a:rPr>
              <a:t> </a:t>
            </a:r>
            <a:r>
              <a:rPr lang="en-US" err="1">
                <a:ea typeface="+mn-lt"/>
                <a:cs typeface="+mn-lt"/>
              </a:rPr>
              <a:t>tüm</a:t>
            </a:r>
            <a:r>
              <a:rPr lang="en-US">
                <a:ea typeface="+mn-lt"/>
                <a:cs typeface="+mn-lt"/>
              </a:rPr>
              <a:t> </a:t>
            </a:r>
            <a:r>
              <a:rPr lang="en-US" err="1">
                <a:ea typeface="+mn-lt"/>
                <a:cs typeface="+mn-lt"/>
              </a:rPr>
              <a:t>olası</a:t>
            </a:r>
            <a:r>
              <a:rPr lang="en-US">
                <a:ea typeface="+mn-lt"/>
                <a:cs typeface="+mn-lt"/>
              </a:rPr>
              <a:t> </a:t>
            </a:r>
            <a:r>
              <a:rPr lang="en-US" err="1">
                <a:ea typeface="+mn-lt"/>
                <a:cs typeface="+mn-lt"/>
              </a:rPr>
              <a:t>hiperparametre</a:t>
            </a:r>
            <a:r>
              <a:rPr lang="en-US">
                <a:ea typeface="+mn-lt"/>
                <a:cs typeface="+mn-lt"/>
              </a:rPr>
              <a:t> </a:t>
            </a:r>
            <a:r>
              <a:rPr lang="en-US" err="1">
                <a:ea typeface="+mn-lt"/>
                <a:cs typeface="+mn-lt"/>
              </a:rPr>
              <a:t>değerlerinin</a:t>
            </a:r>
            <a:r>
              <a:rPr lang="en-US">
                <a:ea typeface="+mn-lt"/>
                <a:cs typeface="+mn-lt"/>
              </a:rPr>
              <a:t> her </a:t>
            </a:r>
            <a:r>
              <a:rPr lang="en-US" err="1">
                <a:ea typeface="+mn-lt"/>
                <a:cs typeface="+mn-lt"/>
              </a:rPr>
              <a:t>kombinasyonunu</a:t>
            </a:r>
            <a:r>
              <a:rPr lang="en-US">
                <a:ea typeface="+mn-lt"/>
                <a:cs typeface="+mn-lt"/>
              </a:rPr>
              <a:t> </a:t>
            </a:r>
            <a:r>
              <a:rPr lang="en-US" err="1">
                <a:ea typeface="+mn-lt"/>
                <a:cs typeface="+mn-lt"/>
              </a:rPr>
              <a:t>dener</a:t>
            </a:r>
            <a:r>
              <a:rPr lang="en-US">
                <a:ea typeface="+mn-lt"/>
                <a:cs typeface="+mn-lt"/>
              </a:rPr>
              <a:t>.</a:t>
            </a:r>
          </a:p>
          <a:p>
            <a:pPr marL="0" indent="0">
              <a:buNone/>
            </a:pPr>
            <a:endParaRPr lang="en-US"/>
          </a:p>
          <a:p>
            <a:pPr>
              <a:buFont typeface="Calibri" panose="020B0604020202020204" pitchFamily="34" charset="0"/>
              <a:buChar char="-"/>
            </a:pPr>
            <a:r>
              <a:rPr lang="en-US" err="1">
                <a:ea typeface="+mn-lt"/>
                <a:cs typeface="+mn-lt"/>
              </a:rPr>
              <a:t>RSCV'ye</a:t>
            </a:r>
            <a:r>
              <a:rPr lang="en-US">
                <a:ea typeface="+mn-lt"/>
                <a:cs typeface="+mn-lt"/>
              </a:rPr>
              <a:t> </a:t>
            </a:r>
            <a:r>
              <a:rPr lang="en-US" err="1">
                <a:ea typeface="+mn-lt"/>
                <a:cs typeface="+mn-lt"/>
              </a:rPr>
              <a:t>göre</a:t>
            </a:r>
            <a:r>
              <a:rPr lang="en-US">
                <a:ea typeface="+mn-lt"/>
                <a:cs typeface="+mn-lt"/>
              </a:rPr>
              <a:t> </a:t>
            </a:r>
            <a:r>
              <a:rPr lang="en-US" err="1">
                <a:ea typeface="+mn-lt"/>
                <a:cs typeface="+mn-lt"/>
              </a:rPr>
              <a:t>çok</a:t>
            </a:r>
            <a:r>
              <a:rPr lang="en-US">
                <a:ea typeface="+mn-lt"/>
                <a:cs typeface="+mn-lt"/>
              </a:rPr>
              <a:t> </a:t>
            </a:r>
            <a:r>
              <a:rPr lang="en-US" err="1">
                <a:ea typeface="+mn-lt"/>
                <a:cs typeface="+mn-lt"/>
              </a:rPr>
              <a:t>daha</a:t>
            </a:r>
            <a:r>
              <a:rPr lang="en-US">
                <a:ea typeface="+mn-lt"/>
                <a:cs typeface="+mn-lt"/>
              </a:rPr>
              <a:t> </a:t>
            </a:r>
            <a:r>
              <a:rPr lang="en-US" err="1">
                <a:ea typeface="+mn-lt"/>
                <a:cs typeface="+mn-lt"/>
              </a:rPr>
              <a:t>fazla</a:t>
            </a:r>
            <a:r>
              <a:rPr lang="en-US">
                <a:ea typeface="+mn-lt"/>
                <a:cs typeface="+mn-lt"/>
              </a:rPr>
              <a:t> zaman </a:t>
            </a:r>
            <a:r>
              <a:rPr lang="en-US" err="1">
                <a:ea typeface="+mn-lt"/>
                <a:cs typeface="+mn-lt"/>
              </a:rPr>
              <a:t>ve</a:t>
            </a:r>
            <a:r>
              <a:rPr lang="en-US">
                <a:ea typeface="+mn-lt"/>
                <a:cs typeface="+mn-lt"/>
              </a:rPr>
              <a:t> </a:t>
            </a:r>
            <a:r>
              <a:rPr lang="en-US" err="1">
                <a:ea typeface="+mn-lt"/>
                <a:cs typeface="+mn-lt"/>
              </a:rPr>
              <a:t>işlem</a:t>
            </a:r>
            <a:r>
              <a:rPr lang="en-US">
                <a:ea typeface="+mn-lt"/>
                <a:cs typeface="+mn-lt"/>
              </a:rPr>
              <a:t> </a:t>
            </a:r>
            <a:r>
              <a:rPr lang="en-US" err="1">
                <a:ea typeface="+mn-lt"/>
                <a:cs typeface="+mn-lt"/>
              </a:rPr>
              <a:t>gücü</a:t>
            </a:r>
            <a:r>
              <a:rPr lang="en-US">
                <a:ea typeface="+mn-lt"/>
                <a:cs typeface="+mn-lt"/>
              </a:rPr>
              <a:t> </a:t>
            </a:r>
            <a:r>
              <a:rPr lang="en-US" err="1">
                <a:ea typeface="+mn-lt"/>
                <a:cs typeface="+mn-lt"/>
              </a:rPr>
              <a:t>gerektirir</a:t>
            </a:r>
            <a:r>
              <a:rPr lang="en-US">
                <a:ea typeface="+mn-lt"/>
                <a:cs typeface="+mn-lt"/>
              </a:rPr>
              <a:t>. Random Forest </a:t>
            </a:r>
            <a:r>
              <a:rPr lang="en-US" err="1">
                <a:ea typeface="+mn-lt"/>
                <a:cs typeface="+mn-lt"/>
              </a:rPr>
              <a:t>gibi</a:t>
            </a:r>
            <a:r>
              <a:rPr lang="en-US">
                <a:ea typeface="+mn-lt"/>
                <a:cs typeface="+mn-lt"/>
              </a:rPr>
              <a:t> </a:t>
            </a:r>
            <a:r>
              <a:rPr lang="en-US" err="1">
                <a:ea typeface="+mn-lt"/>
                <a:cs typeface="+mn-lt"/>
              </a:rPr>
              <a:t>çok</a:t>
            </a:r>
            <a:r>
              <a:rPr lang="en-US">
                <a:ea typeface="+mn-lt"/>
                <a:cs typeface="+mn-lt"/>
              </a:rPr>
              <a:t> </a:t>
            </a:r>
            <a:r>
              <a:rPr lang="en-US" err="1">
                <a:ea typeface="+mn-lt"/>
                <a:cs typeface="+mn-lt"/>
              </a:rPr>
              <a:t>sayıda</a:t>
            </a:r>
            <a:r>
              <a:rPr lang="en-US">
                <a:ea typeface="+mn-lt"/>
                <a:cs typeface="+mn-lt"/>
              </a:rPr>
              <a:t> </a:t>
            </a:r>
            <a:r>
              <a:rPr lang="en-US" err="1">
                <a:ea typeface="+mn-lt"/>
                <a:cs typeface="+mn-lt"/>
              </a:rPr>
              <a:t>hiperparametreye</a:t>
            </a:r>
            <a:r>
              <a:rPr lang="en-US">
                <a:ea typeface="+mn-lt"/>
                <a:cs typeface="+mn-lt"/>
              </a:rPr>
              <a:t> </a:t>
            </a:r>
            <a:r>
              <a:rPr lang="en-US" err="1">
                <a:ea typeface="+mn-lt"/>
                <a:cs typeface="+mn-lt"/>
              </a:rPr>
              <a:t>sahip</a:t>
            </a:r>
            <a:r>
              <a:rPr lang="en-US">
                <a:ea typeface="+mn-lt"/>
                <a:cs typeface="+mn-lt"/>
              </a:rPr>
              <a:t> </a:t>
            </a:r>
            <a:r>
              <a:rPr lang="en-US" err="1">
                <a:ea typeface="+mn-lt"/>
                <a:cs typeface="+mn-lt"/>
              </a:rPr>
              <a:t>karmaşık</a:t>
            </a:r>
            <a:r>
              <a:rPr lang="en-US">
                <a:ea typeface="+mn-lt"/>
                <a:cs typeface="+mn-lt"/>
              </a:rPr>
              <a:t> </a:t>
            </a:r>
            <a:r>
              <a:rPr lang="en-US" err="1">
                <a:ea typeface="+mn-lt"/>
                <a:cs typeface="+mn-lt"/>
              </a:rPr>
              <a:t>modellerde</a:t>
            </a:r>
            <a:r>
              <a:rPr lang="en-US">
                <a:ea typeface="+mn-lt"/>
                <a:cs typeface="+mn-lt"/>
              </a:rPr>
              <a:t> </a:t>
            </a:r>
            <a:r>
              <a:rPr lang="en-US" err="1">
                <a:ea typeface="+mn-lt"/>
                <a:cs typeface="+mn-lt"/>
              </a:rPr>
              <a:t>ve</a:t>
            </a:r>
            <a:r>
              <a:rPr lang="en-US">
                <a:ea typeface="+mn-lt"/>
                <a:cs typeface="+mn-lt"/>
              </a:rPr>
              <a:t> </a:t>
            </a:r>
            <a:r>
              <a:rPr lang="en-US" err="1">
                <a:ea typeface="+mn-lt"/>
                <a:cs typeface="+mn-lt"/>
              </a:rPr>
              <a:t>çok</a:t>
            </a:r>
            <a:r>
              <a:rPr lang="en-US">
                <a:ea typeface="+mn-lt"/>
                <a:cs typeface="+mn-lt"/>
              </a:rPr>
              <a:t> </a:t>
            </a:r>
            <a:r>
              <a:rPr lang="en-US" err="1">
                <a:ea typeface="+mn-lt"/>
                <a:cs typeface="+mn-lt"/>
              </a:rPr>
              <a:t>büyük</a:t>
            </a:r>
            <a:r>
              <a:rPr lang="en-US">
                <a:ea typeface="+mn-lt"/>
                <a:cs typeface="+mn-lt"/>
              </a:rPr>
              <a:t> </a:t>
            </a:r>
            <a:r>
              <a:rPr lang="en-US" err="1">
                <a:ea typeface="+mn-lt"/>
                <a:cs typeface="+mn-lt"/>
              </a:rPr>
              <a:t>veri</a:t>
            </a:r>
            <a:r>
              <a:rPr lang="en-US">
                <a:ea typeface="+mn-lt"/>
                <a:cs typeface="+mn-lt"/>
              </a:rPr>
              <a:t> </a:t>
            </a:r>
            <a:r>
              <a:rPr lang="en-US" err="1">
                <a:ea typeface="+mn-lt"/>
                <a:cs typeface="+mn-lt"/>
              </a:rPr>
              <a:t>setlerinde</a:t>
            </a:r>
            <a:r>
              <a:rPr lang="en-US">
                <a:ea typeface="+mn-lt"/>
                <a:cs typeface="+mn-lt"/>
              </a:rPr>
              <a:t>, </a:t>
            </a:r>
            <a:r>
              <a:rPr lang="en-US" err="1">
                <a:ea typeface="+mn-lt"/>
                <a:cs typeface="+mn-lt"/>
              </a:rPr>
              <a:t>GSCV'nin</a:t>
            </a:r>
            <a:r>
              <a:rPr lang="en-US">
                <a:ea typeface="+mn-lt"/>
                <a:cs typeface="+mn-lt"/>
              </a:rPr>
              <a:t> </a:t>
            </a:r>
            <a:r>
              <a:rPr lang="en-US" err="1">
                <a:ea typeface="+mn-lt"/>
                <a:cs typeface="+mn-lt"/>
              </a:rPr>
              <a:t>çalışması</a:t>
            </a:r>
            <a:r>
              <a:rPr lang="en-US">
                <a:ea typeface="+mn-lt"/>
                <a:cs typeface="+mn-lt"/>
              </a:rPr>
              <a:t> </a:t>
            </a:r>
            <a:r>
              <a:rPr lang="en-US" err="1">
                <a:ea typeface="+mn-lt"/>
                <a:cs typeface="+mn-lt"/>
              </a:rPr>
              <a:t>günler</a:t>
            </a:r>
            <a:r>
              <a:rPr lang="en-US">
                <a:ea typeface="+mn-lt"/>
                <a:cs typeface="+mn-lt"/>
              </a:rPr>
              <a:t> </a:t>
            </a:r>
            <a:r>
              <a:rPr lang="en-US" err="1">
                <a:ea typeface="+mn-lt"/>
                <a:cs typeface="+mn-lt"/>
              </a:rPr>
              <a:t>sürebilir</a:t>
            </a:r>
            <a:r>
              <a:rPr lang="en-US">
                <a:ea typeface="+mn-lt"/>
                <a:cs typeface="+mn-lt"/>
              </a:rPr>
              <a:t>.</a:t>
            </a:r>
            <a:endParaRPr lang="en-US"/>
          </a:p>
        </p:txBody>
      </p:sp>
      <p:sp>
        <p:nvSpPr>
          <p:cNvPr id="4" name="Date Placeholder 3">
            <a:extLst>
              <a:ext uri="{FF2B5EF4-FFF2-40B4-BE49-F238E27FC236}">
                <a16:creationId xmlns:a16="http://schemas.microsoft.com/office/drawing/2014/main" id="{0EDF88BE-850A-0116-E8BB-4B020A25BB3D}"/>
              </a:ext>
            </a:extLst>
          </p:cNvPr>
          <p:cNvSpPr>
            <a:spLocks noGrp="1"/>
          </p:cNvSpPr>
          <p:nvPr>
            <p:ph type="dt" sz="half" idx="10"/>
          </p:nvPr>
        </p:nvSpPr>
        <p:spPr/>
        <p:txBody>
          <a:bodyPr/>
          <a:lstStyle/>
          <a:p>
            <a:fld id="{2949AD70-428C-425C-9EF9-DCABDD065098}" type="datetime1">
              <a:t>25.11.2025</a:t>
            </a:fld>
            <a:endParaRPr lang="en-US"/>
          </a:p>
        </p:txBody>
      </p:sp>
      <p:sp>
        <p:nvSpPr>
          <p:cNvPr id="5" name="Footer Placeholder 4">
            <a:extLst>
              <a:ext uri="{FF2B5EF4-FFF2-40B4-BE49-F238E27FC236}">
                <a16:creationId xmlns:a16="http://schemas.microsoft.com/office/drawing/2014/main" id="{8F556BD6-86E5-B1D8-6582-9467F1EDA36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DCC680A-A73D-E2A8-D558-8CC25256EAE7}"/>
              </a:ext>
            </a:extLst>
          </p:cNvPr>
          <p:cNvSpPr>
            <a:spLocks noGrp="1"/>
          </p:cNvSpPr>
          <p:nvPr>
            <p:ph type="sldNum" sz="quarter" idx="12"/>
          </p:nvPr>
        </p:nvSpPr>
        <p:spPr/>
        <p:txBody>
          <a:bodyPr/>
          <a:lstStyle/>
          <a:p>
            <a:fld id="{CC057153-B650-4DEB-B370-79DDCFDCE934}" type="slidenum">
              <a:rPr lang="en-US" dirty="0"/>
              <a:t>15</a:t>
            </a:fld>
            <a:endParaRPr lang="en-US"/>
          </a:p>
        </p:txBody>
      </p:sp>
    </p:spTree>
    <p:extLst>
      <p:ext uri="{BB962C8B-B14F-4D97-AF65-F5344CB8AC3E}">
        <p14:creationId xmlns:p14="http://schemas.microsoft.com/office/powerpoint/2010/main" val="1234209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5B93D7-342D-6D9A-A908-1BB90A09410E}"/>
              </a:ext>
            </a:extLst>
          </p:cNvPr>
          <p:cNvSpPr>
            <a:spLocks noGrp="1"/>
          </p:cNvSpPr>
          <p:nvPr>
            <p:ph type="title"/>
          </p:nvPr>
        </p:nvSpPr>
        <p:spPr/>
        <p:txBody>
          <a:bodyPr>
            <a:normAutofit/>
          </a:bodyPr>
          <a:lstStyle/>
          <a:p>
            <a:pPr algn="ctr"/>
            <a:r>
              <a:rPr lang="tr-TR" sz="3200">
                <a:solidFill>
                  <a:srgbClr val="00B0F0"/>
                </a:solidFill>
                <a:latin typeface="Arial Nova"/>
                <a:ea typeface="+mn-ea"/>
                <a:cs typeface="Arial"/>
              </a:rPr>
              <a:t>Performans Metrikleri</a:t>
            </a:r>
          </a:p>
        </p:txBody>
      </p:sp>
      <p:graphicFrame>
        <p:nvGraphicFramePr>
          <p:cNvPr id="7" name="İçerik Yer Tutucusu 6">
            <a:extLst>
              <a:ext uri="{FF2B5EF4-FFF2-40B4-BE49-F238E27FC236}">
                <a16:creationId xmlns:a16="http://schemas.microsoft.com/office/drawing/2014/main" id="{E41CE45B-EA29-639B-23FB-0E7B46A44022}"/>
              </a:ext>
            </a:extLst>
          </p:cNvPr>
          <p:cNvGraphicFramePr>
            <a:graphicFrameLocks noGrp="1"/>
          </p:cNvGraphicFramePr>
          <p:nvPr>
            <p:ph idx="1"/>
            <p:extLst>
              <p:ext uri="{D42A27DB-BD31-4B8C-83A1-F6EECF244321}">
                <p14:modId xmlns:p14="http://schemas.microsoft.com/office/powerpoint/2010/main" val="1369276931"/>
              </p:ext>
            </p:extLst>
          </p:nvPr>
        </p:nvGraphicFramePr>
        <p:xfrm>
          <a:off x="612775" y="1706795"/>
          <a:ext cx="10653697" cy="4175758"/>
        </p:xfrm>
        <a:graphic>
          <a:graphicData uri="http://schemas.openxmlformats.org/drawingml/2006/table">
            <a:tbl>
              <a:tblPr firstRow="1" bandRow="1">
                <a:tableStyleId>{5C22544A-7EE6-4342-B048-85BDC9FD1C3A}</a:tableStyleId>
              </a:tblPr>
              <a:tblGrid>
                <a:gridCol w="1850720">
                  <a:extLst>
                    <a:ext uri="{9D8B030D-6E8A-4147-A177-3AD203B41FA5}">
                      <a16:colId xmlns:a16="http://schemas.microsoft.com/office/drawing/2014/main" val="60444735"/>
                    </a:ext>
                  </a:extLst>
                </a:gridCol>
                <a:gridCol w="1268260">
                  <a:extLst>
                    <a:ext uri="{9D8B030D-6E8A-4147-A177-3AD203B41FA5}">
                      <a16:colId xmlns:a16="http://schemas.microsoft.com/office/drawing/2014/main" val="83331714"/>
                    </a:ext>
                  </a:extLst>
                </a:gridCol>
                <a:gridCol w="1240075">
                  <a:extLst>
                    <a:ext uri="{9D8B030D-6E8A-4147-A177-3AD203B41FA5}">
                      <a16:colId xmlns:a16="http://schemas.microsoft.com/office/drawing/2014/main" val="3518184711"/>
                    </a:ext>
                  </a:extLst>
                </a:gridCol>
                <a:gridCol w="967790">
                  <a:extLst>
                    <a:ext uri="{9D8B030D-6E8A-4147-A177-3AD203B41FA5}">
                      <a16:colId xmlns:a16="http://schemas.microsoft.com/office/drawing/2014/main" val="1108101792"/>
                    </a:ext>
                  </a:extLst>
                </a:gridCol>
                <a:gridCol w="1331713">
                  <a:extLst>
                    <a:ext uri="{9D8B030D-6E8A-4147-A177-3AD203B41FA5}">
                      <a16:colId xmlns:a16="http://schemas.microsoft.com/office/drawing/2014/main" val="1049695741"/>
                    </a:ext>
                  </a:extLst>
                </a:gridCol>
                <a:gridCol w="1331713">
                  <a:extLst>
                    <a:ext uri="{9D8B030D-6E8A-4147-A177-3AD203B41FA5}">
                      <a16:colId xmlns:a16="http://schemas.microsoft.com/office/drawing/2014/main" val="842422270"/>
                    </a:ext>
                  </a:extLst>
                </a:gridCol>
                <a:gridCol w="1331713">
                  <a:extLst>
                    <a:ext uri="{9D8B030D-6E8A-4147-A177-3AD203B41FA5}">
                      <a16:colId xmlns:a16="http://schemas.microsoft.com/office/drawing/2014/main" val="3343417363"/>
                    </a:ext>
                  </a:extLst>
                </a:gridCol>
                <a:gridCol w="1331713">
                  <a:extLst>
                    <a:ext uri="{9D8B030D-6E8A-4147-A177-3AD203B41FA5}">
                      <a16:colId xmlns:a16="http://schemas.microsoft.com/office/drawing/2014/main" val="3448284115"/>
                    </a:ext>
                  </a:extLst>
                </a:gridCol>
              </a:tblGrid>
              <a:tr h="370840">
                <a:tc>
                  <a:txBody>
                    <a:bodyPr/>
                    <a:lstStyle/>
                    <a:p>
                      <a:pPr algn="ctr"/>
                      <a:r>
                        <a:rPr lang="tr-TR" sz="1800" kern="1200">
                          <a:solidFill>
                            <a:srgbClr val="000000"/>
                          </a:solidFill>
                          <a:latin typeface="Arial Nova"/>
                          <a:ea typeface="+mn-lt"/>
                          <a:cs typeface="+mn-lt"/>
                        </a:rPr>
                        <a:t>Model</a:t>
                      </a:r>
                    </a:p>
                  </a:txBody>
                  <a:tcPr>
                    <a:solidFill>
                      <a:srgbClr val="00B0F0"/>
                    </a:solidFill>
                  </a:tcPr>
                </a:tc>
                <a:tc>
                  <a:txBody>
                    <a:bodyPr/>
                    <a:lstStyle/>
                    <a:p>
                      <a:pPr algn="ctr"/>
                      <a:r>
                        <a:rPr lang="tr-TR" sz="1800" kern="1200">
                          <a:solidFill>
                            <a:srgbClr val="000000"/>
                          </a:solidFill>
                          <a:latin typeface="Arial Nova"/>
                          <a:ea typeface="+mn-lt"/>
                          <a:cs typeface="+mn-lt"/>
                        </a:rPr>
                        <a:t>Precision</a:t>
                      </a:r>
                    </a:p>
                    <a:p>
                      <a:pPr lvl="0" algn="ctr">
                        <a:buNone/>
                      </a:pPr>
                      <a:r>
                        <a:rPr lang="tr-TR" sz="1800" kern="1200">
                          <a:solidFill>
                            <a:srgbClr val="000000"/>
                          </a:solidFill>
                          <a:latin typeface="Arial Nova"/>
                          <a:ea typeface="+mn-lt"/>
                          <a:cs typeface="+mn-lt"/>
                        </a:rPr>
                        <a:t>(1)</a:t>
                      </a:r>
                    </a:p>
                  </a:txBody>
                  <a:tcPr>
                    <a:solidFill>
                      <a:srgbClr val="00B0F0"/>
                    </a:solidFill>
                  </a:tcPr>
                </a:tc>
                <a:tc>
                  <a:txBody>
                    <a:bodyPr/>
                    <a:lstStyle/>
                    <a:p>
                      <a:pPr algn="ctr"/>
                      <a:r>
                        <a:rPr lang="tr-TR" sz="1800" kern="1200" err="1">
                          <a:solidFill>
                            <a:srgbClr val="000000"/>
                          </a:solidFill>
                          <a:latin typeface="Arial Nova"/>
                          <a:ea typeface="+mn-lt"/>
                          <a:cs typeface="+mn-lt"/>
                        </a:rPr>
                        <a:t>Recall</a:t>
                      </a:r>
                      <a:r>
                        <a:rPr lang="tr-TR" sz="1800" kern="1200">
                          <a:solidFill>
                            <a:srgbClr val="000000"/>
                          </a:solidFill>
                          <a:latin typeface="Arial Nova"/>
                          <a:ea typeface="+mn-lt"/>
                          <a:cs typeface="+mn-lt"/>
                        </a:rPr>
                        <a:t> </a:t>
                      </a:r>
                    </a:p>
                    <a:p>
                      <a:pPr lvl="0" algn="ctr">
                        <a:buNone/>
                      </a:pPr>
                      <a:r>
                        <a:rPr lang="tr-TR" sz="1800" kern="1200">
                          <a:solidFill>
                            <a:srgbClr val="000000"/>
                          </a:solidFill>
                          <a:latin typeface="Arial Nova"/>
                          <a:ea typeface="+mn-lt"/>
                          <a:cs typeface="+mn-lt"/>
                        </a:rPr>
                        <a:t>(1)</a:t>
                      </a:r>
                    </a:p>
                  </a:txBody>
                  <a:tcPr>
                    <a:solidFill>
                      <a:srgbClr val="00B0F0"/>
                    </a:solidFill>
                  </a:tcPr>
                </a:tc>
                <a:tc>
                  <a:txBody>
                    <a:bodyPr/>
                    <a:lstStyle/>
                    <a:p>
                      <a:pPr algn="ctr"/>
                      <a:r>
                        <a:rPr lang="tr-TR" sz="1800" kern="1200">
                          <a:solidFill>
                            <a:srgbClr val="000000"/>
                          </a:solidFill>
                          <a:latin typeface="Arial Nova"/>
                          <a:ea typeface="+mn-lt"/>
                          <a:cs typeface="+mn-lt"/>
                        </a:rPr>
                        <a:t>F1 </a:t>
                      </a:r>
                    </a:p>
                    <a:p>
                      <a:pPr lvl="0" algn="ctr">
                        <a:buNone/>
                      </a:pPr>
                      <a:r>
                        <a:rPr lang="tr-TR" sz="1800" kern="1200">
                          <a:solidFill>
                            <a:srgbClr val="000000"/>
                          </a:solidFill>
                          <a:latin typeface="Arial Nova"/>
                          <a:ea typeface="+mn-lt"/>
                          <a:cs typeface="+mn-lt"/>
                        </a:rPr>
                        <a:t>(1)</a:t>
                      </a:r>
                    </a:p>
                  </a:txBody>
                  <a:tcPr>
                    <a:solidFill>
                      <a:srgbClr val="00B0F0"/>
                    </a:solidFill>
                  </a:tcPr>
                </a:tc>
                <a:tc>
                  <a:txBody>
                    <a:bodyPr/>
                    <a:lstStyle/>
                    <a:p>
                      <a:pPr algn="ctr"/>
                      <a:r>
                        <a:rPr lang="tr-TR" sz="1800" kern="1200" err="1">
                          <a:solidFill>
                            <a:srgbClr val="000000"/>
                          </a:solidFill>
                          <a:latin typeface="Arial Nova"/>
                          <a:ea typeface="+mn-lt"/>
                          <a:cs typeface="+mn-lt"/>
                        </a:rPr>
                        <a:t>Accuracy</a:t>
                      </a:r>
                    </a:p>
                  </a:txBody>
                  <a:tcPr>
                    <a:solidFill>
                      <a:srgbClr val="00B0F0"/>
                    </a:solidFill>
                  </a:tcPr>
                </a:tc>
                <a:tc>
                  <a:txBody>
                    <a:bodyPr/>
                    <a:lstStyle/>
                    <a:p>
                      <a:pPr algn="ctr"/>
                      <a:r>
                        <a:rPr lang="tr-TR" sz="1800" kern="1200">
                          <a:solidFill>
                            <a:srgbClr val="000000"/>
                          </a:solidFill>
                          <a:latin typeface="Arial Nova"/>
                          <a:ea typeface="+mn-lt"/>
                          <a:cs typeface="+mn-lt"/>
                        </a:rPr>
                        <a:t>ROC</a:t>
                      </a:r>
                    </a:p>
                    <a:p>
                      <a:pPr lvl="0" algn="ctr">
                        <a:buNone/>
                      </a:pPr>
                      <a:r>
                        <a:rPr lang="tr-TR" sz="1800" kern="1200">
                          <a:solidFill>
                            <a:srgbClr val="000000"/>
                          </a:solidFill>
                          <a:latin typeface="Arial Nova"/>
                          <a:ea typeface="+mn-lt"/>
                          <a:cs typeface="+mn-lt"/>
                        </a:rPr>
                        <a:t>AUC</a:t>
                      </a:r>
                    </a:p>
                  </a:txBody>
                  <a:tcPr>
                    <a:solidFill>
                      <a:srgbClr val="00B0F0"/>
                    </a:solidFill>
                  </a:tcPr>
                </a:tc>
                <a:tc>
                  <a:txBody>
                    <a:bodyPr/>
                    <a:lstStyle/>
                    <a:p>
                      <a:pPr algn="ctr"/>
                      <a:r>
                        <a:rPr lang="tr-TR" sz="1800" kern="1200">
                          <a:solidFill>
                            <a:srgbClr val="000000"/>
                          </a:solidFill>
                          <a:latin typeface="Arial Nova"/>
                          <a:ea typeface="+mn-lt"/>
                          <a:cs typeface="+mn-lt"/>
                        </a:rPr>
                        <a:t>PR</a:t>
                      </a:r>
                    </a:p>
                    <a:p>
                      <a:pPr lvl="0" algn="ctr">
                        <a:buNone/>
                      </a:pPr>
                      <a:r>
                        <a:rPr lang="tr-TR" sz="1800" kern="1200">
                          <a:solidFill>
                            <a:srgbClr val="000000"/>
                          </a:solidFill>
                          <a:latin typeface="Arial Nova"/>
                          <a:ea typeface="+mn-lt"/>
                          <a:cs typeface="+mn-lt"/>
                        </a:rPr>
                        <a:t>AUC</a:t>
                      </a:r>
                    </a:p>
                  </a:txBody>
                  <a:tcPr>
                    <a:solidFill>
                      <a:srgbClr val="00B0F0"/>
                    </a:solidFill>
                  </a:tcPr>
                </a:tc>
                <a:tc>
                  <a:txBody>
                    <a:bodyPr/>
                    <a:lstStyle/>
                    <a:p>
                      <a:pPr algn="ctr"/>
                      <a:r>
                        <a:rPr lang="tr-TR" sz="1800" kern="1200">
                          <a:solidFill>
                            <a:srgbClr val="000000"/>
                          </a:solidFill>
                          <a:latin typeface="Arial Nova"/>
                          <a:ea typeface="+mn-lt"/>
                          <a:cs typeface="+mn-lt"/>
                        </a:rPr>
                        <a:t>MCC</a:t>
                      </a:r>
                    </a:p>
                  </a:txBody>
                  <a:tcPr>
                    <a:solidFill>
                      <a:srgbClr val="00B0F0"/>
                    </a:solidFill>
                  </a:tcPr>
                </a:tc>
                <a:extLst>
                  <a:ext uri="{0D108BD9-81ED-4DB2-BD59-A6C34878D82A}">
                    <a16:rowId xmlns:a16="http://schemas.microsoft.com/office/drawing/2014/main" val="759580692"/>
                  </a:ext>
                </a:extLst>
              </a:tr>
              <a:tr h="370840">
                <a:tc>
                  <a:txBody>
                    <a:bodyPr/>
                    <a:lstStyle/>
                    <a:p>
                      <a:pPr algn="l"/>
                      <a:r>
                        <a:rPr lang="tr-TR" sz="1600" kern="1200" err="1">
                          <a:solidFill>
                            <a:srgbClr val="000000"/>
                          </a:solidFill>
                          <a:latin typeface="Arial Nova"/>
                          <a:ea typeface="+mn-lt"/>
                          <a:cs typeface="+mn-lt"/>
                        </a:rPr>
                        <a:t>Logistic</a:t>
                      </a:r>
                      <a:r>
                        <a:rPr lang="tr-TR" sz="1600" kern="1200">
                          <a:solidFill>
                            <a:srgbClr val="000000"/>
                          </a:solidFill>
                          <a:latin typeface="Arial Nova"/>
                          <a:ea typeface="+mn-lt"/>
                          <a:cs typeface="+mn-lt"/>
                        </a:rPr>
                        <a:t> </a:t>
                      </a:r>
                      <a:r>
                        <a:rPr lang="tr-TR" sz="1600" kern="1200" err="1">
                          <a:solidFill>
                            <a:srgbClr val="000000"/>
                          </a:solidFill>
                          <a:latin typeface="Arial Nova"/>
                          <a:ea typeface="+mn-lt"/>
                          <a:cs typeface="+mn-lt"/>
                        </a:rPr>
                        <a:t>Regression</a:t>
                      </a:r>
                      <a:r>
                        <a:rPr lang="tr-TR" sz="1600" kern="1200">
                          <a:solidFill>
                            <a:srgbClr val="000000"/>
                          </a:solidFill>
                          <a:latin typeface="Arial Nova"/>
                          <a:ea typeface="+mn-lt"/>
                          <a:cs typeface="+mn-lt"/>
                        </a:rPr>
                        <a:t> (</a:t>
                      </a:r>
                      <a:r>
                        <a:rPr lang="tr-TR" sz="1600" kern="1200" err="1">
                          <a:solidFill>
                            <a:srgbClr val="000000"/>
                          </a:solidFill>
                          <a:latin typeface="Arial Nova"/>
                          <a:ea typeface="+mn-lt"/>
                          <a:cs typeface="+mn-lt"/>
                        </a:rPr>
                        <a:t>balanced</a:t>
                      </a:r>
                      <a:r>
                        <a:rPr lang="tr-TR" sz="1600" kern="1200">
                          <a:solidFill>
                            <a:srgbClr val="000000"/>
                          </a:solidFill>
                          <a:latin typeface="Arial Nova"/>
                          <a:ea typeface="+mn-lt"/>
                          <a:cs typeface="+mn-lt"/>
                        </a:rPr>
                        <a:t>)</a:t>
                      </a:r>
                    </a:p>
                  </a:txBody>
                  <a:tcPr/>
                </a:tc>
                <a:tc>
                  <a:txBody>
                    <a:bodyPr/>
                    <a:lstStyle/>
                    <a:p>
                      <a:r>
                        <a:rPr lang="tr-TR" sz="1600"/>
                        <a:t>0.08</a:t>
                      </a:r>
                    </a:p>
                  </a:txBody>
                  <a:tcPr/>
                </a:tc>
                <a:tc>
                  <a:txBody>
                    <a:bodyPr/>
                    <a:lstStyle/>
                    <a:p>
                      <a:r>
                        <a:rPr lang="tr-TR" sz="1600"/>
                        <a:t>0.600</a:t>
                      </a:r>
                    </a:p>
                  </a:txBody>
                  <a:tcPr/>
                </a:tc>
                <a:tc>
                  <a:txBody>
                    <a:bodyPr/>
                    <a:lstStyle/>
                    <a:p>
                      <a:r>
                        <a:rPr lang="tr-TR" sz="1600"/>
                        <a:t>0.141</a:t>
                      </a:r>
                    </a:p>
                  </a:txBody>
                  <a:tcPr/>
                </a:tc>
                <a:tc>
                  <a:txBody>
                    <a:bodyPr/>
                    <a:lstStyle/>
                    <a:p>
                      <a:r>
                        <a:rPr lang="tr-TR" sz="1600"/>
                        <a:t>0.400</a:t>
                      </a:r>
                    </a:p>
                  </a:txBody>
                  <a:tcPr/>
                </a:tc>
                <a:tc>
                  <a:txBody>
                    <a:bodyPr/>
                    <a:lstStyle/>
                    <a:p>
                      <a:r>
                        <a:rPr lang="tr-TR" sz="1600"/>
                        <a:t>0.418</a:t>
                      </a:r>
                    </a:p>
                  </a:txBody>
                  <a:tcPr/>
                </a:tc>
                <a:tc>
                  <a:txBody>
                    <a:bodyPr/>
                    <a:lstStyle/>
                    <a:p>
                      <a:r>
                        <a:rPr lang="tr-TR" sz="1600"/>
                        <a:t>0.070</a:t>
                      </a:r>
                    </a:p>
                  </a:txBody>
                  <a:tcPr/>
                </a:tc>
                <a:tc>
                  <a:txBody>
                    <a:bodyPr/>
                    <a:lstStyle/>
                    <a:p>
                      <a:r>
                        <a:rPr lang="tr-TR" sz="1600"/>
                        <a:t>Negatif</a:t>
                      </a:r>
                    </a:p>
                  </a:txBody>
                  <a:tcPr/>
                </a:tc>
                <a:extLst>
                  <a:ext uri="{0D108BD9-81ED-4DB2-BD59-A6C34878D82A}">
                    <a16:rowId xmlns:a16="http://schemas.microsoft.com/office/drawing/2014/main" val="1172031335"/>
                  </a:ext>
                </a:extLst>
              </a:tr>
              <a:tr h="370840">
                <a:tc>
                  <a:txBody>
                    <a:bodyPr/>
                    <a:lstStyle/>
                    <a:p>
                      <a:pPr algn="l"/>
                      <a:r>
                        <a:rPr lang="tr-TR" sz="1600" kern="1200" err="1">
                          <a:solidFill>
                            <a:srgbClr val="000000"/>
                          </a:solidFill>
                          <a:latin typeface="Arial Nova"/>
                          <a:ea typeface="+mn-lt"/>
                          <a:cs typeface="+mn-lt"/>
                        </a:rPr>
                        <a:t>Random</a:t>
                      </a:r>
                      <a:r>
                        <a:rPr lang="tr-TR" sz="1600" kern="1200">
                          <a:solidFill>
                            <a:srgbClr val="000000"/>
                          </a:solidFill>
                          <a:latin typeface="Arial Nova"/>
                          <a:ea typeface="+mn-lt"/>
                          <a:cs typeface="+mn-lt"/>
                        </a:rPr>
                        <a:t> </a:t>
                      </a:r>
                      <a:r>
                        <a:rPr lang="tr-TR" sz="1600" kern="1200" err="1">
                          <a:solidFill>
                            <a:srgbClr val="000000"/>
                          </a:solidFill>
                          <a:latin typeface="Arial Nova"/>
                          <a:ea typeface="+mn-lt"/>
                          <a:cs typeface="+mn-lt"/>
                        </a:rPr>
                        <a:t>Forest</a:t>
                      </a:r>
                      <a:r>
                        <a:rPr lang="tr-TR" sz="1600" kern="1200">
                          <a:solidFill>
                            <a:srgbClr val="000000"/>
                          </a:solidFill>
                          <a:latin typeface="Arial Nova"/>
                          <a:ea typeface="+mn-lt"/>
                          <a:cs typeface="+mn-lt"/>
                        </a:rPr>
                        <a:t> + SMOTE</a:t>
                      </a:r>
                    </a:p>
                  </a:txBody>
                  <a:tcPr/>
                </a:tc>
                <a:tc>
                  <a:txBody>
                    <a:bodyPr/>
                    <a:lstStyle/>
                    <a:p>
                      <a:pPr lvl="0">
                        <a:buNone/>
                      </a:pPr>
                      <a:r>
                        <a:rPr lang="tr-TR" sz="1600" b="0" i="0" u="none" strike="noStrike" noProof="0">
                          <a:solidFill>
                            <a:srgbClr val="000000"/>
                          </a:solidFill>
                        </a:rPr>
                        <a:t>0.114</a:t>
                      </a:r>
                    </a:p>
                  </a:txBody>
                  <a:tcPr/>
                </a:tc>
                <a:tc>
                  <a:txBody>
                    <a:bodyPr/>
                    <a:lstStyle/>
                    <a:p>
                      <a:r>
                        <a:rPr lang="tr-TR" sz="1600"/>
                        <a:t>0.500</a:t>
                      </a:r>
                    </a:p>
                  </a:txBody>
                  <a:tcPr/>
                </a:tc>
                <a:tc>
                  <a:txBody>
                    <a:bodyPr/>
                    <a:lstStyle/>
                    <a:p>
                      <a:r>
                        <a:rPr lang="tr-TR" sz="1600"/>
                        <a:t>0.185</a:t>
                      </a:r>
                    </a:p>
                  </a:txBody>
                  <a:tcPr/>
                </a:tc>
                <a:tc>
                  <a:txBody>
                    <a:bodyPr/>
                    <a:lstStyle/>
                    <a:p>
                      <a:r>
                        <a:rPr lang="tr-TR" sz="1600"/>
                        <a:t>0.639</a:t>
                      </a:r>
                    </a:p>
                  </a:txBody>
                  <a:tcPr/>
                </a:tc>
                <a:tc>
                  <a:txBody>
                    <a:bodyPr/>
                    <a:lstStyle/>
                    <a:p>
                      <a:r>
                        <a:rPr lang="tr-TR" sz="1600"/>
                        <a:t>0.525</a:t>
                      </a:r>
                    </a:p>
                  </a:txBody>
                  <a:tcPr/>
                </a:tc>
                <a:tc>
                  <a:txBody>
                    <a:bodyPr/>
                    <a:lstStyle/>
                    <a:p>
                      <a:r>
                        <a:rPr lang="tr-TR" sz="1600"/>
                        <a:t>0.094</a:t>
                      </a:r>
                    </a:p>
                  </a:txBody>
                  <a:tcPr/>
                </a:tc>
                <a:tc>
                  <a:txBody>
                    <a:bodyPr/>
                    <a:lstStyle/>
                    <a:p>
                      <a:r>
                        <a:rPr lang="tr-TR" sz="1600"/>
                        <a:t>0.087 (Düşük)</a:t>
                      </a:r>
                    </a:p>
                  </a:txBody>
                  <a:tcPr/>
                </a:tc>
                <a:extLst>
                  <a:ext uri="{0D108BD9-81ED-4DB2-BD59-A6C34878D82A}">
                    <a16:rowId xmlns:a16="http://schemas.microsoft.com/office/drawing/2014/main" val="3980082197"/>
                  </a:ext>
                </a:extLst>
              </a:tr>
              <a:tr h="370840">
                <a:tc>
                  <a:txBody>
                    <a:bodyPr/>
                    <a:lstStyle/>
                    <a:p>
                      <a:pPr lvl="0" algn="l">
                        <a:buNone/>
                      </a:pPr>
                      <a:r>
                        <a:rPr lang="tr-TR" sz="1600" b="0" i="0" u="none" strike="noStrike" kern="1200" noProof="0" err="1">
                          <a:solidFill>
                            <a:srgbClr val="000000"/>
                          </a:solidFill>
                          <a:latin typeface="Arial Nova"/>
                        </a:rPr>
                        <a:t>XGBoost</a:t>
                      </a:r>
                      <a:r>
                        <a:rPr lang="tr-TR" sz="1600" b="0" i="0" u="none" strike="noStrike" kern="1200" noProof="0">
                          <a:solidFill>
                            <a:srgbClr val="000000"/>
                          </a:solidFill>
                          <a:latin typeface="Arial Nova"/>
                        </a:rPr>
                        <a:t> + SMOTE / SPW</a:t>
                      </a:r>
                      <a:endParaRPr lang="tr-TR" sz="1600" kern="1200">
                        <a:solidFill>
                          <a:srgbClr val="000000"/>
                        </a:solidFill>
                        <a:latin typeface="Arial Nova"/>
                        <a:ea typeface="+mn-lt"/>
                        <a:cs typeface="+mn-lt"/>
                      </a:endParaRPr>
                    </a:p>
                  </a:txBody>
                  <a:tcPr/>
                </a:tc>
                <a:tc>
                  <a:txBody>
                    <a:bodyPr/>
                    <a:lstStyle/>
                    <a:p>
                      <a:r>
                        <a:rPr lang="tr-TR" sz="1600"/>
                        <a:t>0.074</a:t>
                      </a:r>
                    </a:p>
                  </a:txBody>
                  <a:tcPr/>
                </a:tc>
                <a:tc>
                  <a:txBody>
                    <a:bodyPr/>
                    <a:lstStyle/>
                    <a:p>
                      <a:r>
                        <a:rPr lang="tr-TR" sz="1600"/>
                        <a:t>0.500</a:t>
                      </a:r>
                    </a:p>
                  </a:txBody>
                  <a:tcPr/>
                </a:tc>
                <a:tc>
                  <a:txBody>
                    <a:bodyPr/>
                    <a:lstStyle/>
                    <a:p>
                      <a:r>
                        <a:rPr lang="tr-TR" sz="1600"/>
                        <a:t>0.130</a:t>
                      </a:r>
                    </a:p>
                  </a:txBody>
                  <a:tcPr/>
                </a:tc>
                <a:tc>
                  <a:txBody>
                    <a:bodyPr/>
                    <a:lstStyle/>
                    <a:p>
                      <a:r>
                        <a:rPr lang="tr-TR" sz="1600"/>
                        <a:t>0.450</a:t>
                      </a:r>
                    </a:p>
                  </a:txBody>
                  <a:tcPr/>
                </a:tc>
                <a:tc>
                  <a:txBody>
                    <a:bodyPr/>
                    <a:lstStyle/>
                    <a:p>
                      <a:r>
                        <a:rPr lang="tr-TR" sz="1600"/>
                        <a:t>0.430</a:t>
                      </a:r>
                    </a:p>
                  </a:txBody>
                  <a:tcPr/>
                </a:tc>
                <a:tc>
                  <a:txBody>
                    <a:bodyPr/>
                    <a:lstStyle/>
                    <a:p>
                      <a:r>
                        <a:rPr lang="tr-TR" sz="1600"/>
                        <a:t>0.08</a:t>
                      </a:r>
                    </a:p>
                  </a:txBody>
                  <a:tcPr/>
                </a:tc>
                <a:tc>
                  <a:txBody>
                    <a:bodyPr/>
                    <a:lstStyle/>
                    <a:p>
                      <a:r>
                        <a:rPr lang="tr-TR" sz="1600"/>
                        <a:t>Negatif</a:t>
                      </a:r>
                    </a:p>
                  </a:txBody>
                  <a:tcPr/>
                </a:tc>
                <a:extLst>
                  <a:ext uri="{0D108BD9-81ED-4DB2-BD59-A6C34878D82A}">
                    <a16:rowId xmlns:a16="http://schemas.microsoft.com/office/drawing/2014/main" val="3963341335"/>
                  </a:ext>
                </a:extLst>
              </a:tr>
              <a:tr h="731519">
                <a:tc>
                  <a:txBody>
                    <a:bodyPr/>
                    <a:lstStyle/>
                    <a:p>
                      <a:pPr algn="l"/>
                      <a:r>
                        <a:rPr lang="tr-TR" sz="1600" kern="1200" err="1">
                          <a:solidFill>
                            <a:srgbClr val="000000"/>
                          </a:solidFill>
                          <a:latin typeface="Arial Nova"/>
                          <a:ea typeface="+mn-lt"/>
                          <a:cs typeface="+mn-lt"/>
                        </a:rPr>
                        <a:t>Neural</a:t>
                      </a:r>
                      <a:r>
                        <a:rPr lang="tr-TR" sz="1600" kern="1200">
                          <a:solidFill>
                            <a:srgbClr val="000000"/>
                          </a:solidFill>
                          <a:latin typeface="Arial Nova"/>
                          <a:ea typeface="+mn-lt"/>
                          <a:cs typeface="+mn-lt"/>
                        </a:rPr>
                        <a:t> Network + KFOLD+</a:t>
                      </a:r>
                      <a:endParaRPr lang="tr-TR"/>
                    </a:p>
                    <a:p>
                      <a:pPr lvl="0" algn="l">
                        <a:buNone/>
                      </a:pPr>
                      <a:r>
                        <a:rPr lang="tr-TR" sz="1600" kern="1200" err="1">
                          <a:solidFill>
                            <a:srgbClr val="000000"/>
                          </a:solidFill>
                          <a:latin typeface="Arial Nova"/>
                          <a:ea typeface="+mn-lt"/>
                          <a:cs typeface="+mn-lt"/>
                        </a:rPr>
                        <a:t>RandomizedSrc</a:t>
                      </a:r>
                    </a:p>
                  </a:txBody>
                  <a:tcPr/>
                </a:tc>
                <a:tc>
                  <a:txBody>
                    <a:bodyPr/>
                    <a:lstStyle/>
                    <a:p>
                      <a:r>
                        <a:rPr lang="tr-TR" sz="1600"/>
                        <a:t>0.100</a:t>
                      </a:r>
                    </a:p>
                  </a:txBody>
                  <a:tcPr/>
                </a:tc>
                <a:tc>
                  <a:txBody>
                    <a:bodyPr/>
                    <a:lstStyle/>
                    <a:p>
                      <a:r>
                        <a:rPr lang="tr-TR" sz="1600"/>
                        <a:t>0.500</a:t>
                      </a:r>
                    </a:p>
                  </a:txBody>
                  <a:tcPr/>
                </a:tc>
                <a:tc>
                  <a:txBody>
                    <a:bodyPr/>
                    <a:lstStyle/>
                    <a:p>
                      <a:r>
                        <a:rPr lang="tr-TR" sz="1600"/>
                        <a:t>0.167</a:t>
                      </a:r>
                    </a:p>
                  </a:txBody>
                  <a:tcPr/>
                </a:tc>
                <a:tc>
                  <a:txBody>
                    <a:bodyPr/>
                    <a:lstStyle/>
                    <a:p>
                      <a:r>
                        <a:rPr lang="tr-TR" sz="1600"/>
                        <a:t>0.590</a:t>
                      </a:r>
                    </a:p>
                  </a:txBody>
                  <a:tcPr/>
                </a:tc>
                <a:tc>
                  <a:txBody>
                    <a:bodyPr/>
                    <a:lstStyle/>
                    <a:p>
                      <a:r>
                        <a:rPr lang="tr-TR" sz="1600"/>
                        <a:t>0.412</a:t>
                      </a:r>
                    </a:p>
                  </a:txBody>
                  <a:tcPr/>
                </a:tc>
                <a:tc>
                  <a:txBody>
                    <a:bodyPr/>
                    <a:lstStyle/>
                    <a:p>
                      <a:r>
                        <a:rPr lang="tr-TR" sz="1600"/>
                        <a:t>0.074</a:t>
                      </a:r>
                    </a:p>
                  </a:txBody>
                  <a:tcPr/>
                </a:tc>
                <a:tc>
                  <a:txBody>
                    <a:bodyPr/>
                    <a:lstStyle/>
                    <a:p>
                      <a:r>
                        <a:rPr lang="tr-TR" sz="1600"/>
                        <a:t>Negatif</a:t>
                      </a:r>
                    </a:p>
                  </a:txBody>
                  <a:tcPr/>
                </a:tc>
                <a:extLst>
                  <a:ext uri="{0D108BD9-81ED-4DB2-BD59-A6C34878D82A}">
                    <a16:rowId xmlns:a16="http://schemas.microsoft.com/office/drawing/2014/main" val="2998038714"/>
                  </a:ext>
                </a:extLst>
              </a:tr>
              <a:tr h="731518">
                <a:tc>
                  <a:txBody>
                    <a:bodyPr/>
                    <a:lstStyle/>
                    <a:p>
                      <a:pPr lvl="0" algn="l">
                        <a:buNone/>
                      </a:pPr>
                      <a:r>
                        <a:rPr lang="tr-TR" sz="1600" kern="1200">
                          <a:solidFill>
                            <a:srgbClr val="000000"/>
                          </a:solidFill>
                          <a:latin typeface="Arial Nova"/>
                          <a:ea typeface="+mn-lt"/>
                          <a:cs typeface="+mn-lt"/>
                        </a:rPr>
                        <a:t>EBM +KFOLD+ SMOTE</a:t>
                      </a:r>
                    </a:p>
                  </a:txBody>
                  <a:tcPr/>
                </a:tc>
                <a:tc>
                  <a:txBody>
                    <a:bodyPr/>
                    <a:lstStyle/>
                    <a:p>
                      <a:pPr lvl="0">
                        <a:buNone/>
                      </a:pPr>
                      <a:r>
                        <a:rPr lang="tr-TR" sz="1600"/>
                        <a:t>0.050</a:t>
                      </a:r>
                    </a:p>
                  </a:txBody>
                  <a:tcPr/>
                </a:tc>
                <a:tc>
                  <a:txBody>
                    <a:bodyPr/>
                    <a:lstStyle/>
                    <a:p>
                      <a:pPr lvl="0">
                        <a:buNone/>
                      </a:pPr>
                      <a:r>
                        <a:rPr lang="tr-TR" sz="1600"/>
                        <a:t>0.036</a:t>
                      </a:r>
                    </a:p>
                  </a:txBody>
                  <a:tcPr/>
                </a:tc>
                <a:tc>
                  <a:txBody>
                    <a:bodyPr/>
                    <a:lstStyle/>
                    <a:p>
                      <a:pPr lvl="0">
                        <a:buNone/>
                      </a:pPr>
                      <a:r>
                        <a:rPr lang="tr-TR" sz="1600"/>
                        <a:t>0.042</a:t>
                      </a:r>
                    </a:p>
                  </a:txBody>
                  <a:tcPr/>
                </a:tc>
                <a:tc>
                  <a:txBody>
                    <a:bodyPr/>
                    <a:lstStyle/>
                    <a:p>
                      <a:pPr lvl="0">
                        <a:buNone/>
                      </a:pPr>
                      <a:r>
                        <a:rPr lang="tr-TR" sz="1600"/>
                        <a:t>0.890</a:t>
                      </a:r>
                    </a:p>
                  </a:txBody>
                  <a:tcPr/>
                </a:tc>
                <a:tc>
                  <a:txBody>
                    <a:bodyPr/>
                    <a:lstStyle/>
                    <a:p>
                      <a:pPr lvl="0">
                        <a:buNone/>
                      </a:pPr>
                      <a:r>
                        <a:rPr lang="tr-TR" sz="1600"/>
                        <a:t>0.554</a:t>
                      </a:r>
                    </a:p>
                  </a:txBody>
                  <a:tcPr/>
                </a:tc>
                <a:tc>
                  <a:txBody>
                    <a:bodyPr/>
                    <a:lstStyle/>
                    <a:p>
                      <a:pPr lvl="0">
                        <a:buNone/>
                      </a:pPr>
                      <a:r>
                        <a:rPr lang="tr-TR" sz="1600"/>
                        <a:t>0.123</a:t>
                      </a:r>
                    </a:p>
                  </a:txBody>
                  <a:tcPr/>
                </a:tc>
                <a:tc>
                  <a:txBody>
                    <a:bodyPr/>
                    <a:lstStyle/>
                    <a:p>
                      <a:pPr lvl="0">
                        <a:buNone/>
                      </a:pPr>
                      <a:r>
                        <a:rPr lang="tr-TR" sz="1600"/>
                        <a:t>Negatif</a:t>
                      </a:r>
                    </a:p>
                  </a:txBody>
                  <a:tcPr/>
                </a:tc>
                <a:extLst>
                  <a:ext uri="{0D108BD9-81ED-4DB2-BD59-A6C34878D82A}">
                    <a16:rowId xmlns:a16="http://schemas.microsoft.com/office/drawing/2014/main" val="3876547301"/>
                  </a:ext>
                </a:extLst>
              </a:tr>
            </a:tbl>
          </a:graphicData>
        </a:graphic>
      </p:graphicFrame>
      <p:sp>
        <p:nvSpPr>
          <p:cNvPr id="4" name="Veri Yer Tutucusu 3">
            <a:extLst>
              <a:ext uri="{FF2B5EF4-FFF2-40B4-BE49-F238E27FC236}">
                <a16:creationId xmlns:a16="http://schemas.microsoft.com/office/drawing/2014/main" id="{26AA1C31-4269-708F-ED84-9B4ECC166740}"/>
              </a:ext>
            </a:extLst>
          </p:cNvPr>
          <p:cNvSpPr>
            <a:spLocks noGrp="1"/>
          </p:cNvSpPr>
          <p:nvPr>
            <p:ph type="dt" sz="half" idx="10"/>
          </p:nvPr>
        </p:nvSpPr>
        <p:spPr/>
        <p:txBody>
          <a:bodyPr/>
          <a:lstStyle/>
          <a:p>
            <a:fld id="{DC0D5656-A03F-4125-9D14-BFEC9CDF03F5}" type="datetime1">
              <a:t>25.11.2025</a:t>
            </a:fld>
            <a:endParaRPr lang="en-US"/>
          </a:p>
        </p:txBody>
      </p:sp>
      <p:sp>
        <p:nvSpPr>
          <p:cNvPr id="5" name="Alt Bilgi Yer Tutucusu 4">
            <a:extLst>
              <a:ext uri="{FF2B5EF4-FFF2-40B4-BE49-F238E27FC236}">
                <a16:creationId xmlns:a16="http://schemas.microsoft.com/office/drawing/2014/main" id="{4C7C0654-D289-60B8-6DE2-CAA74C098486}"/>
              </a:ext>
            </a:extLst>
          </p:cNvPr>
          <p:cNvSpPr>
            <a:spLocks noGrp="1"/>
          </p:cNvSpPr>
          <p:nvPr>
            <p:ph type="ftr" sz="quarter" idx="11"/>
          </p:nvPr>
        </p:nvSpPr>
        <p:spPr/>
        <p:txBody>
          <a:bodyPr/>
          <a:lstStyle/>
          <a:p>
            <a:r>
              <a:rPr lang="en-US"/>
              <a:t>
              </a:t>
            </a:r>
          </a:p>
        </p:txBody>
      </p:sp>
      <p:sp>
        <p:nvSpPr>
          <p:cNvPr id="6" name="Slayt Numarası Yer Tutucusu 5">
            <a:extLst>
              <a:ext uri="{FF2B5EF4-FFF2-40B4-BE49-F238E27FC236}">
                <a16:creationId xmlns:a16="http://schemas.microsoft.com/office/drawing/2014/main" id="{D63C81EB-ECE9-AF6D-4362-A0BC918E28D0}"/>
              </a:ext>
            </a:extLst>
          </p:cNvPr>
          <p:cNvSpPr>
            <a:spLocks noGrp="1"/>
          </p:cNvSpPr>
          <p:nvPr>
            <p:ph type="sldNum" sz="quarter" idx="12"/>
          </p:nvPr>
        </p:nvSpPr>
        <p:spPr/>
        <p:txBody>
          <a:bodyPr/>
          <a:lstStyle/>
          <a:p>
            <a:fld id="{CC057153-B650-4DEB-B370-79DDCFDCE934}" type="slidenum">
              <a:rPr lang="en-US" dirty="0"/>
              <a:t>16</a:t>
            </a:fld>
            <a:endParaRPr lang="en-US"/>
          </a:p>
        </p:txBody>
      </p:sp>
    </p:spTree>
    <p:extLst>
      <p:ext uri="{BB962C8B-B14F-4D97-AF65-F5344CB8AC3E}">
        <p14:creationId xmlns:p14="http://schemas.microsoft.com/office/powerpoint/2010/main" val="606973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22020-8BE1-37F2-7B7A-915A76CFB09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B221203-BBD0-5379-B03A-4D1E2609CC0E}"/>
              </a:ext>
            </a:extLst>
          </p:cNvPr>
          <p:cNvSpPr>
            <a:spLocks noGrp="1"/>
          </p:cNvSpPr>
          <p:nvPr>
            <p:ph type="title"/>
          </p:nvPr>
        </p:nvSpPr>
        <p:spPr>
          <a:xfrm>
            <a:off x="612648" y="548640"/>
            <a:ext cx="10653578" cy="378280"/>
          </a:xfrm>
        </p:spPr>
        <p:txBody>
          <a:bodyPr>
            <a:noAutofit/>
          </a:bodyPr>
          <a:lstStyle/>
          <a:p>
            <a:pPr algn="ctr"/>
            <a:r>
              <a:rPr lang="tr-TR" sz="2800">
                <a:solidFill>
                  <a:srgbClr val="00B0F0"/>
                </a:solidFill>
                <a:latin typeface="Arial Nova"/>
                <a:ea typeface="+mn-ea"/>
                <a:cs typeface="Arial"/>
              </a:rPr>
              <a:t>SHAP Analizi</a:t>
            </a:r>
            <a:br>
              <a:rPr lang="tr-TR" sz="2800">
                <a:solidFill>
                  <a:srgbClr val="00B0F0"/>
                </a:solidFill>
                <a:latin typeface="Arial Nova"/>
                <a:ea typeface="+mn-ea"/>
                <a:cs typeface="Arial"/>
              </a:rPr>
            </a:br>
            <a:endParaRPr lang="tr-TR" sz="2800">
              <a:solidFill>
                <a:srgbClr val="00B0F0"/>
              </a:solidFill>
              <a:latin typeface="Arial Nova"/>
              <a:ea typeface="+mn-ea"/>
              <a:cs typeface="Arial"/>
            </a:endParaRPr>
          </a:p>
        </p:txBody>
      </p:sp>
      <p:sp>
        <p:nvSpPr>
          <p:cNvPr id="3" name="İçerik Yer Tutucusu 2">
            <a:extLst>
              <a:ext uri="{FF2B5EF4-FFF2-40B4-BE49-F238E27FC236}">
                <a16:creationId xmlns:a16="http://schemas.microsoft.com/office/drawing/2014/main" id="{B4E53097-2F9F-8F8D-7350-7B5183799410}"/>
              </a:ext>
            </a:extLst>
          </p:cNvPr>
          <p:cNvSpPr>
            <a:spLocks noGrp="1"/>
          </p:cNvSpPr>
          <p:nvPr>
            <p:ph idx="1"/>
          </p:nvPr>
        </p:nvSpPr>
        <p:spPr>
          <a:xfrm>
            <a:off x="612647" y="937490"/>
            <a:ext cx="10653579" cy="5371870"/>
          </a:xfrm>
        </p:spPr>
        <p:txBody>
          <a:bodyPr vert="horz" lIns="91440" tIns="45720" rIns="91440" bIns="45720" rtlCol="0" anchor="t">
            <a:noAutofit/>
          </a:bodyPr>
          <a:lstStyle/>
          <a:p>
            <a:pPr marL="0" indent="0">
              <a:buNone/>
            </a:pPr>
            <a:r>
              <a:rPr lang="tr-TR" sz="1500" b="1">
                <a:solidFill>
                  <a:srgbClr val="1F2328"/>
                </a:solidFill>
                <a:latin typeface="Neue Haas Grotesk Text Pro"/>
                <a:cs typeface="Arial"/>
              </a:rPr>
              <a:t>Amaç:</a:t>
            </a:r>
            <a:r>
              <a:rPr lang="tr-TR" sz="1500">
                <a:solidFill>
                  <a:srgbClr val="1F2328"/>
                </a:solidFill>
                <a:latin typeface="Neue Haas Grotesk Text Pro"/>
                <a:cs typeface="Arial"/>
              </a:rPr>
              <a:t> Modelin karar mekanizmasını açıklamak</a:t>
            </a:r>
          </a:p>
          <a:p>
            <a:pPr marL="0" indent="0">
              <a:buNone/>
            </a:pPr>
            <a:r>
              <a:rPr lang="tr-TR" sz="1500" b="1">
                <a:solidFill>
                  <a:srgbClr val="1F2328"/>
                </a:solidFill>
                <a:latin typeface="Neue Haas Grotesk Text Pro"/>
                <a:cs typeface="Arial"/>
              </a:rPr>
              <a:t>Yöntem:</a:t>
            </a:r>
          </a:p>
          <a:p>
            <a:pPr marL="0" indent="0">
              <a:buNone/>
            </a:pPr>
            <a:r>
              <a:rPr lang="tr-TR" sz="1500" err="1">
                <a:solidFill>
                  <a:srgbClr val="1F2328"/>
                </a:solidFill>
                <a:latin typeface="Neue Haas Grotesk Text Pro"/>
                <a:cs typeface="Arial"/>
              </a:rPr>
              <a:t>TreeSHAP</a:t>
            </a:r>
            <a:r>
              <a:rPr lang="tr-TR" sz="1500">
                <a:solidFill>
                  <a:srgbClr val="1F2328"/>
                </a:solidFill>
                <a:latin typeface="Neue Haas Grotesk Text Pro"/>
                <a:cs typeface="Arial"/>
              </a:rPr>
              <a:t> yöntemi kullanıldı</a:t>
            </a:r>
            <a:endParaRPr lang="tr-TR"/>
          </a:p>
          <a:p>
            <a:pPr marL="0" indent="0">
              <a:buNone/>
            </a:pPr>
            <a:r>
              <a:rPr lang="tr-TR" sz="1500" err="1">
                <a:solidFill>
                  <a:srgbClr val="1F2328"/>
                </a:solidFill>
                <a:latin typeface="Neue Haas Grotesk Text Pro"/>
                <a:cs typeface="Arial"/>
              </a:rPr>
              <a:t>Random</a:t>
            </a:r>
            <a:r>
              <a:rPr lang="tr-TR" sz="1500">
                <a:solidFill>
                  <a:srgbClr val="1F2328"/>
                </a:solidFill>
                <a:latin typeface="Neue Haas Grotesk Text Pro"/>
                <a:cs typeface="Arial"/>
              </a:rPr>
              <a:t> </a:t>
            </a:r>
            <a:r>
              <a:rPr lang="tr-TR" sz="1500" err="1">
                <a:solidFill>
                  <a:srgbClr val="1F2328"/>
                </a:solidFill>
                <a:latin typeface="Neue Haas Grotesk Text Pro"/>
                <a:cs typeface="Arial"/>
              </a:rPr>
              <a:t>Forest</a:t>
            </a:r>
            <a:r>
              <a:rPr lang="tr-TR" sz="1500">
                <a:solidFill>
                  <a:srgbClr val="1F2328"/>
                </a:solidFill>
                <a:latin typeface="Neue Haas Grotesk Text Pro"/>
                <a:cs typeface="Arial"/>
              </a:rPr>
              <a:t> + SMOTE + </a:t>
            </a:r>
            <a:r>
              <a:rPr lang="tr-TR" sz="1500" err="1">
                <a:solidFill>
                  <a:srgbClr val="1F2328"/>
                </a:solidFill>
                <a:latin typeface="Neue Haas Grotesk Text Pro"/>
                <a:cs typeface="Arial"/>
              </a:rPr>
              <a:t>Threshold</a:t>
            </a:r>
            <a:r>
              <a:rPr lang="tr-TR" sz="1500">
                <a:solidFill>
                  <a:srgbClr val="1F2328"/>
                </a:solidFill>
                <a:latin typeface="Neue Haas Grotesk Text Pro"/>
                <a:cs typeface="Arial"/>
              </a:rPr>
              <a:t> modeli için uygulandı</a:t>
            </a:r>
            <a:endParaRPr lang="tr-TR"/>
          </a:p>
          <a:p>
            <a:pPr marL="0" indent="0">
              <a:buNone/>
            </a:pPr>
            <a:r>
              <a:rPr lang="tr-TR" sz="1500">
                <a:solidFill>
                  <a:srgbClr val="1F2328"/>
                </a:solidFill>
                <a:latin typeface="Neue Haas Grotesk Text Pro"/>
                <a:cs typeface="Arial"/>
              </a:rPr>
              <a:t>80 özellik üzerinde analiz yapıldı</a:t>
            </a:r>
            <a:endParaRPr lang="tr-TR"/>
          </a:p>
          <a:p>
            <a:pPr marL="0" indent="0">
              <a:buNone/>
            </a:pPr>
            <a:r>
              <a:rPr lang="tr-TR" sz="1500" b="1">
                <a:solidFill>
                  <a:srgbClr val="1F2328"/>
                </a:solidFill>
                <a:latin typeface="Neue Haas Grotesk Text Pro"/>
                <a:cs typeface="Arial"/>
              </a:rPr>
              <a:t>Bulgular:</a:t>
            </a:r>
          </a:p>
          <a:p>
            <a:pPr>
              <a:buNone/>
            </a:pPr>
            <a:r>
              <a:rPr lang="tr-TR" sz="1500">
                <a:solidFill>
                  <a:srgbClr val="1F2328"/>
                </a:solidFill>
                <a:latin typeface="Neue Haas Grotesk Text Pro"/>
                <a:cs typeface="Arial"/>
              </a:rPr>
              <a:t>Model, her özelliğin tahmine katkısını sayısal olarak açıkladı</a:t>
            </a:r>
            <a:endParaRPr lang="tr-TR" sz="1200">
              <a:solidFill>
                <a:srgbClr val="1F2328"/>
              </a:solidFill>
              <a:latin typeface="Neue Haas Grotesk Text Pro"/>
              <a:cs typeface="Arial"/>
            </a:endParaRPr>
          </a:p>
          <a:p>
            <a:pPr marL="0" indent="0">
              <a:buNone/>
            </a:pPr>
            <a:r>
              <a:rPr lang="tr-TR" sz="1500">
                <a:solidFill>
                  <a:srgbClr val="1F2328"/>
                </a:solidFill>
                <a:latin typeface="Neue Haas Grotesk Text Pro"/>
                <a:cs typeface="Arial"/>
              </a:rPr>
              <a:t>SHAP değerleri ile </a:t>
            </a:r>
            <a:r>
              <a:rPr lang="tr-TR" sz="1500" err="1">
                <a:solidFill>
                  <a:srgbClr val="1F2328"/>
                </a:solidFill>
                <a:latin typeface="Neue Haas Grotesk Text Pro"/>
                <a:cs typeface="Arial"/>
              </a:rPr>
              <a:t>feature'ların</a:t>
            </a:r>
            <a:r>
              <a:rPr lang="tr-TR" sz="1500">
                <a:solidFill>
                  <a:srgbClr val="1F2328"/>
                </a:solidFill>
                <a:latin typeface="Neue Haas Grotesk Text Pro"/>
                <a:cs typeface="Arial"/>
              </a:rPr>
              <a:t> pozitif/negatif etkileri belirlendi</a:t>
            </a:r>
          </a:p>
          <a:p>
            <a:pPr marL="0" indent="0">
              <a:buNone/>
            </a:pPr>
            <a:r>
              <a:rPr lang="tr-TR" sz="1500" b="1">
                <a:solidFill>
                  <a:srgbClr val="1F2328"/>
                </a:solidFill>
                <a:latin typeface="Neue Haas Grotesk Text Pro"/>
                <a:cs typeface="Arial"/>
              </a:rPr>
              <a:t>Sonuç:</a:t>
            </a:r>
            <a:endParaRPr lang="tr-TR"/>
          </a:p>
          <a:p>
            <a:pPr marL="0" indent="0">
              <a:buNone/>
            </a:pPr>
            <a:r>
              <a:rPr lang="tr-TR" sz="1500">
                <a:solidFill>
                  <a:srgbClr val="1F2328"/>
                </a:solidFill>
                <a:latin typeface="Neue Haas Grotesk Text Pro"/>
                <a:cs typeface="Arial"/>
              </a:rPr>
              <a:t>Model kararları şeffaf ve yorumlanabilir</a:t>
            </a:r>
          </a:p>
          <a:p>
            <a:pPr marL="0" indent="0">
              <a:buNone/>
            </a:pPr>
            <a:r>
              <a:rPr lang="tr-TR" sz="1500">
                <a:solidFill>
                  <a:srgbClr val="1F2328"/>
                </a:solidFill>
                <a:latin typeface="Neue Haas Grotesk Text Pro"/>
                <a:cs typeface="Arial"/>
              </a:rPr>
              <a:t>Klinik literatürle uyumlu sonuçlar elde edildi</a:t>
            </a:r>
          </a:p>
          <a:p>
            <a:pPr marL="0" indent="0">
              <a:buNone/>
            </a:pPr>
            <a:endParaRPr lang="tr-TR" sz="1500">
              <a:solidFill>
                <a:srgbClr val="1F2328"/>
              </a:solidFill>
              <a:ea typeface="+mn-lt"/>
              <a:cs typeface="Arial"/>
            </a:endParaRPr>
          </a:p>
          <a:p>
            <a:endParaRPr lang="tr-TR"/>
          </a:p>
        </p:txBody>
      </p:sp>
      <p:sp>
        <p:nvSpPr>
          <p:cNvPr id="4" name="Veri Yer Tutucusu 3">
            <a:extLst>
              <a:ext uri="{FF2B5EF4-FFF2-40B4-BE49-F238E27FC236}">
                <a16:creationId xmlns:a16="http://schemas.microsoft.com/office/drawing/2014/main" id="{C9177A57-6F7A-A51C-58B6-0AD9405D0DE0}"/>
              </a:ext>
            </a:extLst>
          </p:cNvPr>
          <p:cNvSpPr>
            <a:spLocks noGrp="1"/>
          </p:cNvSpPr>
          <p:nvPr>
            <p:ph type="dt" sz="half" idx="10"/>
          </p:nvPr>
        </p:nvSpPr>
        <p:spPr/>
        <p:txBody>
          <a:bodyPr/>
          <a:lstStyle/>
          <a:p>
            <a:fld id="{E9239859-CCF2-40C0-B3F1-4CC07DD1F9B4}" type="datetime1">
              <a:t>25.11.2025</a:t>
            </a:fld>
            <a:endParaRPr lang="en-US"/>
          </a:p>
        </p:txBody>
      </p:sp>
      <p:sp>
        <p:nvSpPr>
          <p:cNvPr id="5" name="Alt Bilgi Yer Tutucusu 4">
            <a:extLst>
              <a:ext uri="{FF2B5EF4-FFF2-40B4-BE49-F238E27FC236}">
                <a16:creationId xmlns:a16="http://schemas.microsoft.com/office/drawing/2014/main" id="{83A9CC73-EB8D-FF09-D2C2-875786C9F16E}"/>
              </a:ext>
            </a:extLst>
          </p:cNvPr>
          <p:cNvSpPr>
            <a:spLocks noGrp="1"/>
          </p:cNvSpPr>
          <p:nvPr>
            <p:ph type="ftr" sz="quarter" idx="11"/>
          </p:nvPr>
        </p:nvSpPr>
        <p:spPr/>
        <p:txBody>
          <a:bodyPr/>
          <a:lstStyle/>
          <a:p>
            <a:r>
              <a:rPr lang="en-US"/>
              <a:t>
              </a:t>
            </a:r>
          </a:p>
        </p:txBody>
      </p:sp>
      <p:sp>
        <p:nvSpPr>
          <p:cNvPr id="6" name="Slayt Numarası Yer Tutucusu 5">
            <a:extLst>
              <a:ext uri="{FF2B5EF4-FFF2-40B4-BE49-F238E27FC236}">
                <a16:creationId xmlns:a16="http://schemas.microsoft.com/office/drawing/2014/main" id="{0BB461AF-76D8-966B-B1CF-72B045CF5B48}"/>
              </a:ext>
            </a:extLst>
          </p:cNvPr>
          <p:cNvSpPr>
            <a:spLocks noGrp="1"/>
          </p:cNvSpPr>
          <p:nvPr>
            <p:ph type="sldNum" sz="quarter" idx="12"/>
          </p:nvPr>
        </p:nvSpPr>
        <p:spPr/>
        <p:txBody>
          <a:bodyPr/>
          <a:lstStyle/>
          <a:p>
            <a:fld id="{CC057153-B650-4DEB-B370-79DDCFDCE934}" type="slidenum">
              <a:rPr lang="en-US" dirty="0"/>
              <a:t>17</a:t>
            </a:fld>
            <a:endParaRPr lang="en-US"/>
          </a:p>
        </p:txBody>
      </p:sp>
      <p:sp>
        <p:nvSpPr>
          <p:cNvPr id="9" name="Dikdörtgen: Köşeleri Yuvarlatılmış 8">
            <a:extLst>
              <a:ext uri="{FF2B5EF4-FFF2-40B4-BE49-F238E27FC236}">
                <a16:creationId xmlns:a16="http://schemas.microsoft.com/office/drawing/2014/main" id="{CF1DB838-9006-EE55-CCAC-BBDBFA77C463}"/>
              </a:ext>
            </a:extLst>
          </p:cNvPr>
          <p:cNvSpPr/>
          <p:nvPr/>
        </p:nvSpPr>
        <p:spPr>
          <a:xfrm>
            <a:off x="7025059" y="1134932"/>
            <a:ext cx="3696137" cy="449427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Metin kutusu 9">
            <a:extLst>
              <a:ext uri="{FF2B5EF4-FFF2-40B4-BE49-F238E27FC236}">
                <a16:creationId xmlns:a16="http://schemas.microsoft.com/office/drawing/2014/main" id="{C37FF21E-8D1C-6A12-6524-5B06936B579B}"/>
              </a:ext>
            </a:extLst>
          </p:cNvPr>
          <p:cNvSpPr txBox="1"/>
          <p:nvPr/>
        </p:nvSpPr>
        <p:spPr>
          <a:xfrm>
            <a:off x="7348482" y="1392620"/>
            <a:ext cx="3109310" cy="40010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1400"/>
              <a:t>EN</a:t>
            </a:r>
            <a:r>
              <a:rPr lang="tr-TR" sz="1400">
                <a:ea typeface="+mn-lt"/>
                <a:cs typeface="+mn-lt"/>
              </a:rPr>
              <a:t> ÖNEMLİ 5 ÖZELLİK</a:t>
            </a:r>
            <a:endParaRPr lang="tr-TR" sz="1400"/>
          </a:p>
          <a:p>
            <a:endParaRPr lang="tr-TR" sz="1200">
              <a:ea typeface="+mn-lt"/>
              <a:cs typeface="+mn-lt"/>
            </a:endParaRPr>
          </a:p>
          <a:p>
            <a:r>
              <a:rPr lang="tr-TR" sz="1200" err="1">
                <a:ea typeface="+mn-lt"/>
                <a:cs typeface="+mn-lt"/>
              </a:rPr>
              <a:t>Preop_GH</a:t>
            </a:r>
            <a:endParaRPr lang="tr-TR" sz="1200" err="1"/>
          </a:p>
          <a:p>
            <a:r>
              <a:rPr lang="tr-TR" sz="1200">
                <a:ea typeface="+mn-lt"/>
                <a:cs typeface="+mn-lt"/>
              </a:rPr>
              <a:t>   Ameliyat öncesi büyüme hormonu</a:t>
            </a:r>
            <a:endParaRPr lang="tr-TR" sz="1200"/>
          </a:p>
          <a:p>
            <a:r>
              <a:rPr lang="tr-TR" sz="1200">
                <a:ea typeface="+mn-lt"/>
                <a:cs typeface="+mn-lt"/>
              </a:rPr>
              <a:t>   Yüksek GH = kontrolsüz hastalık</a:t>
            </a:r>
            <a:endParaRPr lang="tr-TR" sz="1200"/>
          </a:p>
          <a:p>
            <a:endParaRPr lang="tr-TR" sz="1200"/>
          </a:p>
          <a:p>
            <a:r>
              <a:rPr lang="tr-TR" sz="1200">
                <a:ea typeface="+mn-lt"/>
                <a:cs typeface="+mn-lt"/>
              </a:rPr>
              <a:t>Last_IGF1</a:t>
            </a:r>
            <a:endParaRPr lang="tr-TR" sz="1200"/>
          </a:p>
          <a:p>
            <a:r>
              <a:rPr lang="tr-TR" sz="1200">
                <a:ea typeface="+mn-lt"/>
                <a:cs typeface="+mn-lt"/>
              </a:rPr>
              <a:t>    Son IGF-1 ölçümü</a:t>
            </a:r>
            <a:endParaRPr lang="tr-TR" sz="1200"/>
          </a:p>
          <a:p>
            <a:r>
              <a:rPr lang="tr-TR" sz="1200">
                <a:ea typeface="+mn-lt"/>
                <a:cs typeface="+mn-lt"/>
              </a:rPr>
              <a:t>    Normal değer = düşük risk</a:t>
            </a:r>
            <a:endParaRPr lang="tr-TR" sz="1200"/>
          </a:p>
          <a:p>
            <a:endParaRPr lang="tr-TR" sz="1200"/>
          </a:p>
          <a:p>
            <a:r>
              <a:rPr lang="tr-TR" sz="1200" err="1">
                <a:ea typeface="+mn-lt"/>
                <a:cs typeface="+mn-lt"/>
              </a:rPr>
              <a:t>Preop_Tm_Size_MAX</a:t>
            </a:r>
            <a:endParaRPr lang="tr-TR" sz="1200"/>
          </a:p>
          <a:p>
            <a:r>
              <a:rPr lang="tr-TR" sz="1200">
                <a:ea typeface="+mn-lt"/>
                <a:cs typeface="+mn-lt"/>
              </a:rPr>
              <a:t>    Tümör boyutu</a:t>
            </a:r>
            <a:endParaRPr lang="tr-TR" sz="1200"/>
          </a:p>
          <a:p>
            <a:r>
              <a:rPr lang="tr-TR" sz="1200">
                <a:ea typeface="+mn-lt"/>
                <a:cs typeface="+mn-lt"/>
              </a:rPr>
              <a:t>     Büyük tümör = invazyon riski</a:t>
            </a:r>
            <a:endParaRPr lang="tr-TR" sz="1200"/>
          </a:p>
          <a:p>
            <a:endParaRPr lang="tr-TR" sz="1200"/>
          </a:p>
          <a:p>
            <a:r>
              <a:rPr lang="tr-TR" sz="1200">
                <a:ea typeface="+mn-lt"/>
                <a:cs typeface="+mn-lt"/>
              </a:rPr>
              <a:t>Age</a:t>
            </a:r>
            <a:endParaRPr lang="tr-TR" sz="1200"/>
          </a:p>
          <a:p>
            <a:r>
              <a:rPr lang="tr-TR" sz="1200">
                <a:ea typeface="+mn-lt"/>
                <a:cs typeface="+mn-lt"/>
              </a:rPr>
              <a:t>    Yaş</a:t>
            </a:r>
            <a:endParaRPr lang="tr-TR" sz="1200"/>
          </a:p>
          <a:p>
            <a:r>
              <a:rPr lang="tr-TR" sz="1200">
                <a:ea typeface="+mn-lt"/>
                <a:cs typeface="+mn-lt"/>
              </a:rPr>
              <a:t>    İleri yaş = komorbidite</a:t>
            </a:r>
            <a:endParaRPr lang="tr-TR" sz="1200"/>
          </a:p>
          <a:p>
            <a:endParaRPr lang="tr-TR" sz="1200"/>
          </a:p>
          <a:p>
            <a:r>
              <a:rPr lang="tr-TR" sz="1200" err="1">
                <a:ea typeface="+mn-lt"/>
                <a:cs typeface="+mn-lt"/>
              </a:rPr>
              <a:t>Kav_INV</a:t>
            </a:r>
            <a:endParaRPr lang="tr-TR" sz="1200"/>
          </a:p>
          <a:p>
            <a:r>
              <a:rPr lang="tr-TR" sz="1200">
                <a:ea typeface="+mn-lt"/>
                <a:cs typeface="+mn-lt"/>
              </a:rPr>
              <a:t>   </a:t>
            </a:r>
            <a:r>
              <a:rPr lang="tr-TR" sz="1200" err="1">
                <a:ea typeface="+mn-lt"/>
                <a:cs typeface="+mn-lt"/>
              </a:rPr>
              <a:t>Kavernöz</a:t>
            </a:r>
            <a:r>
              <a:rPr lang="tr-TR" sz="1200">
                <a:ea typeface="+mn-lt"/>
                <a:cs typeface="+mn-lt"/>
              </a:rPr>
              <a:t> sinüs invazyonu</a:t>
            </a:r>
            <a:endParaRPr lang="tr-TR" sz="1200"/>
          </a:p>
          <a:p>
            <a:r>
              <a:rPr lang="tr-TR" sz="1200">
                <a:ea typeface="+mn-lt"/>
                <a:cs typeface="+mn-lt"/>
              </a:rPr>
              <a:t>   İnvazyon = </a:t>
            </a:r>
            <a:r>
              <a:rPr lang="tr-TR" sz="1200" err="1">
                <a:ea typeface="+mn-lt"/>
                <a:cs typeface="+mn-lt"/>
              </a:rPr>
              <a:t>kürasyon</a:t>
            </a:r>
            <a:r>
              <a:rPr lang="tr-TR" sz="1200">
                <a:ea typeface="+mn-lt"/>
                <a:cs typeface="+mn-lt"/>
              </a:rPr>
              <a:t> zorluğu</a:t>
            </a:r>
            <a:endParaRPr lang="tr-TR" sz="1200"/>
          </a:p>
        </p:txBody>
      </p:sp>
    </p:spTree>
    <p:extLst>
      <p:ext uri="{BB962C8B-B14F-4D97-AF65-F5344CB8AC3E}">
        <p14:creationId xmlns:p14="http://schemas.microsoft.com/office/powerpoint/2010/main" val="1187208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672AD45-8084-9017-5CD1-452EDA97EFD6}"/>
              </a:ext>
            </a:extLst>
          </p:cNvPr>
          <p:cNvSpPr>
            <a:spLocks noGrp="1"/>
          </p:cNvSpPr>
          <p:nvPr>
            <p:ph type="title"/>
          </p:nvPr>
        </p:nvSpPr>
        <p:spPr>
          <a:xfrm>
            <a:off x="612648" y="548640"/>
            <a:ext cx="10653578" cy="378280"/>
          </a:xfrm>
        </p:spPr>
        <p:txBody>
          <a:bodyPr>
            <a:normAutofit fontScale="90000"/>
          </a:bodyPr>
          <a:lstStyle/>
          <a:p>
            <a:pPr algn="ctr"/>
            <a:r>
              <a:rPr lang="tr-TR" sz="2800">
                <a:solidFill>
                  <a:srgbClr val="00B0F0"/>
                </a:solidFill>
                <a:latin typeface="Arial Nova"/>
                <a:ea typeface="+mn-ea"/>
                <a:cs typeface="Arial"/>
              </a:rPr>
              <a:t>FEATURE IMPORTANCE</a:t>
            </a:r>
            <a:endParaRPr lang="tr-TR" sz="1600">
              <a:solidFill>
                <a:srgbClr val="1F2328"/>
              </a:solidFill>
            </a:endParaRPr>
          </a:p>
        </p:txBody>
      </p:sp>
      <p:sp>
        <p:nvSpPr>
          <p:cNvPr id="3" name="İçerik Yer Tutucusu 2">
            <a:extLst>
              <a:ext uri="{FF2B5EF4-FFF2-40B4-BE49-F238E27FC236}">
                <a16:creationId xmlns:a16="http://schemas.microsoft.com/office/drawing/2014/main" id="{A7B82E4F-5BB3-E1C3-82AE-DD7048DA3110}"/>
              </a:ext>
            </a:extLst>
          </p:cNvPr>
          <p:cNvSpPr>
            <a:spLocks noGrp="1"/>
          </p:cNvSpPr>
          <p:nvPr>
            <p:ph idx="1"/>
          </p:nvPr>
        </p:nvSpPr>
        <p:spPr>
          <a:xfrm>
            <a:off x="612647" y="929469"/>
            <a:ext cx="10653579" cy="5379891"/>
          </a:xfrm>
        </p:spPr>
        <p:txBody>
          <a:bodyPr vert="horz" lIns="91440" tIns="45720" rIns="91440" bIns="45720" rtlCol="0" anchor="t">
            <a:normAutofit fontScale="70000" lnSpcReduction="20000"/>
          </a:bodyPr>
          <a:lstStyle/>
          <a:p>
            <a:pPr marL="0" indent="0">
              <a:buNone/>
            </a:pPr>
            <a:r>
              <a:rPr lang="tr-TR" b="1">
                <a:solidFill>
                  <a:srgbClr val="1F2328"/>
                </a:solidFill>
                <a:latin typeface="Neue Haas Grotesk Text Pro"/>
                <a:cs typeface="Arial"/>
              </a:rPr>
              <a:t>Yöntem:</a:t>
            </a:r>
          </a:p>
          <a:p>
            <a:pPr marL="0" indent="0">
              <a:lnSpc>
                <a:spcPct val="109999"/>
              </a:lnSpc>
              <a:buNone/>
            </a:pPr>
            <a:r>
              <a:rPr lang="tr-TR" sz="1600" err="1">
                <a:solidFill>
                  <a:srgbClr val="1F2328"/>
                </a:solidFill>
                <a:latin typeface="Neue Haas Grotesk Text Pro"/>
                <a:cs typeface="Arial"/>
              </a:rPr>
              <a:t>Random</a:t>
            </a:r>
            <a:r>
              <a:rPr lang="tr-TR" sz="1600">
                <a:solidFill>
                  <a:srgbClr val="1F2328"/>
                </a:solidFill>
                <a:latin typeface="Neue Haas Grotesk Text Pro"/>
                <a:cs typeface="Arial"/>
              </a:rPr>
              <a:t> </a:t>
            </a:r>
            <a:r>
              <a:rPr lang="tr-TR" sz="1600" err="1">
                <a:solidFill>
                  <a:srgbClr val="1F2328"/>
                </a:solidFill>
                <a:latin typeface="Neue Haas Grotesk Text Pro"/>
                <a:cs typeface="Arial"/>
              </a:rPr>
              <a:t>Forest</a:t>
            </a:r>
            <a:r>
              <a:rPr lang="tr-TR" sz="1600">
                <a:solidFill>
                  <a:srgbClr val="1F2328"/>
                </a:solidFill>
                <a:latin typeface="Neue Haas Grotesk Text Pro"/>
                <a:cs typeface="Arial"/>
              </a:rPr>
              <a:t> </a:t>
            </a:r>
            <a:r>
              <a:rPr lang="tr-TR" sz="1600" err="1">
                <a:solidFill>
                  <a:srgbClr val="1F2328"/>
                </a:solidFill>
                <a:latin typeface="Neue Haas Grotesk Text Pro"/>
                <a:cs typeface="Arial"/>
              </a:rPr>
              <a:t>built</a:t>
            </a:r>
            <a:r>
              <a:rPr lang="tr-TR" sz="1600">
                <a:solidFill>
                  <a:srgbClr val="1F2328"/>
                </a:solidFill>
                <a:latin typeface="Neue Haas Grotesk Text Pro"/>
                <a:cs typeface="Arial"/>
              </a:rPr>
              <a:t>-in </a:t>
            </a:r>
            <a:r>
              <a:rPr lang="tr-TR" sz="1600" err="1">
                <a:solidFill>
                  <a:srgbClr val="1F2328"/>
                </a:solidFill>
                <a:latin typeface="Neue Haas Grotesk Text Pro"/>
                <a:cs typeface="Arial"/>
              </a:rPr>
              <a:t>feature</a:t>
            </a:r>
            <a:r>
              <a:rPr lang="tr-TR" sz="1600">
                <a:solidFill>
                  <a:srgbClr val="1F2328"/>
                </a:solidFill>
                <a:latin typeface="Neue Haas Grotesk Text Pro"/>
                <a:cs typeface="Arial"/>
              </a:rPr>
              <a:t> </a:t>
            </a:r>
            <a:r>
              <a:rPr lang="tr-TR" sz="1600" err="1">
                <a:solidFill>
                  <a:srgbClr val="1F2328"/>
                </a:solidFill>
                <a:latin typeface="Neue Haas Grotesk Text Pro"/>
                <a:cs typeface="Arial"/>
              </a:rPr>
              <a:t>importance</a:t>
            </a:r>
            <a:r>
              <a:rPr lang="tr-TR" sz="1600">
                <a:solidFill>
                  <a:srgbClr val="1F2328"/>
                </a:solidFill>
                <a:latin typeface="Neue Haas Grotesk Text Pro"/>
                <a:cs typeface="Arial"/>
              </a:rPr>
              <a:t> kullanıldı</a:t>
            </a:r>
            <a:endParaRPr lang="tr-TR" sz="1600"/>
          </a:p>
          <a:p>
            <a:pPr marL="0" indent="0">
              <a:buNone/>
            </a:pPr>
            <a:r>
              <a:rPr lang="tr-TR" sz="1600" err="1">
                <a:solidFill>
                  <a:srgbClr val="1F2328"/>
                </a:solidFill>
                <a:latin typeface="Neue Haas Grotesk Text Pro"/>
                <a:cs typeface="Arial"/>
              </a:rPr>
              <a:t>Gini</a:t>
            </a:r>
            <a:r>
              <a:rPr lang="tr-TR" sz="1600">
                <a:solidFill>
                  <a:srgbClr val="1F2328"/>
                </a:solidFill>
                <a:latin typeface="Neue Haas Grotesk Text Pro"/>
                <a:cs typeface="Arial"/>
              </a:rPr>
              <a:t> </a:t>
            </a:r>
            <a:r>
              <a:rPr lang="tr-TR" sz="1600" err="1">
                <a:solidFill>
                  <a:srgbClr val="1F2328"/>
                </a:solidFill>
                <a:latin typeface="Neue Haas Grotesk Text Pro"/>
                <a:cs typeface="Arial"/>
              </a:rPr>
              <a:t>impurity'ye</a:t>
            </a:r>
            <a:r>
              <a:rPr lang="tr-TR" sz="1600">
                <a:solidFill>
                  <a:srgbClr val="1F2328"/>
                </a:solidFill>
                <a:latin typeface="Neue Haas Grotesk Text Pro"/>
                <a:cs typeface="Arial"/>
              </a:rPr>
              <a:t> göre önem skorları hesaplandı</a:t>
            </a:r>
          </a:p>
          <a:p>
            <a:pPr marL="0" indent="0">
              <a:buNone/>
            </a:pPr>
            <a:r>
              <a:rPr lang="tr-TR" sz="1600" b="1">
                <a:solidFill>
                  <a:srgbClr val="1F2328"/>
                </a:solidFill>
                <a:latin typeface="Neue Haas Grotesk Text Pro"/>
                <a:cs typeface="Arial"/>
              </a:rPr>
              <a:t>En Önemli Değişkenler:</a:t>
            </a:r>
          </a:p>
          <a:p>
            <a:pPr marL="0" indent="0">
              <a:buNone/>
            </a:pPr>
            <a:r>
              <a:rPr lang="tr-TR" sz="1900" err="1">
                <a:latin typeface="Arial Nova"/>
                <a:ea typeface="+mn-lt"/>
                <a:cs typeface="+mn-lt"/>
              </a:rPr>
              <a:t>Preop_GH </a:t>
            </a:r>
            <a:r>
              <a:rPr lang="tr-TR" sz="1900">
                <a:latin typeface="Arial Nova"/>
                <a:ea typeface="+mn-lt"/>
                <a:cs typeface="+mn-lt"/>
              </a:rPr>
              <a:t>
Ameliyat öncesi büyüme hormonu </a:t>
            </a:r>
          </a:p>
          <a:p>
            <a:pPr marL="0" indent="0">
              <a:buNone/>
            </a:pPr>
            <a:r>
              <a:rPr lang="tr-TR" sz="1900">
                <a:latin typeface="Arial Nova"/>
                <a:ea typeface="+mn-lt"/>
                <a:cs typeface="+mn-lt"/>
              </a:rPr>
              <a:t>Last_IGF1          </a:t>
            </a:r>
          </a:p>
          <a:p>
            <a:pPr marL="0" indent="0">
              <a:buNone/>
            </a:pPr>
            <a:r>
              <a:rPr lang="tr-TR" sz="1900">
                <a:latin typeface="Arial Nova"/>
                <a:ea typeface="+mn-lt"/>
                <a:cs typeface="+mn-lt"/>
              </a:rPr>
              <a:t>Son IGF-1 ölçümü                       </a:t>
            </a:r>
          </a:p>
          <a:p>
            <a:pPr marL="0" indent="0">
              <a:buNone/>
            </a:pPr>
            <a:r>
              <a:rPr lang="tr-TR" sz="1900" err="1">
                <a:latin typeface="Arial Nova"/>
                <a:ea typeface="+mn-lt"/>
                <a:cs typeface="+mn-lt"/>
              </a:rPr>
              <a:t>Preop_Tm_Size_MAX</a:t>
            </a:r>
            <a:r>
              <a:rPr lang="tr-TR" sz="1900">
                <a:latin typeface="Arial Nova"/>
                <a:ea typeface="+mn-lt"/>
                <a:cs typeface="+mn-lt"/>
              </a:rPr>
              <a:t>  </a:t>
            </a:r>
          </a:p>
          <a:p>
            <a:pPr marL="0" indent="0">
              <a:buNone/>
            </a:pPr>
            <a:r>
              <a:rPr lang="tr-TR" sz="1900">
                <a:latin typeface="Arial Nova"/>
                <a:ea typeface="+mn-lt"/>
                <a:cs typeface="+mn-lt"/>
              </a:rPr>
              <a:t>Tümör boyutu                        </a:t>
            </a:r>
          </a:p>
          <a:p>
            <a:pPr marL="0" indent="0">
              <a:buNone/>
            </a:pPr>
            <a:r>
              <a:rPr lang="tr-TR" sz="1900">
                <a:latin typeface="Arial Nova"/>
                <a:ea typeface="+mn-lt"/>
                <a:cs typeface="+mn-lt"/>
              </a:rPr>
              <a:t>Age                    
 Yaş                                    </a:t>
            </a:r>
          </a:p>
          <a:p>
            <a:pPr marL="0" indent="0">
              <a:buNone/>
            </a:pPr>
            <a:r>
              <a:rPr lang="tr-TR" sz="1900">
                <a:latin typeface="Arial Nova"/>
                <a:ea typeface="+mn-lt"/>
                <a:cs typeface="+mn-lt"/>
              </a:rPr>
              <a:t> </a:t>
            </a:r>
            <a:r>
              <a:rPr lang="tr-TR" sz="1900" err="1">
                <a:latin typeface="Arial Nova"/>
                <a:ea typeface="+mn-lt"/>
                <a:cs typeface="+mn-lt"/>
              </a:rPr>
              <a:t>Kav_INV               </a:t>
            </a:r>
            <a:r>
              <a:rPr lang="tr-TR" sz="1900">
                <a:latin typeface="Arial Nova"/>
                <a:ea typeface="+mn-lt"/>
                <a:cs typeface="+mn-lt"/>
              </a:rPr>
              <a:t>
</a:t>
            </a:r>
            <a:r>
              <a:rPr lang="tr-TR" sz="1900" err="1">
                <a:latin typeface="Arial Nova"/>
                <a:ea typeface="+mn-lt"/>
                <a:cs typeface="+mn-lt"/>
              </a:rPr>
              <a:t>Kavernöz</a:t>
            </a:r>
            <a:r>
              <a:rPr lang="tr-TR" sz="1900">
                <a:latin typeface="Arial Nova"/>
                <a:ea typeface="+mn-lt"/>
                <a:cs typeface="+mn-lt"/>
              </a:rPr>
              <a:t> sinüs invazyonu  </a:t>
            </a:r>
          </a:p>
          <a:p>
            <a:pPr marL="0" indent="0">
              <a:buNone/>
            </a:pPr>
            <a:r>
              <a:rPr lang="tr-TR" sz="1600" b="1">
                <a:solidFill>
                  <a:srgbClr val="1F2328"/>
                </a:solidFill>
                <a:latin typeface="Neue Haas Grotesk Text Pro"/>
                <a:cs typeface="Arial"/>
              </a:rPr>
              <a:t>Sonuç:</a:t>
            </a:r>
          </a:p>
          <a:p>
            <a:pPr marL="0" indent="0">
              <a:buNone/>
            </a:pPr>
            <a:r>
              <a:rPr lang="tr-TR" sz="1900">
                <a:latin typeface="Arial Nova"/>
                <a:ea typeface="+mn-lt"/>
                <a:cs typeface="+mn-lt"/>
              </a:rPr>
              <a:t>Önem sıralaması klinik literatürle uyumlu</a:t>
            </a:r>
          </a:p>
          <a:p>
            <a:pPr marL="0" indent="0">
              <a:buNone/>
            </a:pPr>
            <a:r>
              <a:rPr lang="tr-TR" sz="1900">
                <a:latin typeface="Arial Nova"/>
                <a:ea typeface="+mn-lt"/>
                <a:cs typeface="+mn-lt"/>
              </a:rPr>
              <a:t>SHAP analizi ile tutarlı sonuçlar</a:t>
            </a:r>
          </a:p>
          <a:p>
            <a:pPr marL="0" indent="0">
              <a:buNone/>
            </a:pPr>
            <a:r>
              <a:rPr lang="tr-TR" sz="1900">
                <a:latin typeface="Arial Nova"/>
                <a:ea typeface="+mn-lt"/>
                <a:cs typeface="+mn-lt"/>
              </a:rPr>
              <a:t>Model doğruluğu desteklendi</a:t>
            </a:r>
            <a:br>
              <a:rPr lang="en-US"/>
            </a:br>
            <a:endParaRPr lang="en-US"/>
          </a:p>
        </p:txBody>
      </p:sp>
      <p:sp>
        <p:nvSpPr>
          <p:cNvPr id="4" name="Veri Yer Tutucusu 3">
            <a:extLst>
              <a:ext uri="{FF2B5EF4-FFF2-40B4-BE49-F238E27FC236}">
                <a16:creationId xmlns:a16="http://schemas.microsoft.com/office/drawing/2014/main" id="{F720C74E-2AFF-8818-91B7-DE30AA5681D8}"/>
              </a:ext>
            </a:extLst>
          </p:cNvPr>
          <p:cNvSpPr>
            <a:spLocks noGrp="1"/>
          </p:cNvSpPr>
          <p:nvPr>
            <p:ph type="dt" sz="half" idx="10"/>
          </p:nvPr>
        </p:nvSpPr>
        <p:spPr/>
        <p:txBody>
          <a:bodyPr/>
          <a:lstStyle/>
          <a:p>
            <a:fld id="{CA4F1413-ECFF-4419-816E-92B0FE01B709}" type="datetime1">
              <a:t>25.11.2025</a:t>
            </a:fld>
            <a:endParaRPr lang="en-US"/>
          </a:p>
        </p:txBody>
      </p:sp>
      <p:sp>
        <p:nvSpPr>
          <p:cNvPr id="5" name="Alt Bilgi Yer Tutucusu 4">
            <a:extLst>
              <a:ext uri="{FF2B5EF4-FFF2-40B4-BE49-F238E27FC236}">
                <a16:creationId xmlns:a16="http://schemas.microsoft.com/office/drawing/2014/main" id="{6B37CEBE-6D2B-34F7-E48D-0FF11B1536D6}"/>
              </a:ext>
            </a:extLst>
          </p:cNvPr>
          <p:cNvSpPr>
            <a:spLocks noGrp="1"/>
          </p:cNvSpPr>
          <p:nvPr>
            <p:ph type="ftr" sz="quarter" idx="11"/>
          </p:nvPr>
        </p:nvSpPr>
        <p:spPr/>
        <p:txBody>
          <a:bodyPr/>
          <a:lstStyle/>
          <a:p>
            <a:r>
              <a:rPr lang="en-US"/>
              <a:t>
              </a:t>
            </a:r>
          </a:p>
        </p:txBody>
      </p:sp>
      <p:sp>
        <p:nvSpPr>
          <p:cNvPr id="6" name="Slayt Numarası Yer Tutucusu 5">
            <a:extLst>
              <a:ext uri="{FF2B5EF4-FFF2-40B4-BE49-F238E27FC236}">
                <a16:creationId xmlns:a16="http://schemas.microsoft.com/office/drawing/2014/main" id="{45958F3E-2740-AC43-1B8F-59458A5B334C}"/>
              </a:ext>
            </a:extLst>
          </p:cNvPr>
          <p:cNvSpPr>
            <a:spLocks noGrp="1"/>
          </p:cNvSpPr>
          <p:nvPr>
            <p:ph type="sldNum" sz="quarter" idx="12"/>
          </p:nvPr>
        </p:nvSpPr>
        <p:spPr/>
        <p:txBody>
          <a:bodyPr/>
          <a:lstStyle/>
          <a:p>
            <a:fld id="{CC057153-B650-4DEB-B370-79DDCFDCE934}" type="slidenum">
              <a:rPr lang="en-US" dirty="0"/>
              <a:t>18</a:t>
            </a:fld>
            <a:endParaRPr lang="en-US"/>
          </a:p>
        </p:txBody>
      </p:sp>
    </p:spTree>
    <p:extLst>
      <p:ext uri="{BB962C8B-B14F-4D97-AF65-F5344CB8AC3E}">
        <p14:creationId xmlns:p14="http://schemas.microsoft.com/office/powerpoint/2010/main" val="2664466154"/>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Geniş ekran</PresentationFormat>
  <Slides>18</Slides>
  <Notes>0</Notes>
  <HiddenSlides>0</HiddenSlides>
  <ScaleCrop>false</ScaleCrop>
  <HeadingPairs>
    <vt:vector size="4" baseType="variant">
      <vt:variant>
        <vt:lpstr>Tema</vt:lpstr>
      </vt:variant>
      <vt:variant>
        <vt:i4>1</vt:i4>
      </vt:variant>
      <vt:variant>
        <vt:lpstr>Slayt Başlıkları</vt:lpstr>
      </vt:variant>
      <vt:variant>
        <vt:i4>18</vt:i4>
      </vt:variant>
    </vt:vector>
  </HeadingPairs>
  <TitlesOfParts>
    <vt:vector size="19" baseType="lpstr">
      <vt:lpstr>VanillaVTI</vt:lpstr>
      <vt:lpstr>PowerPoint Sunusu</vt:lpstr>
      <vt:lpstr>PowerPoint Sunusu</vt:lpstr>
      <vt:lpstr>PowerPoint Sunusu</vt:lpstr>
      <vt:lpstr>PowerPoint Sunusu</vt:lpstr>
      <vt:lpstr>PowerPoint Sunusu</vt:lpstr>
      <vt:lpstr>PowerPoint Sunusu</vt:lpstr>
      <vt:lpstr>PowerPoint Sunusu</vt:lpstr>
      <vt:lpstr>3- Xgboost</vt:lpstr>
      <vt:lpstr>Uygulanan Optimizasyon Teknikleri </vt:lpstr>
      <vt:lpstr>4- Neural Network</vt:lpstr>
      <vt:lpstr>Uygulanan Optimizasyon Teknikleri </vt:lpstr>
      <vt:lpstr>                               Model Tuning</vt:lpstr>
      <vt:lpstr>                                  Model Tuning</vt:lpstr>
      <vt:lpstr>                                  Model Tuning </vt:lpstr>
      <vt:lpstr>Model Tuning </vt:lpstr>
      <vt:lpstr>Performans Metrikleri</vt:lpstr>
      <vt:lpstr>SHAP Analizi </vt:lpstr>
      <vt:lpstr>FEATURE IMPORTANCE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cp:revision>
  <dcterms:created xsi:type="dcterms:W3CDTF">2025-11-22T15:12:53Z</dcterms:created>
  <dcterms:modified xsi:type="dcterms:W3CDTF">2025-11-25T15:31:50Z</dcterms:modified>
</cp:coreProperties>
</file>